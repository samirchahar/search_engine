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294" r:id="rId54"/>
    <p:sldId id="340" r:id="rId55"/>
    <p:sldId id="309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</p:sldIdLst>
  <p:sldSz cx="12192000" cy="6858000"/>
  <p:notesSz cx="12192000" cy="6858000"/>
  <p:embeddedFontLst>
    <p:embeddedFont>
      <p:font typeface="Cambria Math" panose="02040503050406030204" pitchFamily="18" charset="0"/>
      <p:regular r:id="rId87"/>
    </p:embeddedFont>
    <p:embeddedFont>
      <p:font typeface="Consolas" panose="020B0609020204030204" pitchFamily="49" charset="0"/>
      <p:regular r:id="rId88"/>
      <p:bold r:id="rId89"/>
      <p:italic r:id="rId90"/>
      <p:boldItalic r:id="rId91"/>
    </p:embeddedFont>
    <p:embeddedFont>
      <p:font typeface="Nunito" pitchFamily="2" charset="0"/>
      <p:regular r:id="rId92"/>
      <p:bold r:id="rId93"/>
      <p:italic r:id="rId94"/>
      <p:boldItalic r:id="rId95"/>
    </p:embeddedFont>
    <p:embeddedFont>
      <p:font typeface="Trebuchet MS" panose="020B0603020202020204" pitchFamily="34" charset="0"/>
      <p:regular r:id="rId96"/>
      <p:bold r:id="rId97"/>
      <p:italic r:id="rId98"/>
      <p:boldItalic r:id="rId9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40" roundtripDataSignature="AMtx7mjvU9BE/jxsc4jvRJAh3JXSp4LK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3C948D4-A14A-4904-86D5-7FD2ECAA087F}">
  <a:tblStyle styleId="{A3C948D4-A14A-4904-86D5-7FD2ECAA087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CB95BF2-E5D9-4F2F-9DCB-0AEB0D049F9D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12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12" y="9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font" Target="fonts/font3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44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font" Target="fonts/font4.fntdata"/><Relationship Id="rId95" Type="http://schemas.openxmlformats.org/officeDocument/2006/relationships/font" Target="fonts/font9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font" Target="fonts/font2.fntdata"/><Relationship Id="rId91" Type="http://schemas.openxmlformats.org/officeDocument/2006/relationships/font" Target="fonts/font5.fntdata"/><Relationship Id="rId96" Type="http://schemas.openxmlformats.org/officeDocument/2006/relationships/font" Target="fonts/font10.fntdata"/><Relationship Id="rId14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94" Type="http://schemas.openxmlformats.org/officeDocument/2006/relationships/font" Target="fonts/font8.fntdata"/><Relationship Id="rId99" Type="http://schemas.openxmlformats.org/officeDocument/2006/relationships/font" Target="fonts/font13.fntdata"/><Relationship Id="rId14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11.fntdata"/><Relationship Id="rId141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6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1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7.fntdata"/><Relationship Id="rId98" Type="http://schemas.openxmlformats.org/officeDocument/2006/relationships/font" Target="fonts/font12.fntdata"/><Relationship Id="rId142" Type="http://schemas.openxmlformats.org/officeDocument/2006/relationships/viewProps" Target="viewProps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4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4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4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4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5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5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5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281fbcb651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281fbcb6519_0_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g281fbcb6519_0_0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5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5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5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5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5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5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6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6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6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6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6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6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6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5" name="Google Shape;845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7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7" name="Google Shape;867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7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8" name="Google Shape;878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7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6" name="Google Shape;886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7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4" name="Google Shape;894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7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7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7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4" name="Google Shape;924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7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2" name="Google Shape;932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7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7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1" name="Google Shape;951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8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8" name="Google Shape;958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8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5" name="Google Shape;965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8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8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3" name="Google Shape;983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3"/>
          <p:cNvSpPr txBox="1"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3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23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3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3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4"/>
          <p:cNvSpPr txBox="1">
            <a:spLocks noGrp="1"/>
          </p:cNvSpPr>
          <p:nvPr>
            <p:ph type="title"/>
          </p:nvPr>
        </p:nvSpPr>
        <p:spPr>
          <a:xfrm>
            <a:off x="707542" y="324993"/>
            <a:ext cx="7728915" cy="1288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24"/>
          <p:cNvSpPr txBox="1">
            <a:spLocks noGrp="1"/>
          </p:cNvSpPr>
          <p:nvPr>
            <p:ph type="body" idx="1"/>
          </p:nvPr>
        </p:nvSpPr>
        <p:spPr>
          <a:xfrm>
            <a:off x="-2786252" y="1906015"/>
            <a:ext cx="14716505" cy="386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24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4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2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5"/>
          <p:cNvSpPr txBox="1">
            <a:spLocks noGrp="1"/>
          </p:cNvSpPr>
          <p:nvPr>
            <p:ph type="title"/>
          </p:nvPr>
        </p:nvSpPr>
        <p:spPr>
          <a:xfrm>
            <a:off x="707542" y="324993"/>
            <a:ext cx="7728915" cy="1288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5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25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5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6"/>
          <p:cNvSpPr txBox="1">
            <a:spLocks noGrp="1"/>
          </p:cNvSpPr>
          <p:nvPr>
            <p:ph type="title"/>
          </p:nvPr>
        </p:nvSpPr>
        <p:spPr>
          <a:xfrm>
            <a:off x="707542" y="324993"/>
            <a:ext cx="7728915" cy="1288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26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6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26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26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6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27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27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7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2"/>
          <p:cNvSpPr txBox="1">
            <a:spLocks noGrp="1"/>
          </p:cNvSpPr>
          <p:nvPr>
            <p:ph type="title"/>
          </p:nvPr>
        </p:nvSpPr>
        <p:spPr>
          <a:xfrm>
            <a:off x="707542" y="324993"/>
            <a:ext cx="7728915" cy="1288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22"/>
          <p:cNvSpPr txBox="1">
            <a:spLocks noGrp="1"/>
          </p:cNvSpPr>
          <p:nvPr>
            <p:ph type="body" idx="1"/>
          </p:nvPr>
        </p:nvSpPr>
        <p:spPr>
          <a:xfrm>
            <a:off x="-2786252" y="1906015"/>
            <a:ext cx="14716505" cy="386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2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2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7" Type="http://schemas.openxmlformats.org/officeDocument/2006/relationships/image" Target="../media/image13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g"/><Relationship Id="rId4" Type="http://schemas.openxmlformats.org/officeDocument/2006/relationships/image" Target="../media/image11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jp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4" Type="http://schemas.openxmlformats.org/officeDocument/2006/relationships/image" Target="../media/image19.jp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g"/><Relationship Id="rId3" Type="http://schemas.openxmlformats.org/officeDocument/2006/relationships/image" Target="../media/image25.jpg"/><Relationship Id="rId7" Type="http://schemas.openxmlformats.org/officeDocument/2006/relationships/image" Target="../media/image29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jpg"/><Relationship Id="rId5" Type="http://schemas.openxmlformats.org/officeDocument/2006/relationships/image" Target="../media/image27.jpg"/><Relationship Id="rId10" Type="http://schemas.openxmlformats.org/officeDocument/2006/relationships/image" Target="../media/image32.jpg"/><Relationship Id="rId4" Type="http://schemas.openxmlformats.org/officeDocument/2006/relationships/image" Target="../media/image26.jpg"/><Relationship Id="rId9" Type="http://schemas.openxmlformats.org/officeDocument/2006/relationships/image" Target="../media/image31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jpg"/><Relationship Id="rId4" Type="http://schemas.openxmlformats.org/officeDocument/2006/relationships/image" Target="../media/image15.jp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jp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jp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jpg"/><Relationship Id="rId3" Type="http://schemas.openxmlformats.org/officeDocument/2006/relationships/image" Target="../media/image42.jpg"/><Relationship Id="rId7" Type="http://schemas.openxmlformats.org/officeDocument/2006/relationships/image" Target="../media/image51.jp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jpg"/><Relationship Id="rId11" Type="http://schemas.openxmlformats.org/officeDocument/2006/relationships/image" Target="../media/image55.jpg"/><Relationship Id="rId5" Type="http://schemas.openxmlformats.org/officeDocument/2006/relationships/image" Target="../media/image49.jpg"/><Relationship Id="rId10" Type="http://schemas.openxmlformats.org/officeDocument/2006/relationships/image" Target="../media/image54.jpg"/><Relationship Id="rId4" Type="http://schemas.openxmlformats.org/officeDocument/2006/relationships/image" Target="../media/image48.jpg"/><Relationship Id="rId9" Type="http://schemas.openxmlformats.org/officeDocument/2006/relationships/image" Target="../media/image53.jp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7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0.jp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jp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jpg"/><Relationship Id="rId3" Type="http://schemas.openxmlformats.org/officeDocument/2006/relationships/image" Target="../media/image42.jpg"/><Relationship Id="rId7" Type="http://schemas.openxmlformats.org/officeDocument/2006/relationships/image" Target="../media/image51.jp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jpg"/><Relationship Id="rId11" Type="http://schemas.openxmlformats.org/officeDocument/2006/relationships/image" Target="../media/image55.jpg"/><Relationship Id="rId5" Type="http://schemas.openxmlformats.org/officeDocument/2006/relationships/image" Target="../media/image49.jpg"/><Relationship Id="rId10" Type="http://schemas.openxmlformats.org/officeDocument/2006/relationships/image" Target="../media/image54.jpg"/><Relationship Id="rId4" Type="http://schemas.openxmlformats.org/officeDocument/2006/relationships/image" Target="../media/image48.jpg"/><Relationship Id="rId9" Type="http://schemas.openxmlformats.org/officeDocument/2006/relationships/image" Target="../media/image53.jp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jp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4.jpg"/><Relationship Id="rId4" Type="http://schemas.openxmlformats.org/officeDocument/2006/relationships/image" Target="../media/image63.jp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jp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 txBox="1">
            <a:spLocks noGrp="1"/>
          </p:cNvSpPr>
          <p:nvPr>
            <p:ph type="ctrTitle"/>
          </p:nvPr>
        </p:nvSpPr>
        <p:spPr>
          <a:xfrm>
            <a:off x="1181100" y="1243664"/>
            <a:ext cx="9340516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Module 2: Syntax Analysis (Part 1)</a:t>
            </a:r>
            <a:endParaRPr dirty="0"/>
          </a:p>
        </p:txBody>
      </p:sp>
      <p:sp>
        <p:nvSpPr>
          <p:cNvPr id="48" name="Google Shape;48;p1"/>
          <p:cNvSpPr txBox="1">
            <a:spLocks noGrp="1"/>
          </p:cNvSpPr>
          <p:nvPr>
            <p:ph type="subTitle" idx="1"/>
          </p:nvPr>
        </p:nvSpPr>
        <p:spPr>
          <a:xfrm>
            <a:off x="1866900" y="2241884"/>
            <a:ext cx="8458200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Introduction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Context Free Grammars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Top-down parsing: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Recursive Descent Parsing,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Brute Force Parsing,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Non-recursive Predictive Parsing,</a:t>
            </a:r>
            <a:endParaRPr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Bottom-Up parsing: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Shift Reduce Parsing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Error Recovery in LR Parsers</a:t>
            </a:r>
            <a:endParaRPr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Parser Generator (YACC). </a:t>
            </a:r>
            <a:endParaRPr dirty="0"/>
          </a:p>
        </p:txBody>
      </p:sp>
      <p:sp>
        <p:nvSpPr>
          <p:cNvPr id="49" name="Google Shape;49;p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 txBox="1">
            <a:spLocks noGrp="1"/>
          </p:cNvSpPr>
          <p:nvPr>
            <p:ph type="title"/>
          </p:nvPr>
        </p:nvSpPr>
        <p:spPr>
          <a:xfrm>
            <a:off x="707541" y="609676"/>
            <a:ext cx="7666437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Need for Syntax Analysis</a:t>
            </a:r>
            <a:endParaRPr dirty="0"/>
          </a:p>
        </p:txBody>
      </p:sp>
      <p:sp>
        <p:nvSpPr>
          <p:cNvPr id="55" name="Google Shape;55;p2"/>
          <p:cNvSpPr txBox="1"/>
          <p:nvPr/>
        </p:nvSpPr>
        <p:spPr>
          <a:xfrm>
            <a:off x="707541" y="1793493"/>
            <a:ext cx="11019237" cy="4020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pPr marL="241300" marR="889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programs may contain syntactic errors, we will  discuss	extensions	of	the	parsing	methods	for  recovery from common errors.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5080" lvl="0" indent="-228600" algn="l" rtl="0">
              <a:lnSpc>
                <a:spcPct val="107857"/>
              </a:lnSpc>
              <a:spcBef>
                <a:spcPts val="105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Rules	of	PLs	prescribe	the	syntactic	structure	of  well-formed programs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8890" lvl="0" indent="-228600" algn="l" rtl="0">
              <a:lnSpc>
                <a:spcPct val="107857"/>
              </a:lnSpc>
              <a:spcBef>
                <a:spcPts val="100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	In	C,	programs…	functions…	declarations…  statements… expressions…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9525" lvl="0" indent="-228600" algn="l" rtl="0">
              <a:lnSpc>
                <a:spcPct val="107857"/>
              </a:lnSpc>
              <a:spcBef>
                <a:spcPts val="100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	of	PL	constructs	can	be	specified	by  CONTEXT FREE GRAMMARs.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 txBox="1">
            <a:spLocks noGrp="1"/>
          </p:cNvSpPr>
          <p:nvPr>
            <p:ph type="title"/>
          </p:nvPr>
        </p:nvSpPr>
        <p:spPr>
          <a:xfrm>
            <a:off x="707541" y="609676"/>
            <a:ext cx="5564921" cy="69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Formal Languages</a:t>
            </a:r>
            <a:endParaRPr dirty="0"/>
          </a:p>
        </p:txBody>
      </p:sp>
      <p:grpSp>
        <p:nvGrpSpPr>
          <p:cNvPr id="62" name="Google Shape;62;p3"/>
          <p:cNvGrpSpPr/>
          <p:nvPr/>
        </p:nvGrpSpPr>
        <p:grpSpPr>
          <a:xfrm>
            <a:off x="3117318" y="1573811"/>
            <a:ext cx="7407796" cy="4330782"/>
            <a:chOff x="483108" y="1766316"/>
            <a:chExt cx="7407796" cy="4330782"/>
          </a:xfrm>
        </p:grpSpPr>
        <p:pic>
          <p:nvPicPr>
            <p:cNvPr id="63" name="Google Shape;63;p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83108" y="1766316"/>
              <a:ext cx="7407796" cy="43307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" name="Google Shape;64;p3"/>
            <p:cNvSpPr/>
            <p:nvPr/>
          </p:nvSpPr>
          <p:spPr>
            <a:xfrm>
              <a:off x="5148072" y="4422648"/>
              <a:ext cx="2545080" cy="189230"/>
            </a:xfrm>
            <a:custGeom>
              <a:avLst/>
              <a:gdLst/>
              <a:ahLst/>
              <a:cxnLst/>
              <a:rect l="l" t="t" r="r" b="b"/>
              <a:pathLst>
                <a:path w="2545079" h="189229" extrusionOk="0">
                  <a:moveTo>
                    <a:pt x="2450592" y="0"/>
                  </a:moveTo>
                  <a:lnTo>
                    <a:pt x="2450592" y="47243"/>
                  </a:lnTo>
                  <a:lnTo>
                    <a:pt x="0" y="47243"/>
                  </a:lnTo>
                  <a:lnTo>
                    <a:pt x="0" y="141731"/>
                  </a:lnTo>
                  <a:lnTo>
                    <a:pt x="2450592" y="141731"/>
                  </a:lnTo>
                  <a:lnTo>
                    <a:pt x="2450592" y="188975"/>
                  </a:lnTo>
                  <a:lnTo>
                    <a:pt x="2545079" y="94487"/>
                  </a:lnTo>
                  <a:lnTo>
                    <a:pt x="2450592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5148072" y="4422648"/>
              <a:ext cx="2545080" cy="189230"/>
            </a:xfrm>
            <a:custGeom>
              <a:avLst/>
              <a:gdLst/>
              <a:ahLst/>
              <a:cxnLst/>
              <a:rect l="l" t="t" r="r" b="b"/>
              <a:pathLst>
                <a:path w="2545079" h="189229" extrusionOk="0">
                  <a:moveTo>
                    <a:pt x="0" y="47243"/>
                  </a:moveTo>
                  <a:lnTo>
                    <a:pt x="2450592" y="47243"/>
                  </a:lnTo>
                  <a:lnTo>
                    <a:pt x="2450592" y="0"/>
                  </a:lnTo>
                  <a:lnTo>
                    <a:pt x="2545079" y="94487"/>
                  </a:lnTo>
                  <a:lnTo>
                    <a:pt x="2450592" y="188975"/>
                  </a:lnTo>
                  <a:lnTo>
                    <a:pt x="2450592" y="141731"/>
                  </a:lnTo>
                  <a:lnTo>
                    <a:pt x="0" y="141731"/>
                  </a:lnTo>
                  <a:lnTo>
                    <a:pt x="0" y="47243"/>
                  </a:lnTo>
                  <a:close/>
                </a:path>
              </a:pathLst>
            </a:custGeom>
            <a:noFill/>
            <a:ln w="12700" cap="flat" cmpd="sng">
              <a:solidFill>
                <a:srgbClr val="2E52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4902708" y="5221224"/>
              <a:ext cx="1696720" cy="215265"/>
            </a:xfrm>
            <a:custGeom>
              <a:avLst/>
              <a:gdLst/>
              <a:ahLst/>
              <a:cxnLst/>
              <a:rect l="l" t="t" r="r" b="b"/>
              <a:pathLst>
                <a:path w="1696720" h="215264" extrusionOk="0">
                  <a:moveTo>
                    <a:pt x="1588769" y="0"/>
                  </a:moveTo>
                  <a:lnTo>
                    <a:pt x="1588769" y="53720"/>
                  </a:lnTo>
                  <a:lnTo>
                    <a:pt x="0" y="53720"/>
                  </a:lnTo>
                  <a:lnTo>
                    <a:pt x="0" y="161162"/>
                  </a:lnTo>
                  <a:lnTo>
                    <a:pt x="1588769" y="161162"/>
                  </a:lnTo>
                  <a:lnTo>
                    <a:pt x="1588769" y="214884"/>
                  </a:lnTo>
                  <a:lnTo>
                    <a:pt x="1696212" y="107441"/>
                  </a:lnTo>
                  <a:lnTo>
                    <a:pt x="1588769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4902708" y="5221224"/>
              <a:ext cx="1696720" cy="215265"/>
            </a:xfrm>
            <a:custGeom>
              <a:avLst/>
              <a:gdLst/>
              <a:ahLst/>
              <a:cxnLst/>
              <a:rect l="l" t="t" r="r" b="b"/>
              <a:pathLst>
                <a:path w="1696720" h="215264" extrusionOk="0">
                  <a:moveTo>
                    <a:pt x="0" y="53720"/>
                  </a:moveTo>
                  <a:lnTo>
                    <a:pt x="1588769" y="53720"/>
                  </a:lnTo>
                  <a:lnTo>
                    <a:pt x="1588769" y="0"/>
                  </a:lnTo>
                  <a:lnTo>
                    <a:pt x="1696212" y="107441"/>
                  </a:lnTo>
                  <a:lnTo>
                    <a:pt x="1588769" y="214884"/>
                  </a:lnTo>
                  <a:lnTo>
                    <a:pt x="1588769" y="161162"/>
                  </a:lnTo>
                  <a:lnTo>
                    <a:pt x="0" y="161162"/>
                  </a:lnTo>
                  <a:lnTo>
                    <a:pt x="0" y="53720"/>
                  </a:lnTo>
                  <a:close/>
                </a:path>
              </a:pathLst>
            </a:custGeom>
            <a:noFill/>
            <a:ln w="12700" cap="flat" cmpd="sng">
              <a:solidFill>
                <a:srgbClr val="2E52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" name="Google Shape;68;p3"/>
          <p:cNvSpPr txBox="1"/>
          <p:nvPr/>
        </p:nvSpPr>
        <p:spPr>
          <a:xfrm>
            <a:off x="9206078" y="3864764"/>
            <a:ext cx="2278380" cy="1887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814069" marR="508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 Analyzer  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200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Parser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1268095" lvl="0" indent="0" algn="ctr" rtl="0">
              <a:lnSpc>
                <a:spcPct val="100000"/>
              </a:lnSpc>
              <a:spcBef>
                <a:spcPts val="97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Lexical Analyzer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7645" marR="1477645" lvl="0" indent="63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 Tokenizer  or  Scanner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 txBox="1">
            <a:spLocks noGrp="1"/>
          </p:cNvSpPr>
          <p:nvPr>
            <p:ph type="sldNum" idx="12"/>
          </p:nvPr>
        </p:nvSpPr>
        <p:spPr>
          <a:xfrm>
            <a:off x="9217890" y="6185435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 txBox="1">
            <a:spLocks noGrp="1"/>
          </p:cNvSpPr>
          <p:nvPr>
            <p:ph type="title"/>
          </p:nvPr>
        </p:nvSpPr>
        <p:spPr>
          <a:xfrm>
            <a:off x="916938" y="609676"/>
            <a:ext cx="5451777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Review Question</a:t>
            </a:r>
            <a:endParaRPr dirty="0"/>
          </a:p>
        </p:txBody>
      </p:sp>
      <p:sp>
        <p:nvSpPr>
          <p:cNvPr id="75" name="Google Shape;75;p4"/>
          <p:cNvSpPr txBox="1"/>
          <p:nvPr/>
        </p:nvSpPr>
        <p:spPr>
          <a:xfrm>
            <a:off x="916939" y="1718548"/>
            <a:ext cx="10240645" cy="432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325" rIns="0" bIns="0" anchor="t" anchorCtr="0">
            <a:spAutoFit/>
          </a:bodyPr>
          <a:lstStyle/>
          <a:p>
            <a:pPr marL="241300" marR="0" lvl="0" indent="-22923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the following statements related to compiler construction :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662429" lvl="0" indent="-177800" algn="l" rtl="0">
              <a:lnSpc>
                <a:spcPct val="96071"/>
              </a:lnSpc>
              <a:spcBef>
                <a:spcPts val="97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romanUcPeriod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Lexical Analysis is specified by context-free grammars and  implemented by pushdown automata.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-177800" algn="l" rtl="0">
              <a:lnSpc>
                <a:spcPct val="96071"/>
              </a:lnSpc>
              <a:spcBef>
                <a:spcPts val="100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romanUcPeriod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 Analysis is specified by regular expressions and implemented  by finite-state machine. Which of the above statement(s) is/are correct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96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7685" marR="0" lvl="0" indent="-515619" algn="l" rtl="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I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7685" marR="0" lvl="0" indent="-515619" algn="l" rtl="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 Only II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7685" marR="0" lvl="0" indent="-515619" algn="l" rtl="0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 Both I and II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7685" marR="0" lvl="0" indent="-515619" algn="l" rtl="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 Neither I nor II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5876138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Role of the Parser</a:t>
            </a:r>
            <a:endParaRPr dirty="0"/>
          </a:p>
        </p:txBody>
      </p:sp>
      <p:pic>
        <p:nvPicPr>
          <p:cNvPr id="82" name="Google Shape;8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37820" y="2213905"/>
            <a:ext cx="8469907" cy="272729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5"/>
          <p:cNvSpPr txBox="1"/>
          <p:nvPr/>
        </p:nvSpPr>
        <p:spPr>
          <a:xfrm>
            <a:off x="2083280" y="5125644"/>
            <a:ext cx="8242934" cy="112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99085" marR="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Reports any syntax error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9085" marR="508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Recover from commonly occurring errors to continue processing  the remainder of the program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>
            <a:spLocks noGrp="1"/>
          </p:cNvSpPr>
          <p:nvPr>
            <p:ph type="title"/>
          </p:nvPr>
        </p:nvSpPr>
        <p:spPr>
          <a:xfrm>
            <a:off x="466445" y="361569"/>
            <a:ext cx="8220355" cy="69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What syntax analysis cannot do!</a:t>
            </a:r>
            <a:endParaRPr dirty="0"/>
          </a:p>
        </p:txBody>
      </p:sp>
      <p:sp>
        <p:nvSpPr>
          <p:cNvPr id="90" name="Google Shape;90;p6"/>
          <p:cNvSpPr txBox="1"/>
          <p:nvPr/>
        </p:nvSpPr>
        <p:spPr>
          <a:xfrm>
            <a:off x="697483" y="1234846"/>
            <a:ext cx="10900959" cy="4302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41300" marR="8255" lvl="0" indent="-2286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check whether variables are of types on which operations are  allowed</a:t>
            </a:r>
            <a:endParaRPr sz="19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1225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check whether a variable has been declared before use</a:t>
            </a:r>
            <a:endParaRPr sz="19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check whether a variable has been initialized</a:t>
            </a:r>
            <a:endParaRPr sz="19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issues will be handled in semantic analysis</a:t>
            </a:r>
            <a:endParaRPr sz="19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41300" marR="5080" lvl="0" indent="-228600" algn="just" rtl="0">
              <a:lnSpc>
                <a:spcPct val="110000"/>
              </a:lnSpc>
              <a:spcBef>
                <a:spcPts val="994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information which syntax analysis phase gets from the  previous phase (lexical analysis) is whether a token is valid or  not and which class of tokens does it belong to.</a:t>
            </a:r>
            <a:endParaRPr sz="19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41300" marR="10160" lvl="0" indent="-22860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Hence it is beyond the capabilities of the syntax analysis phase  to settle issues like:</a:t>
            </a:r>
            <a:endParaRPr sz="19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98500" marR="0" lvl="1" indent="-229234" algn="l" rtl="0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-US" sz="15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Whether or not a variable has already been declared?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98500" marR="0" lvl="1" indent="-229234" algn="l" rtl="0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-US" sz="15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Whether or not a variable has been initialized before use?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98500" marR="0" lvl="1" indent="-229234" algn="l" rtl="0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-US" sz="15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Whether or not a variable is of the type on which the operation is allowed?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1185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such issues are handled in the semantic analysis phase.</a:t>
            </a:r>
            <a:endParaRPr sz="19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 txBox="1">
            <a:spLocks noGrp="1"/>
          </p:cNvSpPr>
          <p:nvPr>
            <p:ph type="sldNum" idx="12"/>
          </p:nvPr>
        </p:nvSpPr>
        <p:spPr>
          <a:xfrm>
            <a:off x="9760016" y="6361898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 txBox="1">
            <a:spLocks noGrp="1"/>
          </p:cNvSpPr>
          <p:nvPr>
            <p:ph type="title"/>
          </p:nvPr>
        </p:nvSpPr>
        <p:spPr>
          <a:xfrm>
            <a:off x="707542" y="324993"/>
            <a:ext cx="7728915" cy="1288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12700" marR="5080" lvl="0" indent="0" algn="l" rtl="0">
              <a:lnSpc>
                <a:spcPct val="107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Why Not Regular Expressions for  Syntax Analysis</a:t>
            </a:r>
            <a:endParaRPr/>
          </a:p>
        </p:txBody>
      </p:sp>
      <p:sp>
        <p:nvSpPr>
          <p:cNvPr id="97" name="Google Shape;97;p7"/>
          <p:cNvSpPr txBox="1"/>
          <p:nvPr/>
        </p:nvSpPr>
        <p:spPr>
          <a:xfrm>
            <a:off x="707542" y="2232194"/>
            <a:ext cx="11112147" cy="3320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0475" rIns="0" bIns="0" anchor="t" anchorCtr="0">
            <a:spAutoFit/>
          </a:bodyPr>
          <a:lstStyle/>
          <a:p>
            <a:pPr marL="254000" marR="246379" lvl="0" indent="-22860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fact is a fundamental limitation of res;  the corresponding recognizers cannot count  because they have only a finite set of states.</a:t>
            </a:r>
            <a:endParaRPr sz="3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4000" marR="587375" lvl="0" indent="-228600" algn="l" rtl="0">
              <a:lnSpc>
                <a:spcPct val="96875"/>
              </a:lnSpc>
              <a:spcBef>
                <a:spcPts val="92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language {</a:t>
            </a:r>
            <a:r>
              <a:rPr lang="en-US" sz="3200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US" sz="3150" i="1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sz="21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r>
              <a:rPr lang="en-US" sz="3150" i="1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US" sz="32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</a:t>
            </a:r>
            <a:r>
              <a:rPr lang="en-US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</a:t>
            </a:r>
            <a:r>
              <a:rPr lang="en-US" sz="32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n-US" sz="32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n} </a:t>
            </a:r>
            <a:r>
              <a:rPr lang="en-US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not  regular.</a:t>
            </a:r>
            <a:endParaRPr sz="3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4000" marR="0" lvl="0" indent="-228600" algn="l" rtl="0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principle, Finite Automata cannot count.</a:t>
            </a:r>
            <a:endParaRPr sz="3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4000" marR="17780" lvl="0" indent="-228600" algn="l" rtl="0">
              <a:lnSpc>
                <a:spcPct val="79700"/>
              </a:lnSpc>
              <a:spcBef>
                <a:spcPts val="101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they work well for micro-syntax, they  are not suitable to describe some important  programming language features.</a:t>
            </a:r>
            <a:endParaRPr sz="3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7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8436458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Context-Free Grammars</a:t>
            </a:r>
            <a:endParaRPr dirty="0"/>
          </a:p>
        </p:txBody>
      </p:sp>
      <p:sp>
        <p:nvSpPr>
          <p:cNvPr id="104" name="Google Shape;104;p8"/>
          <p:cNvSpPr txBox="1"/>
          <p:nvPr/>
        </p:nvSpPr>
        <p:spPr>
          <a:xfrm>
            <a:off x="535940" y="1531014"/>
            <a:ext cx="10693534" cy="3851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8875" rIns="0" bIns="0" anchor="t" anchorCtr="0">
            <a:spAutoFit/>
          </a:bodyPr>
          <a:lstStyle/>
          <a:p>
            <a:pPr marL="241300" marR="0" lvl="0" indent="-22923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Context-free grammars consist of: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8500" marR="0" lvl="1" indent="-229234" algn="l" rtl="0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of symbols: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55700" marR="0" lvl="2" indent="-229235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462C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</a:rPr>
              <a:t>terminals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denotes token types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55700" marR="0" lvl="2" indent="-229235" algn="l" rtl="0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0462C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</a:rPr>
              <a:t>non-terminals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denotes a set of strings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8500" marR="0" lvl="1" indent="-229234" algn="l" rtl="0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symbol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8500" marR="0" lvl="1" indent="-229234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Rules: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22225" lvl="0" indent="0" algn="ctr" rtl="0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symbol ::= symbol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symbol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... symbol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55700" marR="0" lvl="2" indent="-229235" algn="l" rtl="0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left-hand side: non-terminal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55700" marR="0" lvl="2" indent="-229235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right-hand side: terminals and/or non-terminals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55700" marR="5080" lvl="2" indent="-228600" algn="l" rtl="0">
              <a:lnSpc>
                <a:spcPct val="108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rules explain how to rewrite non-terminals (beginning with start  symbol) into terminals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"/>
          <p:cNvSpPr txBox="1">
            <a:spLocks noGrp="1"/>
          </p:cNvSpPr>
          <p:nvPr>
            <p:ph type="title"/>
          </p:nvPr>
        </p:nvSpPr>
        <p:spPr>
          <a:xfrm>
            <a:off x="707541" y="609676"/>
            <a:ext cx="8580837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Context-Free Grammars</a:t>
            </a:r>
            <a:endParaRPr dirty="0"/>
          </a:p>
        </p:txBody>
      </p:sp>
      <p:sp>
        <p:nvSpPr>
          <p:cNvPr id="111" name="Google Shape;111;p9"/>
          <p:cNvSpPr txBox="1"/>
          <p:nvPr/>
        </p:nvSpPr>
        <p:spPr>
          <a:xfrm>
            <a:off x="1704657" y="1553708"/>
            <a:ext cx="8782685" cy="4399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pPr marL="622300" marR="476250" lvl="0" indent="-609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string is in the language of the CFG if and only if it is  possible to </a:t>
            </a:r>
            <a:r>
              <a:rPr lang="en-US" sz="2800" dirty="0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</a:rPr>
              <a:t>derive 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string using the following non-  deterministic procedure: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84300" marR="0" lvl="0" indent="-45783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begin with the start symbol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84300" marR="0" lvl="0" indent="-457833" algn="l" rtl="0">
              <a:lnSpc>
                <a:spcPct val="114000"/>
              </a:lnSpc>
              <a:spcBef>
                <a:spcPts val="254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any non-terminals exist, pick a non-terminal and rewrite it using a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8430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rule </a:t>
            </a:r>
            <a:r>
              <a:rPr lang="en-US" sz="2000" dirty="0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</a:rPr>
              <a:t>&lt;== could be many choices here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84300" marR="141605" lvl="0" indent="-457200" algn="l" rtl="0">
              <a:lnSpc>
                <a:spcPct val="108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3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stop when all you have left are terminals (and check you arrived at the  string your were hoping to)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endParaRPr sz="2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22300" marR="274320" lvl="0" indent="-609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</a:rPr>
              <a:t>Parsing 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process of checking that a string is in the CFG  for your programming language.	It is usually coupled  with creating an abstract syntax tree.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"/>
          <p:cNvSpPr txBox="1">
            <a:spLocks noGrp="1"/>
          </p:cNvSpPr>
          <p:nvPr>
            <p:ph type="title"/>
          </p:nvPr>
        </p:nvSpPr>
        <p:spPr>
          <a:xfrm>
            <a:off x="707541" y="609676"/>
            <a:ext cx="7040795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Context-Free Grammars</a:t>
            </a:r>
            <a:endParaRPr dirty="0"/>
          </a:p>
        </p:txBody>
      </p:sp>
      <p:sp>
        <p:nvSpPr>
          <p:cNvPr id="118" name="Google Shape;118;p10"/>
          <p:cNvSpPr txBox="1"/>
          <p:nvPr/>
        </p:nvSpPr>
        <p:spPr>
          <a:xfrm>
            <a:off x="707542" y="1793493"/>
            <a:ext cx="110490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413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else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0"/>
          <p:cNvSpPr txBox="1"/>
          <p:nvPr/>
        </p:nvSpPr>
        <p:spPr>
          <a:xfrm>
            <a:off x="707542" y="2816479"/>
            <a:ext cx="366329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413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Arithmetic expression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2160" y="2279904"/>
            <a:ext cx="5158740" cy="32003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" name="Google Shape;121;p10"/>
          <p:cNvGrpSpPr/>
          <p:nvPr/>
        </p:nvGrpSpPr>
        <p:grpSpPr>
          <a:xfrm>
            <a:off x="1967992" y="2888233"/>
            <a:ext cx="5271008" cy="3764024"/>
            <a:chOff x="1967992" y="2888233"/>
            <a:chExt cx="5271008" cy="3764024"/>
          </a:xfrm>
        </p:grpSpPr>
        <p:pic>
          <p:nvPicPr>
            <p:cNvPr id="122" name="Google Shape;122;p1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981200" y="3482339"/>
              <a:ext cx="5257800" cy="31699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10"/>
            <p:cNvSpPr/>
            <p:nvPr/>
          </p:nvSpPr>
          <p:spPr>
            <a:xfrm>
              <a:off x="1967992" y="2888233"/>
              <a:ext cx="2566035" cy="2556510"/>
            </a:xfrm>
            <a:custGeom>
              <a:avLst/>
              <a:gdLst/>
              <a:ahLst/>
              <a:cxnLst/>
              <a:rect l="l" t="t" r="r" b="b"/>
              <a:pathLst>
                <a:path w="2566035" h="2556510" extrusionOk="0">
                  <a:moveTo>
                    <a:pt x="0" y="2556382"/>
                  </a:moveTo>
                  <a:lnTo>
                    <a:pt x="529335" y="1797049"/>
                  </a:lnTo>
                </a:path>
                <a:path w="2566035" h="2556510" extrusionOk="0">
                  <a:moveTo>
                    <a:pt x="2565654" y="0"/>
                  </a:moveTo>
                  <a:lnTo>
                    <a:pt x="2137791" y="546100"/>
                  </a:lnTo>
                </a:path>
              </a:pathLst>
            </a:custGeom>
            <a:noFill/>
            <a:ln w="12700" cap="flat" cmpd="sng">
              <a:solidFill>
                <a:srgbClr val="2E52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10"/>
          <p:cNvSpPr txBox="1"/>
          <p:nvPr/>
        </p:nvSpPr>
        <p:spPr>
          <a:xfrm>
            <a:off x="201168" y="5273040"/>
            <a:ext cx="1658620" cy="715010"/>
          </a:xfrm>
          <a:prstGeom prst="rect">
            <a:avLst/>
          </a:prstGeom>
          <a:solidFill>
            <a:srgbClr val="4471C4"/>
          </a:solidFill>
          <a:ln w="12700" cap="flat" cmpd="sng">
            <a:solidFill>
              <a:srgbClr val="2E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5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6256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Non-terminals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 txBox="1"/>
          <p:nvPr/>
        </p:nvSpPr>
        <p:spPr>
          <a:xfrm>
            <a:off x="4640579" y="2645664"/>
            <a:ext cx="833755" cy="518159"/>
          </a:xfrm>
          <a:prstGeom prst="rect">
            <a:avLst/>
          </a:prstGeom>
          <a:solidFill>
            <a:srgbClr val="4471C4"/>
          </a:solidFill>
          <a:ln w="12700" cap="flat" cmpd="sng">
            <a:solidFill>
              <a:srgbClr val="2E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7300" rIns="0" bIns="0" anchor="t" anchorCtr="0">
            <a:spAutoFit/>
          </a:bodyPr>
          <a:lstStyle/>
          <a:p>
            <a:pPr marL="27114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:: =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0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875730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Arithmetic expressions as CFG</a:t>
            </a:r>
            <a:endParaRPr dirty="0"/>
          </a:p>
        </p:txBody>
      </p:sp>
      <p:pic>
        <p:nvPicPr>
          <p:cNvPr id="132" name="Google Shape;132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95500" y="2860733"/>
            <a:ext cx="4998720" cy="115941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1"/>
          <p:cNvSpPr/>
          <p:nvPr/>
        </p:nvSpPr>
        <p:spPr>
          <a:xfrm>
            <a:off x="1708404" y="2689605"/>
            <a:ext cx="306705" cy="264795"/>
          </a:xfrm>
          <a:custGeom>
            <a:avLst/>
            <a:gdLst/>
            <a:ahLst/>
            <a:cxnLst/>
            <a:rect l="l" t="t" r="r" b="b"/>
            <a:pathLst>
              <a:path w="306705" h="264794" extrusionOk="0">
                <a:moveTo>
                  <a:pt x="0" y="0"/>
                </a:moveTo>
                <a:lnTo>
                  <a:pt x="306704" y="264668"/>
                </a:lnTo>
              </a:path>
            </a:pathLst>
          </a:custGeom>
          <a:noFill/>
          <a:ln w="12700" cap="flat" cmpd="sng">
            <a:solidFill>
              <a:srgbClr val="2E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1"/>
          <p:cNvSpPr txBox="1"/>
          <p:nvPr/>
        </p:nvSpPr>
        <p:spPr>
          <a:xfrm>
            <a:off x="976883" y="2005583"/>
            <a:ext cx="1416050" cy="576580"/>
          </a:xfrm>
          <a:prstGeom prst="rect">
            <a:avLst/>
          </a:prstGeom>
          <a:solidFill>
            <a:srgbClr val="4471C4"/>
          </a:solidFill>
          <a:ln w="12700" cap="flat" cmpd="sng">
            <a:solidFill>
              <a:srgbClr val="2E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36525" rIns="0" bIns="0" anchor="t" anchorCtr="0">
            <a:spAutoFit/>
          </a:bodyPr>
          <a:lstStyle/>
          <a:p>
            <a:pPr marL="11937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 Symbol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1"/>
          <p:cNvSpPr txBox="1"/>
          <p:nvPr/>
        </p:nvSpPr>
        <p:spPr>
          <a:xfrm>
            <a:off x="976883" y="4508227"/>
            <a:ext cx="5048250" cy="148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35433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E, T and F are Non-terminals  E is the start symbol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+,-,*,/,( , ) and id are terminals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8381594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Balanced Parenthesis as CFG</a:t>
            </a:r>
            <a:endParaRPr dirty="0"/>
          </a:p>
        </p:txBody>
      </p:sp>
      <p:pic>
        <p:nvPicPr>
          <p:cNvPr id="142" name="Google Shape;142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" y="1307591"/>
            <a:ext cx="7077456" cy="542239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>
            <a:spLocks noGrp="1"/>
          </p:cNvSpPr>
          <p:nvPr>
            <p:ph type="title"/>
          </p:nvPr>
        </p:nvSpPr>
        <p:spPr>
          <a:xfrm>
            <a:off x="535940" y="118361"/>
            <a:ext cx="1545590" cy="1230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3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non-terminals:  terminals:  rules: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3"/>
          <p:cNvSpPr txBox="1"/>
          <p:nvPr/>
        </p:nvSpPr>
        <p:spPr>
          <a:xfrm>
            <a:off x="2364994" y="118361"/>
            <a:ext cx="2776220" cy="828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2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S, E, Elist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ID, NUM, PRINT, +, :=, (, ), ;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3"/>
          <p:cNvSpPr txBox="1"/>
          <p:nvPr/>
        </p:nvSpPr>
        <p:spPr>
          <a:xfrm>
            <a:off x="1069644" y="1465834"/>
            <a:ext cx="107505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S ::= S; 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3"/>
          <p:cNvSpPr txBox="1"/>
          <p:nvPr/>
        </p:nvSpPr>
        <p:spPr>
          <a:xfrm>
            <a:off x="1069644" y="1740153"/>
            <a:ext cx="1982470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S ::= ID :=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S ::= PRINT ( Elist 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3"/>
          <p:cNvSpPr txBox="1"/>
          <p:nvPr/>
        </p:nvSpPr>
        <p:spPr>
          <a:xfrm>
            <a:off x="4029202" y="1448561"/>
            <a:ext cx="1645285" cy="112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89560" marR="0" lvl="0" indent="-2774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4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::= ID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40259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4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::= NUM  6. E ::= E +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E ::= ( S , Elist 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3"/>
          <p:cNvSpPr txBox="1"/>
          <p:nvPr/>
        </p:nvSpPr>
        <p:spPr>
          <a:xfrm>
            <a:off x="6379209" y="1434210"/>
            <a:ext cx="1675764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89560" marR="0" lvl="0" indent="-2774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8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Elist ::=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9560" marR="0" lvl="0" indent="-2774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8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Elist ::= Elist ,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3"/>
          <p:cNvSpPr txBox="1"/>
          <p:nvPr/>
        </p:nvSpPr>
        <p:spPr>
          <a:xfrm>
            <a:off x="3127375" y="5474919"/>
            <a:ext cx="244094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 = NUM ; PRINT ( NUM 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3"/>
          <p:cNvSpPr/>
          <p:nvPr/>
        </p:nvSpPr>
        <p:spPr>
          <a:xfrm>
            <a:off x="5867400" y="4033773"/>
            <a:ext cx="1680845" cy="1452880"/>
          </a:xfrm>
          <a:custGeom>
            <a:avLst/>
            <a:gdLst/>
            <a:ahLst/>
            <a:cxnLst/>
            <a:rect l="l" t="t" r="r" b="b"/>
            <a:pathLst>
              <a:path w="1680845" h="1452879" extrusionOk="0">
                <a:moveTo>
                  <a:pt x="32765" y="1374013"/>
                </a:moveTo>
                <a:lnTo>
                  <a:pt x="0" y="1452626"/>
                </a:lnTo>
                <a:lnTo>
                  <a:pt x="82550" y="1431670"/>
                </a:lnTo>
                <a:lnTo>
                  <a:pt x="68952" y="1415923"/>
                </a:lnTo>
                <a:lnTo>
                  <a:pt x="52197" y="1415923"/>
                </a:lnTo>
                <a:lnTo>
                  <a:pt x="43941" y="1406270"/>
                </a:lnTo>
                <a:lnTo>
                  <a:pt x="53494" y="1398020"/>
                </a:lnTo>
                <a:lnTo>
                  <a:pt x="32765" y="1374013"/>
                </a:lnTo>
                <a:close/>
              </a:path>
              <a:path w="1680845" h="1452879" extrusionOk="0">
                <a:moveTo>
                  <a:pt x="53494" y="1398020"/>
                </a:moveTo>
                <a:lnTo>
                  <a:pt x="43941" y="1406270"/>
                </a:lnTo>
                <a:lnTo>
                  <a:pt x="52197" y="1415923"/>
                </a:lnTo>
                <a:lnTo>
                  <a:pt x="61795" y="1407633"/>
                </a:lnTo>
                <a:lnTo>
                  <a:pt x="53494" y="1398020"/>
                </a:lnTo>
                <a:close/>
              </a:path>
              <a:path w="1680845" h="1452879" extrusionOk="0">
                <a:moveTo>
                  <a:pt x="61795" y="1407633"/>
                </a:moveTo>
                <a:lnTo>
                  <a:pt x="52197" y="1415923"/>
                </a:lnTo>
                <a:lnTo>
                  <a:pt x="68952" y="1415923"/>
                </a:lnTo>
                <a:lnTo>
                  <a:pt x="61795" y="1407633"/>
                </a:lnTo>
                <a:close/>
              </a:path>
              <a:path w="1680845" h="1452879" extrusionOk="0">
                <a:moveTo>
                  <a:pt x="1672208" y="0"/>
                </a:moveTo>
                <a:lnTo>
                  <a:pt x="53494" y="1398020"/>
                </a:lnTo>
                <a:lnTo>
                  <a:pt x="61795" y="1407633"/>
                </a:lnTo>
                <a:lnTo>
                  <a:pt x="1680591" y="9651"/>
                </a:lnTo>
                <a:lnTo>
                  <a:pt x="167220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3"/>
          <p:cNvSpPr txBox="1"/>
          <p:nvPr/>
        </p:nvSpPr>
        <p:spPr>
          <a:xfrm>
            <a:off x="7319009" y="3676269"/>
            <a:ext cx="105410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Derive me!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3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>
            <a:spLocks noGrp="1"/>
          </p:cNvSpPr>
          <p:nvPr>
            <p:ph type="title"/>
          </p:nvPr>
        </p:nvSpPr>
        <p:spPr>
          <a:xfrm>
            <a:off x="535940" y="118361"/>
            <a:ext cx="1545590" cy="1230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3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non-terminals:  terminals:  rules: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4"/>
          <p:cNvSpPr txBox="1"/>
          <p:nvPr/>
        </p:nvSpPr>
        <p:spPr>
          <a:xfrm>
            <a:off x="2364994" y="118361"/>
            <a:ext cx="2776220" cy="828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2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S, E, Elist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ID, NUM, PRINT, +, :=, (, ), ;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4"/>
          <p:cNvSpPr txBox="1"/>
          <p:nvPr/>
        </p:nvSpPr>
        <p:spPr>
          <a:xfrm>
            <a:off x="1069644" y="1465834"/>
            <a:ext cx="107505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S ::= S; 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4"/>
          <p:cNvSpPr txBox="1"/>
          <p:nvPr/>
        </p:nvSpPr>
        <p:spPr>
          <a:xfrm>
            <a:off x="1069644" y="1740153"/>
            <a:ext cx="1982470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S ::= ID :=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S ::= PRINT ( Elist 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4"/>
          <p:cNvSpPr txBox="1"/>
          <p:nvPr/>
        </p:nvSpPr>
        <p:spPr>
          <a:xfrm>
            <a:off x="4029202" y="1448561"/>
            <a:ext cx="1645285" cy="112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89560" marR="0" lvl="0" indent="-2774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4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::= ID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40259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4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::= NUM  6. E ::= E +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E ::= ( S , Elist 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4"/>
          <p:cNvSpPr txBox="1"/>
          <p:nvPr/>
        </p:nvSpPr>
        <p:spPr>
          <a:xfrm>
            <a:off x="6379209" y="1434210"/>
            <a:ext cx="1675764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89560" marR="0" lvl="0" indent="-2774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8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Elist ::=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9560" marR="0" lvl="0" indent="-2774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8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Elist ::= Elist ,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4"/>
          <p:cNvSpPr txBox="1"/>
          <p:nvPr/>
        </p:nvSpPr>
        <p:spPr>
          <a:xfrm>
            <a:off x="3127375" y="3828669"/>
            <a:ext cx="13081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4"/>
          <p:cNvSpPr txBox="1"/>
          <p:nvPr/>
        </p:nvSpPr>
        <p:spPr>
          <a:xfrm>
            <a:off x="3127375" y="5474919"/>
            <a:ext cx="244094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 = NUM ; PRINT ( NUM 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4"/>
          <p:cNvSpPr/>
          <p:nvPr/>
        </p:nvSpPr>
        <p:spPr>
          <a:xfrm>
            <a:off x="5867400" y="4033773"/>
            <a:ext cx="1680845" cy="1452880"/>
          </a:xfrm>
          <a:custGeom>
            <a:avLst/>
            <a:gdLst/>
            <a:ahLst/>
            <a:cxnLst/>
            <a:rect l="l" t="t" r="r" b="b"/>
            <a:pathLst>
              <a:path w="1680845" h="1452879" extrusionOk="0">
                <a:moveTo>
                  <a:pt x="32765" y="1374013"/>
                </a:moveTo>
                <a:lnTo>
                  <a:pt x="0" y="1452626"/>
                </a:lnTo>
                <a:lnTo>
                  <a:pt x="82550" y="1431670"/>
                </a:lnTo>
                <a:lnTo>
                  <a:pt x="68952" y="1415923"/>
                </a:lnTo>
                <a:lnTo>
                  <a:pt x="52197" y="1415923"/>
                </a:lnTo>
                <a:lnTo>
                  <a:pt x="43941" y="1406270"/>
                </a:lnTo>
                <a:lnTo>
                  <a:pt x="53494" y="1398020"/>
                </a:lnTo>
                <a:lnTo>
                  <a:pt x="32765" y="1374013"/>
                </a:lnTo>
                <a:close/>
              </a:path>
              <a:path w="1680845" h="1452879" extrusionOk="0">
                <a:moveTo>
                  <a:pt x="53494" y="1398020"/>
                </a:moveTo>
                <a:lnTo>
                  <a:pt x="43941" y="1406270"/>
                </a:lnTo>
                <a:lnTo>
                  <a:pt x="52197" y="1415923"/>
                </a:lnTo>
                <a:lnTo>
                  <a:pt x="61795" y="1407633"/>
                </a:lnTo>
                <a:lnTo>
                  <a:pt x="53494" y="1398020"/>
                </a:lnTo>
                <a:close/>
              </a:path>
              <a:path w="1680845" h="1452879" extrusionOk="0">
                <a:moveTo>
                  <a:pt x="61795" y="1407633"/>
                </a:moveTo>
                <a:lnTo>
                  <a:pt x="52197" y="1415923"/>
                </a:lnTo>
                <a:lnTo>
                  <a:pt x="68952" y="1415923"/>
                </a:lnTo>
                <a:lnTo>
                  <a:pt x="61795" y="1407633"/>
                </a:lnTo>
                <a:close/>
              </a:path>
              <a:path w="1680845" h="1452879" extrusionOk="0">
                <a:moveTo>
                  <a:pt x="1672208" y="0"/>
                </a:moveTo>
                <a:lnTo>
                  <a:pt x="53494" y="1398020"/>
                </a:lnTo>
                <a:lnTo>
                  <a:pt x="61795" y="1407633"/>
                </a:lnTo>
                <a:lnTo>
                  <a:pt x="1680591" y="9651"/>
                </a:lnTo>
                <a:lnTo>
                  <a:pt x="167220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4"/>
          <p:cNvSpPr txBox="1"/>
          <p:nvPr/>
        </p:nvSpPr>
        <p:spPr>
          <a:xfrm>
            <a:off x="7319009" y="3676269"/>
            <a:ext cx="105410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Derive me!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"/>
          <p:cNvSpPr txBox="1">
            <a:spLocks noGrp="1"/>
          </p:cNvSpPr>
          <p:nvPr>
            <p:ph type="title"/>
          </p:nvPr>
        </p:nvSpPr>
        <p:spPr>
          <a:xfrm>
            <a:off x="535940" y="118361"/>
            <a:ext cx="1545590" cy="1230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3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non-terminals:  terminals:  rules: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5"/>
          <p:cNvSpPr txBox="1"/>
          <p:nvPr/>
        </p:nvSpPr>
        <p:spPr>
          <a:xfrm>
            <a:off x="2364994" y="118361"/>
            <a:ext cx="2776220" cy="828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2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S, E, Elist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ID, NUM, PRINT, +, :=, (, ), ;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5"/>
          <p:cNvSpPr txBox="1"/>
          <p:nvPr/>
        </p:nvSpPr>
        <p:spPr>
          <a:xfrm>
            <a:off x="1069644" y="1465834"/>
            <a:ext cx="107505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S ::= S; 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5"/>
          <p:cNvSpPr txBox="1"/>
          <p:nvPr/>
        </p:nvSpPr>
        <p:spPr>
          <a:xfrm>
            <a:off x="1069644" y="1740153"/>
            <a:ext cx="1982470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S ::= ID :=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S ::= PRINT ( Elist 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 txBox="1"/>
          <p:nvPr/>
        </p:nvSpPr>
        <p:spPr>
          <a:xfrm>
            <a:off x="4029202" y="1448561"/>
            <a:ext cx="1645285" cy="112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89560" marR="0" lvl="0" indent="-2774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4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::= ID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40259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4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::= NUM  6. E ::= E +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E ::= ( S , Elist 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5"/>
          <p:cNvSpPr txBox="1"/>
          <p:nvPr/>
        </p:nvSpPr>
        <p:spPr>
          <a:xfrm>
            <a:off x="6379209" y="1434210"/>
            <a:ext cx="1675764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89560" marR="0" lvl="0" indent="-2774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8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Elist ::=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9560" marR="0" lvl="0" indent="-2774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8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Elist ::= Elist ,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5"/>
          <p:cNvSpPr txBox="1"/>
          <p:nvPr/>
        </p:nvSpPr>
        <p:spPr>
          <a:xfrm>
            <a:off x="3127375" y="3828669"/>
            <a:ext cx="55435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 =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 txBox="1"/>
          <p:nvPr/>
        </p:nvSpPr>
        <p:spPr>
          <a:xfrm>
            <a:off x="3127375" y="5474919"/>
            <a:ext cx="244094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 = NUM ; PRINT ( NUM 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5867400" y="4033773"/>
            <a:ext cx="1680845" cy="1452880"/>
          </a:xfrm>
          <a:custGeom>
            <a:avLst/>
            <a:gdLst/>
            <a:ahLst/>
            <a:cxnLst/>
            <a:rect l="l" t="t" r="r" b="b"/>
            <a:pathLst>
              <a:path w="1680845" h="1452879" extrusionOk="0">
                <a:moveTo>
                  <a:pt x="32765" y="1374013"/>
                </a:moveTo>
                <a:lnTo>
                  <a:pt x="0" y="1452626"/>
                </a:lnTo>
                <a:lnTo>
                  <a:pt x="82550" y="1431670"/>
                </a:lnTo>
                <a:lnTo>
                  <a:pt x="68952" y="1415923"/>
                </a:lnTo>
                <a:lnTo>
                  <a:pt x="52197" y="1415923"/>
                </a:lnTo>
                <a:lnTo>
                  <a:pt x="43941" y="1406270"/>
                </a:lnTo>
                <a:lnTo>
                  <a:pt x="53494" y="1398020"/>
                </a:lnTo>
                <a:lnTo>
                  <a:pt x="32765" y="1374013"/>
                </a:lnTo>
                <a:close/>
              </a:path>
              <a:path w="1680845" h="1452879" extrusionOk="0">
                <a:moveTo>
                  <a:pt x="53494" y="1398020"/>
                </a:moveTo>
                <a:lnTo>
                  <a:pt x="43941" y="1406270"/>
                </a:lnTo>
                <a:lnTo>
                  <a:pt x="52197" y="1415923"/>
                </a:lnTo>
                <a:lnTo>
                  <a:pt x="61795" y="1407633"/>
                </a:lnTo>
                <a:lnTo>
                  <a:pt x="53494" y="1398020"/>
                </a:lnTo>
                <a:close/>
              </a:path>
              <a:path w="1680845" h="1452879" extrusionOk="0">
                <a:moveTo>
                  <a:pt x="61795" y="1407633"/>
                </a:moveTo>
                <a:lnTo>
                  <a:pt x="52197" y="1415923"/>
                </a:lnTo>
                <a:lnTo>
                  <a:pt x="68952" y="1415923"/>
                </a:lnTo>
                <a:lnTo>
                  <a:pt x="61795" y="1407633"/>
                </a:lnTo>
                <a:close/>
              </a:path>
              <a:path w="1680845" h="1452879" extrusionOk="0">
                <a:moveTo>
                  <a:pt x="1672208" y="0"/>
                </a:moveTo>
                <a:lnTo>
                  <a:pt x="53494" y="1398020"/>
                </a:lnTo>
                <a:lnTo>
                  <a:pt x="61795" y="1407633"/>
                </a:lnTo>
                <a:lnTo>
                  <a:pt x="1680591" y="9651"/>
                </a:lnTo>
                <a:lnTo>
                  <a:pt x="167220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5"/>
          <p:cNvSpPr txBox="1"/>
          <p:nvPr/>
        </p:nvSpPr>
        <p:spPr>
          <a:xfrm>
            <a:off x="7319009" y="3676269"/>
            <a:ext cx="105410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Derive me!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5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"/>
          <p:cNvSpPr txBox="1">
            <a:spLocks noGrp="1"/>
          </p:cNvSpPr>
          <p:nvPr>
            <p:ph type="title"/>
          </p:nvPr>
        </p:nvSpPr>
        <p:spPr>
          <a:xfrm>
            <a:off x="535940" y="118361"/>
            <a:ext cx="1545590" cy="1230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3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non-terminals:  terminals:  rules: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6"/>
          <p:cNvSpPr txBox="1"/>
          <p:nvPr/>
        </p:nvSpPr>
        <p:spPr>
          <a:xfrm>
            <a:off x="2364994" y="118361"/>
            <a:ext cx="2776220" cy="828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2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S, E, Elist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ID, NUM, PRINT, +, :=, (, ), ;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6"/>
          <p:cNvSpPr txBox="1"/>
          <p:nvPr/>
        </p:nvSpPr>
        <p:spPr>
          <a:xfrm>
            <a:off x="1069644" y="1465834"/>
            <a:ext cx="107505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S ::= S; 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6"/>
          <p:cNvSpPr txBox="1"/>
          <p:nvPr/>
        </p:nvSpPr>
        <p:spPr>
          <a:xfrm>
            <a:off x="1069644" y="1740153"/>
            <a:ext cx="1982470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S ::= ID :=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S ::= PRINT ( Elist 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6"/>
          <p:cNvSpPr txBox="1"/>
          <p:nvPr/>
        </p:nvSpPr>
        <p:spPr>
          <a:xfrm>
            <a:off x="4029202" y="1448561"/>
            <a:ext cx="1645285" cy="112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89560" marR="0" lvl="0" indent="-2774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4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::= ID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40259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4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::= NUM  6. E ::= E +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E ::= ( S , Elist 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6"/>
          <p:cNvSpPr txBox="1"/>
          <p:nvPr/>
        </p:nvSpPr>
        <p:spPr>
          <a:xfrm>
            <a:off x="6379209" y="1434210"/>
            <a:ext cx="1675764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89560" marR="0" lvl="0" indent="-2774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8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Elist ::=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9560" marR="0" lvl="0" indent="-2774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8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Elist ::= Elist ,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6"/>
          <p:cNvSpPr txBox="1"/>
          <p:nvPr/>
        </p:nvSpPr>
        <p:spPr>
          <a:xfrm>
            <a:off x="3127375" y="3828669"/>
            <a:ext cx="55435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 =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6"/>
          <p:cNvSpPr txBox="1"/>
          <p:nvPr/>
        </p:nvSpPr>
        <p:spPr>
          <a:xfrm>
            <a:off x="3127375" y="5474919"/>
            <a:ext cx="244094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 = NUM ; PRINT ( NUM 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0" name="Google Shape;200;p16"/>
          <p:cNvGrpSpPr/>
          <p:nvPr/>
        </p:nvGrpSpPr>
        <p:grpSpPr>
          <a:xfrm>
            <a:off x="3581400" y="4033773"/>
            <a:ext cx="3966845" cy="1452880"/>
            <a:chOff x="3581400" y="4033773"/>
            <a:chExt cx="3966845" cy="1452880"/>
          </a:xfrm>
        </p:grpSpPr>
        <p:sp>
          <p:nvSpPr>
            <p:cNvPr id="201" name="Google Shape;201;p16"/>
            <p:cNvSpPr/>
            <p:nvPr/>
          </p:nvSpPr>
          <p:spPr>
            <a:xfrm>
              <a:off x="5867400" y="4033773"/>
              <a:ext cx="1680845" cy="1452880"/>
            </a:xfrm>
            <a:custGeom>
              <a:avLst/>
              <a:gdLst/>
              <a:ahLst/>
              <a:cxnLst/>
              <a:rect l="l" t="t" r="r" b="b"/>
              <a:pathLst>
                <a:path w="1680845" h="1452879" extrusionOk="0">
                  <a:moveTo>
                    <a:pt x="32765" y="1374013"/>
                  </a:moveTo>
                  <a:lnTo>
                    <a:pt x="0" y="1452626"/>
                  </a:lnTo>
                  <a:lnTo>
                    <a:pt x="82550" y="1431670"/>
                  </a:lnTo>
                  <a:lnTo>
                    <a:pt x="68952" y="1415923"/>
                  </a:lnTo>
                  <a:lnTo>
                    <a:pt x="52197" y="1415923"/>
                  </a:lnTo>
                  <a:lnTo>
                    <a:pt x="43941" y="1406270"/>
                  </a:lnTo>
                  <a:lnTo>
                    <a:pt x="53494" y="1398020"/>
                  </a:lnTo>
                  <a:lnTo>
                    <a:pt x="32765" y="1374013"/>
                  </a:lnTo>
                  <a:close/>
                </a:path>
                <a:path w="1680845" h="1452879" extrusionOk="0">
                  <a:moveTo>
                    <a:pt x="53494" y="1398020"/>
                  </a:moveTo>
                  <a:lnTo>
                    <a:pt x="43941" y="1406270"/>
                  </a:lnTo>
                  <a:lnTo>
                    <a:pt x="52197" y="1415923"/>
                  </a:lnTo>
                  <a:lnTo>
                    <a:pt x="61795" y="1407633"/>
                  </a:lnTo>
                  <a:lnTo>
                    <a:pt x="53494" y="1398020"/>
                  </a:lnTo>
                  <a:close/>
                </a:path>
                <a:path w="1680845" h="1452879" extrusionOk="0">
                  <a:moveTo>
                    <a:pt x="61795" y="1407633"/>
                  </a:moveTo>
                  <a:lnTo>
                    <a:pt x="52197" y="1415923"/>
                  </a:lnTo>
                  <a:lnTo>
                    <a:pt x="68952" y="1415923"/>
                  </a:lnTo>
                  <a:lnTo>
                    <a:pt x="61795" y="1407633"/>
                  </a:lnTo>
                  <a:close/>
                </a:path>
                <a:path w="1680845" h="1452879" extrusionOk="0">
                  <a:moveTo>
                    <a:pt x="1672208" y="0"/>
                  </a:moveTo>
                  <a:lnTo>
                    <a:pt x="53494" y="1398020"/>
                  </a:lnTo>
                  <a:lnTo>
                    <a:pt x="61795" y="1407633"/>
                  </a:lnTo>
                  <a:lnTo>
                    <a:pt x="1680591" y="9651"/>
                  </a:lnTo>
                  <a:lnTo>
                    <a:pt x="167220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16"/>
            <p:cNvSpPr/>
            <p:nvPr/>
          </p:nvSpPr>
          <p:spPr>
            <a:xfrm>
              <a:off x="3581400" y="5181599"/>
              <a:ext cx="2286000" cy="266700"/>
            </a:xfrm>
            <a:custGeom>
              <a:avLst/>
              <a:gdLst/>
              <a:ahLst/>
              <a:cxnLst/>
              <a:rect l="l" t="t" r="r" b="b"/>
              <a:pathLst>
                <a:path w="2286000" h="266700" extrusionOk="0">
                  <a:moveTo>
                    <a:pt x="0" y="266700"/>
                  </a:moveTo>
                  <a:lnTo>
                    <a:pt x="26020" y="199389"/>
                  </a:lnTo>
                  <a:lnTo>
                    <a:pt x="55816" y="172402"/>
                  </a:lnTo>
                  <a:lnTo>
                    <a:pt x="94375" y="151553"/>
                  </a:lnTo>
                  <a:lnTo>
                    <a:pt x="139876" y="138112"/>
                  </a:lnTo>
                  <a:lnTo>
                    <a:pt x="190500" y="133350"/>
                  </a:lnTo>
                  <a:lnTo>
                    <a:pt x="952500" y="133350"/>
                  </a:lnTo>
                  <a:lnTo>
                    <a:pt x="1003123" y="128587"/>
                  </a:lnTo>
                  <a:lnTo>
                    <a:pt x="1048624" y="115146"/>
                  </a:lnTo>
                  <a:lnTo>
                    <a:pt x="1087183" y="94297"/>
                  </a:lnTo>
                  <a:lnTo>
                    <a:pt x="1116979" y="67309"/>
                  </a:lnTo>
                  <a:lnTo>
                    <a:pt x="1143000" y="0"/>
                  </a:lnTo>
                  <a:lnTo>
                    <a:pt x="1149808" y="35454"/>
                  </a:lnTo>
                  <a:lnTo>
                    <a:pt x="1198816" y="94297"/>
                  </a:lnTo>
                  <a:lnTo>
                    <a:pt x="1237375" y="115146"/>
                  </a:lnTo>
                  <a:lnTo>
                    <a:pt x="1282876" y="128587"/>
                  </a:lnTo>
                  <a:lnTo>
                    <a:pt x="1333500" y="133350"/>
                  </a:lnTo>
                  <a:lnTo>
                    <a:pt x="2095500" y="133350"/>
                  </a:lnTo>
                  <a:lnTo>
                    <a:pt x="2146123" y="138112"/>
                  </a:lnTo>
                  <a:lnTo>
                    <a:pt x="2191624" y="151553"/>
                  </a:lnTo>
                  <a:lnTo>
                    <a:pt x="2230183" y="172402"/>
                  </a:lnTo>
                  <a:lnTo>
                    <a:pt x="2259979" y="199390"/>
                  </a:lnTo>
                  <a:lnTo>
                    <a:pt x="2279191" y="231245"/>
                  </a:lnTo>
                  <a:lnTo>
                    <a:pt x="2286000" y="266700"/>
                  </a:lnTo>
                </a:path>
              </a:pathLst>
            </a:custGeom>
            <a:noFill/>
            <a:ln w="9525" cap="flat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3" name="Google Shape;203;p16"/>
          <p:cNvSpPr txBox="1"/>
          <p:nvPr/>
        </p:nvSpPr>
        <p:spPr>
          <a:xfrm>
            <a:off x="7319009" y="3676269"/>
            <a:ext cx="105410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Derive me!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6"/>
          <p:cNvSpPr/>
          <p:nvPr/>
        </p:nvSpPr>
        <p:spPr>
          <a:xfrm>
            <a:off x="2207132" y="4340225"/>
            <a:ext cx="841375" cy="390525"/>
          </a:xfrm>
          <a:custGeom>
            <a:avLst/>
            <a:gdLst/>
            <a:ahLst/>
            <a:cxnLst/>
            <a:rect l="l" t="t" r="r" b="b"/>
            <a:pathLst>
              <a:path w="841375" h="390525" extrusionOk="0">
                <a:moveTo>
                  <a:pt x="768886" y="28861"/>
                </a:moveTo>
                <a:lnTo>
                  <a:pt x="0" y="378332"/>
                </a:lnTo>
                <a:lnTo>
                  <a:pt x="5334" y="390017"/>
                </a:lnTo>
                <a:lnTo>
                  <a:pt x="774150" y="40452"/>
                </a:lnTo>
                <a:lnTo>
                  <a:pt x="768886" y="28861"/>
                </a:lnTo>
                <a:close/>
              </a:path>
              <a:path w="841375" h="390525" extrusionOk="0">
                <a:moveTo>
                  <a:pt x="824305" y="23622"/>
                </a:moveTo>
                <a:lnTo>
                  <a:pt x="780415" y="23622"/>
                </a:lnTo>
                <a:lnTo>
                  <a:pt x="785749" y="35179"/>
                </a:lnTo>
                <a:lnTo>
                  <a:pt x="774150" y="40452"/>
                </a:lnTo>
                <a:lnTo>
                  <a:pt x="787273" y="69342"/>
                </a:lnTo>
                <a:lnTo>
                  <a:pt x="824305" y="23622"/>
                </a:lnTo>
                <a:close/>
              </a:path>
              <a:path w="841375" h="390525" extrusionOk="0">
                <a:moveTo>
                  <a:pt x="780415" y="23622"/>
                </a:moveTo>
                <a:lnTo>
                  <a:pt x="768886" y="28861"/>
                </a:lnTo>
                <a:lnTo>
                  <a:pt x="774150" y="40452"/>
                </a:lnTo>
                <a:lnTo>
                  <a:pt x="785749" y="35179"/>
                </a:lnTo>
                <a:lnTo>
                  <a:pt x="780415" y="23622"/>
                </a:lnTo>
                <a:close/>
              </a:path>
              <a:path w="841375" h="390525" extrusionOk="0">
                <a:moveTo>
                  <a:pt x="755777" y="0"/>
                </a:moveTo>
                <a:lnTo>
                  <a:pt x="768886" y="28861"/>
                </a:lnTo>
                <a:lnTo>
                  <a:pt x="780415" y="23622"/>
                </a:lnTo>
                <a:lnTo>
                  <a:pt x="824305" y="23622"/>
                </a:lnTo>
                <a:lnTo>
                  <a:pt x="840867" y="3175"/>
                </a:lnTo>
                <a:lnTo>
                  <a:pt x="75577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6"/>
          <p:cNvSpPr txBox="1"/>
          <p:nvPr/>
        </p:nvSpPr>
        <p:spPr>
          <a:xfrm>
            <a:off x="1298194" y="4514469"/>
            <a:ext cx="1038860" cy="848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oops,  can’t make  progress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6"/>
          <p:cNvSpPr txBox="1"/>
          <p:nvPr/>
        </p:nvSpPr>
        <p:spPr>
          <a:xfrm>
            <a:off x="4651628" y="4818964"/>
            <a:ext cx="137795" cy="300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6"/>
          <p:cNvSpPr/>
          <p:nvPr/>
        </p:nvSpPr>
        <p:spPr>
          <a:xfrm>
            <a:off x="4648200" y="4876800"/>
            <a:ext cx="152400" cy="228600"/>
          </a:xfrm>
          <a:custGeom>
            <a:avLst/>
            <a:gdLst/>
            <a:ahLst/>
            <a:cxnLst/>
            <a:rect l="l" t="t" r="r" b="b"/>
            <a:pathLst>
              <a:path w="152400" h="228600" extrusionOk="0">
                <a:moveTo>
                  <a:pt x="152400" y="0"/>
                </a:moveTo>
                <a:lnTo>
                  <a:pt x="0" y="228600"/>
                </a:lnTo>
              </a:path>
            </a:pathLst>
          </a:cu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6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7"/>
          <p:cNvSpPr txBox="1">
            <a:spLocks noGrp="1"/>
          </p:cNvSpPr>
          <p:nvPr>
            <p:ph type="title"/>
          </p:nvPr>
        </p:nvSpPr>
        <p:spPr>
          <a:xfrm>
            <a:off x="535940" y="118361"/>
            <a:ext cx="1545590" cy="1230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3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non-terminals:  terminals:  rules: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7"/>
          <p:cNvSpPr txBox="1"/>
          <p:nvPr/>
        </p:nvSpPr>
        <p:spPr>
          <a:xfrm>
            <a:off x="2364994" y="118361"/>
            <a:ext cx="2776220" cy="828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2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S, E, Elist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ID, NUM, PRINT, +, :=, (, ), ;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7"/>
          <p:cNvSpPr txBox="1"/>
          <p:nvPr/>
        </p:nvSpPr>
        <p:spPr>
          <a:xfrm>
            <a:off x="1069644" y="1465834"/>
            <a:ext cx="107505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S ::= S; 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7"/>
          <p:cNvSpPr txBox="1"/>
          <p:nvPr/>
        </p:nvSpPr>
        <p:spPr>
          <a:xfrm>
            <a:off x="1069644" y="1740153"/>
            <a:ext cx="1982470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S ::= ID :=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S ::= PRINT ( Elist 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7"/>
          <p:cNvSpPr txBox="1"/>
          <p:nvPr/>
        </p:nvSpPr>
        <p:spPr>
          <a:xfrm>
            <a:off x="4029202" y="1448561"/>
            <a:ext cx="1645285" cy="112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89560" marR="0" lvl="0" indent="-2774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4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::= ID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40259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4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::= NUM  6. E ::= E +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E ::= ( S , Elist 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"/>
          <p:cNvSpPr txBox="1"/>
          <p:nvPr/>
        </p:nvSpPr>
        <p:spPr>
          <a:xfrm>
            <a:off x="6379209" y="1434210"/>
            <a:ext cx="1675764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89560" marR="0" lvl="0" indent="-2774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8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Elist ::=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9560" marR="0" lvl="0" indent="-2774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8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Elist ::= Elist ,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7"/>
          <p:cNvSpPr txBox="1"/>
          <p:nvPr/>
        </p:nvSpPr>
        <p:spPr>
          <a:xfrm>
            <a:off x="3127375" y="3828669"/>
            <a:ext cx="13081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7"/>
          <p:cNvSpPr txBox="1"/>
          <p:nvPr/>
        </p:nvSpPr>
        <p:spPr>
          <a:xfrm>
            <a:off x="3127375" y="5474919"/>
            <a:ext cx="244094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 = NUM ; PRINT ( NUM 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7"/>
          <p:cNvSpPr/>
          <p:nvPr/>
        </p:nvSpPr>
        <p:spPr>
          <a:xfrm>
            <a:off x="5867400" y="4033773"/>
            <a:ext cx="1680845" cy="1452880"/>
          </a:xfrm>
          <a:custGeom>
            <a:avLst/>
            <a:gdLst/>
            <a:ahLst/>
            <a:cxnLst/>
            <a:rect l="l" t="t" r="r" b="b"/>
            <a:pathLst>
              <a:path w="1680845" h="1452879" extrusionOk="0">
                <a:moveTo>
                  <a:pt x="32765" y="1374013"/>
                </a:moveTo>
                <a:lnTo>
                  <a:pt x="0" y="1452626"/>
                </a:lnTo>
                <a:lnTo>
                  <a:pt x="82550" y="1431670"/>
                </a:lnTo>
                <a:lnTo>
                  <a:pt x="68952" y="1415923"/>
                </a:lnTo>
                <a:lnTo>
                  <a:pt x="52197" y="1415923"/>
                </a:lnTo>
                <a:lnTo>
                  <a:pt x="43941" y="1406270"/>
                </a:lnTo>
                <a:lnTo>
                  <a:pt x="53494" y="1398020"/>
                </a:lnTo>
                <a:lnTo>
                  <a:pt x="32765" y="1374013"/>
                </a:lnTo>
                <a:close/>
              </a:path>
              <a:path w="1680845" h="1452879" extrusionOk="0">
                <a:moveTo>
                  <a:pt x="53494" y="1398020"/>
                </a:moveTo>
                <a:lnTo>
                  <a:pt x="43941" y="1406270"/>
                </a:lnTo>
                <a:lnTo>
                  <a:pt x="52197" y="1415923"/>
                </a:lnTo>
                <a:lnTo>
                  <a:pt x="61795" y="1407633"/>
                </a:lnTo>
                <a:lnTo>
                  <a:pt x="53494" y="1398020"/>
                </a:lnTo>
                <a:close/>
              </a:path>
              <a:path w="1680845" h="1452879" extrusionOk="0">
                <a:moveTo>
                  <a:pt x="61795" y="1407633"/>
                </a:moveTo>
                <a:lnTo>
                  <a:pt x="52197" y="1415923"/>
                </a:lnTo>
                <a:lnTo>
                  <a:pt x="68952" y="1415923"/>
                </a:lnTo>
                <a:lnTo>
                  <a:pt x="61795" y="1407633"/>
                </a:lnTo>
                <a:close/>
              </a:path>
              <a:path w="1680845" h="1452879" extrusionOk="0">
                <a:moveTo>
                  <a:pt x="1672208" y="0"/>
                </a:moveTo>
                <a:lnTo>
                  <a:pt x="53494" y="1398020"/>
                </a:lnTo>
                <a:lnTo>
                  <a:pt x="61795" y="1407633"/>
                </a:lnTo>
                <a:lnTo>
                  <a:pt x="1680591" y="9651"/>
                </a:lnTo>
                <a:lnTo>
                  <a:pt x="167220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7"/>
          <p:cNvSpPr txBox="1"/>
          <p:nvPr/>
        </p:nvSpPr>
        <p:spPr>
          <a:xfrm>
            <a:off x="7319009" y="3676269"/>
            <a:ext cx="105410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Derive me!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7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"/>
          <p:cNvSpPr txBox="1">
            <a:spLocks noGrp="1"/>
          </p:cNvSpPr>
          <p:nvPr>
            <p:ph type="title"/>
          </p:nvPr>
        </p:nvSpPr>
        <p:spPr>
          <a:xfrm>
            <a:off x="535940" y="118361"/>
            <a:ext cx="1545590" cy="1230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3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non-terminals:  terminals:  rules: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 txBox="1"/>
          <p:nvPr/>
        </p:nvSpPr>
        <p:spPr>
          <a:xfrm>
            <a:off x="2364994" y="118361"/>
            <a:ext cx="2776220" cy="828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2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S, E, Elist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ID, NUM, PRINT, +, :=, (, ), ;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8"/>
          <p:cNvSpPr txBox="1"/>
          <p:nvPr/>
        </p:nvSpPr>
        <p:spPr>
          <a:xfrm>
            <a:off x="1069644" y="1465834"/>
            <a:ext cx="107505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S ::= S; 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8"/>
          <p:cNvSpPr txBox="1"/>
          <p:nvPr/>
        </p:nvSpPr>
        <p:spPr>
          <a:xfrm>
            <a:off x="1069644" y="1740153"/>
            <a:ext cx="1982470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S ::= ID :=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S ::= PRINT ( Elist 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8"/>
          <p:cNvSpPr txBox="1"/>
          <p:nvPr/>
        </p:nvSpPr>
        <p:spPr>
          <a:xfrm>
            <a:off x="4029202" y="1448561"/>
            <a:ext cx="1645285" cy="112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89560" marR="0" lvl="0" indent="-2774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4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::= ID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40259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4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::= NUM  6. E ::= E +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E ::= ( S , Elist 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8"/>
          <p:cNvSpPr txBox="1"/>
          <p:nvPr/>
        </p:nvSpPr>
        <p:spPr>
          <a:xfrm>
            <a:off x="6379209" y="1434210"/>
            <a:ext cx="1675764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89560" marR="0" lvl="0" indent="-2774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8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Elist ::=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9560" marR="0" lvl="0" indent="-2774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8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Elist ::= Elist ,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 txBox="1"/>
          <p:nvPr/>
        </p:nvSpPr>
        <p:spPr>
          <a:xfrm>
            <a:off x="3127375" y="3828669"/>
            <a:ext cx="40195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; 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8"/>
          <p:cNvSpPr txBox="1"/>
          <p:nvPr/>
        </p:nvSpPr>
        <p:spPr>
          <a:xfrm>
            <a:off x="3127375" y="5474919"/>
            <a:ext cx="244094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 = NUM ; PRINT ( NUM 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5867400" y="4033773"/>
            <a:ext cx="1680845" cy="1452880"/>
          </a:xfrm>
          <a:custGeom>
            <a:avLst/>
            <a:gdLst/>
            <a:ahLst/>
            <a:cxnLst/>
            <a:rect l="l" t="t" r="r" b="b"/>
            <a:pathLst>
              <a:path w="1680845" h="1452879" extrusionOk="0">
                <a:moveTo>
                  <a:pt x="32765" y="1374013"/>
                </a:moveTo>
                <a:lnTo>
                  <a:pt x="0" y="1452626"/>
                </a:lnTo>
                <a:lnTo>
                  <a:pt x="82550" y="1431670"/>
                </a:lnTo>
                <a:lnTo>
                  <a:pt x="68952" y="1415923"/>
                </a:lnTo>
                <a:lnTo>
                  <a:pt x="52197" y="1415923"/>
                </a:lnTo>
                <a:lnTo>
                  <a:pt x="43941" y="1406270"/>
                </a:lnTo>
                <a:lnTo>
                  <a:pt x="53494" y="1398020"/>
                </a:lnTo>
                <a:lnTo>
                  <a:pt x="32765" y="1374013"/>
                </a:lnTo>
                <a:close/>
              </a:path>
              <a:path w="1680845" h="1452879" extrusionOk="0">
                <a:moveTo>
                  <a:pt x="53494" y="1398020"/>
                </a:moveTo>
                <a:lnTo>
                  <a:pt x="43941" y="1406270"/>
                </a:lnTo>
                <a:lnTo>
                  <a:pt x="52197" y="1415923"/>
                </a:lnTo>
                <a:lnTo>
                  <a:pt x="61795" y="1407633"/>
                </a:lnTo>
                <a:lnTo>
                  <a:pt x="53494" y="1398020"/>
                </a:lnTo>
                <a:close/>
              </a:path>
              <a:path w="1680845" h="1452879" extrusionOk="0">
                <a:moveTo>
                  <a:pt x="61795" y="1407633"/>
                </a:moveTo>
                <a:lnTo>
                  <a:pt x="52197" y="1415923"/>
                </a:lnTo>
                <a:lnTo>
                  <a:pt x="68952" y="1415923"/>
                </a:lnTo>
                <a:lnTo>
                  <a:pt x="61795" y="1407633"/>
                </a:lnTo>
                <a:close/>
              </a:path>
              <a:path w="1680845" h="1452879" extrusionOk="0">
                <a:moveTo>
                  <a:pt x="1672208" y="0"/>
                </a:moveTo>
                <a:lnTo>
                  <a:pt x="53494" y="1398020"/>
                </a:lnTo>
                <a:lnTo>
                  <a:pt x="61795" y="1407633"/>
                </a:lnTo>
                <a:lnTo>
                  <a:pt x="1680591" y="9651"/>
                </a:lnTo>
                <a:lnTo>
                  <a:pt x="167220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8"/>
          <p:cNvSpPr txBox="1"/>
          <p:nvPr/>
        </p:nvSpPr>
        <p:spPr>
          <a:xfrm>
            <a:off x="7319009" y="3676269"/>
            <a:ext cx="105410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Derive me!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8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9"/>
          <p:cNvSpPr txBox="1">
            <a:spLocks noGrp="1"/>
          </p:cNvSpPr>
          <p:nvPr>
            <p:ph type="title"/>
          </p:nvPr>
        </p:nvSpPr>
        <p:spPr>
          <a:xfrm>
            <a:off x="535940" y="118361"/>
            <a:ext cx="1545590" cy="1230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3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non-terminals:  terminals:  rules: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 txBox="1"/>
          <p:nvPr/>
        </p:nvSpPr>
        <p:spPr>
          <a:xfrm>
            <a:off x="2364994" y="118361"/>
            <a:ext cx="2776220" cy="828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2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S, E, Elist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ID, NUM, PRINT, +, :=, (, ), ;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 txBox="1"/>
          <p:nvPr/>
        </p:nvSpPr>
        <p:spPr>
          <a:xfrm>
            <a:off x="1069644" y="1465834"/>
            <a:ext cx="107505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S ::= S; 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9"/>
          <p:cNvSpPr txBox="1"/>
          <p:nvPr/>
        </p:nvSpPr>
        <p:spPr>
          <a:xfrm>
            <a:off x="1069644" y="1740153"/>
            <a:ext cx="1982470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S ::= ID :=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S ::= PRINT ( Elist 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9"/>
          <p:cNvSpPr txBox="1"/>
          <p:nvPr/>
        </p:nvSpPr>
        <p:spPr>
          <a:xfrm>
            <a:off x="4029202" y="1448561"/>
            <a:ext cx="1645285" cy="112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89560" marR="0" lvl="0" indent="-2774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4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::= ID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40259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4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::= NUM  6. E ::= E +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E ::= ( S , Elist 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9"/>
          <p:cNvSpPr txBox="1"/>
          <p:nvPr/>
        </p:nvSpPr>
        <p:spPr>
          <a:xfrm>
            <a:off x="6379209" y="1434210"/>
            <a:ext cx="1675764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89560" marR="0" lvl="0" indent="-2774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8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Elist ::=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9560" marR="0" lvl="0" indent="-2774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8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Elist ::= Elist ,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9"/>
          <p:cNvSpPr txBox="1"/>
          <p:nvPr/>
        </p:nvSpPr>
        <p:spPr>
          <a:xfrm>
            <a:off x="3127375" y="3828669"/>
            <a:ext cx="887730" cy="848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; 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 := E ; 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3127375" y="5474919"/>
            <a:ext cx="244094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 = NUM ; PRINT ( NUM 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5867400" y="4033773"/>
            <a:ext cx="1680845" cy="1452880"/>
          </a:xfrm>
          <a:custGeom>
            <a:avLst/>
            <a:gdLst/>
            <a:ahLst/>
            <a:cxnLst/>
            <a:rect l="l" t="t" r="r" b="b"/>
            <a:pathLst>
              <a:path w="1680845" h="1452879" extrusionOk="0">
                <a:moveTo>
                  <a:pt x="32765" y="1374013"/>
                </a:moveTo>
                <a:lnTo>
                  <a:pt x="0" y="1452626"/>
                </a:lnTo>
                <a:lnTo>
                  <a:pt x="82550" y="1431670"/>
                </a:lnTo>
                <a:lnTo>
                  <a:pt x="68952" y="1415923"/>
                </a:lnTo>
                <a:lnTo>
                  <a:pt x="52197" y="1415923"/>
                </a:lnTo>
                <a:lnTo>
                  <a:pt x="43941" y="1406270"/>
                </a:lnTo>
                <a:lnTo>
                  <a:pt x="53494" y="1398020"/>
                </a:lnTo>
                <a:lnTo>
                  <a:pt x="32765" y="1374013"/>
                </a:lnTo>
                <a:close/>
              </a:path>
              <a:path w="1680845" h="1452879" extrusionOk="0">
                <a:moveTo>
                  <a:pt x="53494" y="1398020"/>
                </a:moveTo>
                <a:lnTo>
                  <a:pt x="43941" y="1406270"/>
                </a:lnTo>
                <a:lnTo>
                  <a:pt x="52197" y="1415923"/>
                </a:lnTo>
                <a:lnTo>
                  <a:pt x="61795" y="1407633"/>
                </a:lnTo>
                <a:lnTo>
                  <a:pt x="53494" y="1398020"/>
                </a:lnTo>
                <a:close/>
              </a:path>
              <a:path w="1680845" h="1452879" extrusionOk="0">
                <a:moveTo>
                  <a:pt x="61795" y="1407633"/>
                </a:moveTo>
                <a:lnTo>
                  <a:pt x="52197" y="1415923"/>
                </a:lnTo>
                <a:lnTo>
                  <a:pt x="68952" y="1415923"/>
                </a:lnTo>
                <a:lnTo>
                  <a:pt x="61795" y="1407633"/>
                </a:lnTo>
                <a:close/>
              </a:path>
              <a:path w="1680845" h="1452879" extrusionOk="0">
                <a:moveTo>
                  <a:pt x="1672208" y="0"/>
                </a:moveTo>
                <a:lnTo>
                  <a:pt x="53494" y="1398020"/>
                </a:lnTo>
                <a:lnTo>
                  <a:pt x="61795" y="1407633"/>
                </a:lnTo>
                <a:lnTo>
                  <a:pt x="1680591" y="9651"/>
                </a:lnTo>
                <a:lnTo>
                  <a:pt x="167220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9"/>
          <p:cNvSpPr txBox="1"/>
          <p:nvPr/>
        </p:nvSpPr>
        <p:spPr>
          <a:xfrm>
            <a:off x="7319009" y="3676269"/>
            <a:ext cx="105410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Derive me!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0"/>
          <p:cNvSpPr txBox="1">
            <a:spLocks noGrp="1"/>
          </p:cNvSpPr>
          <p:nvPr>
            <p:ph type="title"/>
          </p:nvPr>
        </p:nvSpPr>
        <p:spPr>
          <a:xfrm>
            <a:off x="535940" y="118361"/>
            <a:ext cx="1545590" cy="1230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3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non-terminals:  terminals:  rules: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2364994" y="118361"/>
            <a:ext cx="2776220" cy="828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2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S, E, Elist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ID, NUM, PRINT, +, :=, (, ), ;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1069644" y="1465834"/>
            <a:ext cx="107505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S ::= S; 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0"/>
          <p:cNvSpPr txBox="1"/>
          <p:nvPr/>
        </p:nvSpPr>
        <p:spPr>
          <a:xfrm>
            <a:off x="1069644" y="1740153"/>
            <a:ext cx="1982470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S ::= ID :=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S ::= PRINT ( Elist 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0"/>
          <p:cNvSpPr txBox="1"/>
          <p:nvPr/>
        </p:nvSpPr>
        <p:spPr>
          <a:xfrm>
            <a:off x="4029202" y="1448561"/>
            <a:ext cx="1645285" cy="112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89560" marR="0" lvl="0" indent="-2774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4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::= ID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40259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4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::= NUM  6. E ::= E +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E ::= ( S , Elist 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6379209" y="1434210"/>
            <a:ext cx="1675764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89560" marR="0" lvl="0" indent="-2774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8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Elist ::=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9560" marR="0" lvl="0" indent="-2774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8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Elist ::= Elist ,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3127375" y="3828669"/>
            <a:ext cx="2440940" cy="194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; 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 = E ; 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 = NUM ; 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16204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 = NUM ; PRINT ( Elist )  ID = NUM ; PRINT ( E 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 = NUM ; PRINT ( NUM 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0"/>
          <p:cNvSpPr/>
          <p:nvPr/>
        </p:nvSpPr>
        <p:spPr>
          <a:xfrm>
            <a:off x="5867400" y="4033773"/>
            <a:ext cx="1680845" cy="1452880"/>
          </a:xfrm>
          <a:custGeom>
            <a:avLst/>
            <a:gdLst/>
            <a:ahLst/>
            <a:cxnLst/>
            <a:rect l="l" t="t" r="r" b="b"/>
            <a:pathLst>
              <a:path w="1680845" h="1452879" extrusionOk="0">
                <a:moveTo>
                  <a:pt x="32765" y="1374013"/>
                </a:moveTo>
                <a:lnTo>
                  <a:pt x="0" y="1452626"/>
                </a:lnTo>
                <a:lnTo>
                  <a:pt x="82550" y="1431670"/>
                </a:lnTo>
                <a:lnTo>
                  <a:pt x="68952" y="1415923"/>
                </a:lnTo>
                <a:lnTo>
                  <a:pt x="52197" y="1415923"/>
                </a:lnTo>
                <a:lnTo>
                  <a:pt x="43941" y="1406270"/>
                </a:lnTo>
                <a:lnTo>
                  <a:pt x="53494" y="1398020"/>
                </a:lnTo>
                <a:lnTo>
                  <a:pt x="32765" y="1374013"/>
                </a:lnTo>
                <a:close/>
              </a:path>
              <a:path w="1680845" h="1452879" extrusionOk="0">
                <a:moveTo>
                  <a:pt x="53494" y="1398020"/>
                </a:moveTo>
                <a:lnTo>
                  <a:pt x="43941" y="1406270"/>
                </a:lnTo>
                <a:lnTo>
                  <a:pt x="52197" y="1415923"/>
                </a:lnTo>
                <a:lnTo>
                  <a:pt x="61795" y="1407633"/>
                </a:lnTo>
                <a:lnTo>
                  <a:pt x="53494" y="1398020"/>
                </a:lnTo>
                <a:close/>
              </a:path>
              <a:path w="1680845" h="1452879" extrusionOk="0">
                <a:moveTo>
                  <a:pt x="61795" y="1407633"/>
                </a:moveTo>
                <a:lnTo>
                  <a:pt x="52197" y="1415923"/>
                </a:lnTo>
                <a:lnTo>
                  <a:pt x="68952" y="1415923"/>
                </a:lnTo>
                <a:lnTo>
                  <a:pt x="61795" y="1407633"/>
                </a:lnTo>
                <a:close/>
              </a:path>
              <a:path w="1680845" h="1452879" extrusionOk="0">
                <a:moveTo>
                  <a:pt x="1672208" y="0"/>
                </a:moveTo>
                <a:lnTo>
                  <a:pt x="53494" y="1398020"/>
                </a:lnTo>
                <a:lnTo>
                  <a:pt x="61795" y="1407633"/>
                </a:lnTo>
                <a:lnTo>
                  <a:pt x="1680591" y="9651"/>
                </a:lnTo>
                <a:lnTo>
                  <a:pt x="167220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7319009" y="3676269"/>
            <a:ext cx="105410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Derive me!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0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1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6607658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Review Questions</a:t>
            </a:r>
            <a:endParaRPr dirty="0"/>
          </a:p>
        </p:txBody>
      </p:sp>
      <p:pic>
        <p:nvPicPr>
          <p:cNvPr id="273" name="Google Shape;273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7986" y="1928432"/>
            <a:ext cx="8716509" cy="2116943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2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3507842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Derivation</a:t>
            </a:r>
            <a:endParaRPr dirty="0"/>
          </a:p>
        </p:txBody>
      </p:sp>
      <p:sp>
        <p:nvSpPr>
          <p:cNvPr id="280" name="Google Shape;280;p22"/>
          <p:cNvSpPr txBox="1"/>
          <p:nvPr/>
        </p:nvSpPr>
        <p:spPr>
          <a:xfrm>
            <a:off x="707542" y="1775205"/>
            <a:ext cx="6692900" cy="2694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4600" rIns="0" bIns="0" anchor="t" anchorCtr="0">
            <a:spAutoFit/>
          </a:bodyPr>
          <a:lstStyle/>
          <a:p>
            <a:pPr marL="241300" marR="5080" lvl="0" indent="-2286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61616"/>
                </a:solidFill>
                <a:latin typeface="Calibri"/>
                <a:ea typeface="Calibri"/>
                <a:cs typeface="Calibri"/>
                <a:sym typeface="Calibri"/>
              </a:rPr>
              <a:t>Here is a context-free grammar that generates arithmetic expressions  (subtraction, addition, division, and multiplication)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18888"/>
              </a:lnSpc>
              <a:spcBef>
                <a:spcPts val="350"/>
              </a:spcBef>
              <a:spcAft>
                <a:spcPts val="0"/>
              </a:spcAft>
              <a:buClr>
                <a:srgbClr val="161616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61616"/>
                </a:solidFill>
                <a:latin typeface="Calibri"/>
                <a:ea typeface="Calibri"/>
                <a:cs typeface="Calibri"/>
                <a:sym typeface="Calibri"/>
              </a:rPr>
              <a:t>Production rules: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7100" marR="0" lvl="1" indent="-457834" algn="l" rtl="0">
              <a:lnSpc>
                <a:spcPct val="117333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500"/>
              <a:buFont typeface="Calibri"/>
              <a:buAutoNum type="arabicPeriod"/>
            </a:pPr>
            <a:r>
              <a:rPr lang="en-US" sz="1500" b="0" i="0" u="none" strike="noStrike" cap="none">
                <a:solidFill>
                  <a:srgbClr val="161616"/>
                </a:solidFill>
                <a:latin typeface="Calibri"/>
                <a:ea typeface="Calibri"/>
                <a:cs typeface="Calibri"/>
                <a:sym typeface="Calibri"/>
              </a:rPr>
              <a:t>&lt;expression&gt; → number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7100" marR="0" lvl="1" indent="-457834" algn="l" rtl="0">
              <a:lnSpc>
                <a:spcPct val="117333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500"/>
              <a:buFont typeface="Calibri"/>
              <a:buAutoNum type="arabicPeriod"/>
            </a:pPr>
            <a:r>
              <a:rPr lang="en-US" sz="1500" b="0" i="0" u="none" strike="noStrike" cap="none">
                <a:solidFill>
                  <a:srgbClr val="161616"/>
                </a:solidFill>
                <a:latin typeface="Calibri"/>
                <a:ea typeface="Calibri"/>
                <a:cs typeface="Calibri"/>
                <a:sym typeface="Calibri"/>
              </a:rPr>
              <a:t>&lt;expression&gt;→ (&lt;expression&gt;)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7100" marR="0" lvl="1" indent="-457834" algn="l" rtl="0">
              <a:lnSpc>
                <a:spcPct val="1176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500"/>
              <a:buFont typeface="Calibri"/>
              <a:buAutoNum type="arabicPeriod"/>
            </a:pPr>
            <a:r>
              <a:rPr lang="en-US" sz="1500" b="0" i="0" u="none" strike="noStrike" cap="none">
                <a:solidFill>
                  <a:srgbClr val="161616"/>
                </a:solidFill>
                <a:latin typeface="Calibri"/>
                <a:ea typeface="Calibri"/>
                <a:cs typeface="Calibri"/>
                <a:sym typeface="Calibri"/>
              </a:rPr>
              <a:t>&lt;expression&gt; → &lt;expression&gt; + &lt;expression&gt;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7100" marR="0" lvl="1" indent="-457834" algn="l" rtl="0">
              <a:lnSpc>
                <a:spcPct val="117333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500"/>
              <a:buFont typeface="Calibri"/>
              <a:buAutoNum type="arabicPeriod"/>
            </a:pPr>
            <a:r>
              <a:rPr lang="en-US" sz="1500" b="0" i="0" u="none" strike="noStrike" cap="none">
                <a:solidFill>
                  <a:srgbClr val="161616"/>
                </a:solidFill>
                <a:latin typeface="Calibri"/>
                <a:ea typeface="Calibri"/>
                <a:cs typeface="Calibri"/>
                <a:sym typeface="Calibri"/>
              </a:rPr>
              <a:t>&lt;expression&gt;→ &lt;expression&gt; - &lt;expression&gt;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7100" marR="0" lvl="1" indent="-457834" algn="l" rtl="0">
              <a:lnSpc>
                <a:spcPct val="117333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500"/>
              <a:buFont typeface="Calibri"/>
              <a:buAutoNum type="arabicPeriod"/>
            </a:pPr>
            <a:r>
              <a:rPr lang="en-US" sz="1500" b="0" i="0" u="none" strike="noStrike" cap="none">
                <a:solidFill>
                  <a:srgbClr val="161616"/>
                </a:solidFill>
                <a:latin typeface="Calibri"/>
                <a:ea typeface="Calibri"/>
                <a:cs typeface="Calibri"/>
                <a:sym typeface="Calibri"/>
              </a:rPr>
              <a:t>&lt;expression&gt; → &lt;expression&gt; * &lt;expression&gt;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7100" marR="0" lvl="1" indent="-457834" algn="l" rtl="0">
              <a:lnSpc>
                <a:spcPct val="118666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500"/>
              <a:buFont typeface="Calibri"/>
              <a:buAutoNum type="arabicPeriod"/>
            </a:pPr>
            <a:r>
              <a:rPr lang="en-US" sz="1500" b="0" i="0" u="none" strike="noStrike" cap="none">
                <a:solidFill>
                  <a:srgbClr val="161616"/>
                </a:solidFill>
                <a:latin typeface="Calibri"/>
                <a:ea typeface="Calibri"/>
                <a:cs typeface="Calibri"/>
                <a:sym typeface="Calibri"/>
              </a:rPr>
              <a:t>&lt;expression&gt; → &lt;expression&gt; / &lt;expression&gt;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161616"/>
              </a:buClr>
              <a:buSzPts val="1700"/>
              <a:buFont typeface="Calibri"/>
              <a:buNone/>
            </a:pP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161616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61616"/>
                </a:solidFill>
                <a:latin typeface="Calibri"/>
                <a:ea typeface="Calibri"/>
                <a:cs typeface="Calibri"/>
                <a:sym typeface="Calibri"/>
              </a:rPr>
              <a:t>Show the steps of deriving the following expression: (4 + 5) * (2 - 6)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3"/>
          <p:cNvSpPr txBox="1">
            <a:spLocks noGrp="1"/>
          </p:cNvSpPr>
          <p:nvPr>
            <p:ph type="title"/>
          </p:nvPr>
        </p:nvSpPr>
        <p:spPr>
          <a:xfrm>
            <a:off x="535940" y="118361"/>
            <a:ext cx="1545590" cy="1230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3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non-terminals:  terminals:  rules: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3"/>
          <p:cNvSpPr txBox="1"/>
          <p:nvPr/>
        </p:nvSpPr>
        <p:spPr>
          <a:xfrm>
            <a:off x="2364994" y="118361"/>
            <a:ext cx="2776220" cy="828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2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S, E, Elist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ID, NUM, PRINT, +, :=, (, ), ;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3"/>
          <p:cNvSpPr txBox="1"/>
          <p:nvPr/>
        </p:nvSpPr>
        <p:spPr>
          <a:xfrm>
            <a:off x="1069644" y="1465834"/>
            <a:ext cx="107505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S ::= S; 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3"/>
          <p:cNvSpPr txBox="1"/>
          <p:nvPr/>
        </p:nvSpPr>
        <p:spPr>
          <a:xfrm>
            <a:off x="1069644" y="1740153"/>
            <a:ext cx="1982470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S ::= ID :=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S ::= PRINT ( Elist 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3"/>
          <p:cNvSpPr txBox="1"/>
          <p:nvPr/>
        </p:nvSpPr>
        <p:spPr>
          <a:xfrm>
            <a:off x="4029202" y="1448561"/>
            <a:ext cx="1647189" cy="112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89560" marR="0" lvl="0" indent="-2774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4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::= ID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404495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4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::= NUM  6. E ::= E +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E ::= ( S , Elist 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3"/>
          <p:cNvSpPr txBox="1"/>
          <p:nvPr/>
        </p:nvSpPr>
        <p:spPr>
          <a:xfrm>
            <a:off x="6379209" y="1434210"/>
            <a:ext cx="1675764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89560" marR="0" lvl="0" indent="-2774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8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Elist ::=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9560" marR="0" lvl="0" indent="-2774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8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Elist ::= Elist ,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3"/>
          <p:cNvSpPr txBox="1"/>
          <p:nvPr/>
        </p:nvSpPr>
        <p:spPr>
          <a:xfrm>
            <a:off x="535940" y="3523869"/>
            <a:ext cx="2440940" cy="194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; 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 = E ; 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 = NUM ; 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 = NUM ; PRINT ( Elist 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 = NUM ; PRINT ( E 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 = NUM ; PRINT ( NUM 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3"/>
          <p:cNvSpPr txBox="1"/>
          <p:nvPr/>
        </p:nvSpPr>
        <p:spPr>
          <a:xfrm>
            <a:off x="7319009" y="4057269"/>
            <a:ext cx="1461135" cy="848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Another way to  derive the  same string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3"/>
          <p:cNvSpPr txBox="1"/>
          <p:nvPr/>
        </p:nvSpPr>
        <p:spPr>
          <a:xfrm>
            <a:off x="4194428" y="3523869"/>
            <a:ext cx="2440940" cy="194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; 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91757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; PRINT ( Elist )  S ; PRINT ( E 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; PRINT ( NUM 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 = E ; PRINT ( NUM 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 = NUM ; PRINT ( NUM 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3"/>
          <p:cNvSpPr/>
          <p:nvPr/>
        </p:nvSpPr>
        <p:spPr>
          <a:xfrm>
            <a:off x="7010400" y="3429000"/>
            <a:ext cx="228600" cy="2057400"/>
          </a:xfrm>
          <a:custGeom>
            <a:avLst/>
            <a:gdLst/>
            <a:ahLst/>
            <a:cxnLst/>
            <a:rect l="l" t="t" r="r" b="b"/>
            <a:pathLst>
              <a:path w="228600" h="2057400" extrusionOk="0">
                <a:moveTo>
                  <a:pt x="0" y="0"/>
                </a:moveTo>
                <a:lnTo>
                  <a:pt x="67501" y="33064"/>
                </a:lnTo>
                <a:lnTo>
                  <a:pt x="92244" y="70171"/>
                </a:lnTo>
                <a:lnTo>
                  <a:pt x="108472" y="117238"/>
                </a:lnTo>
                <a:lnTo>
                  <a:pt x="114300" y="171450"/>
                </a:lnTo>
                <a:lnTo>
                  <a:pt x="114300" y="857250"/>
                </a:lnTo>
                <a:lnTo>
                  <a:pt x="120127" y="911461"/>
                </a:lnTo>
                <a:lnTo>
                  <a:pt x="136355" y="958528"/>
                </a:lnTo>
                <a:lnTo>
                  <a:pt x="161098" y="995635"/>
                </a:lnTo>
                <a:lnTo>
                  <a:pt x="192475" y="1019964"/>
                </a:lnTo>
                <a:lnTo>
                  <a:pt x="228600" y="1028700"/>
                </a:lnTo>
                <a:lnTo>
                  <a:pt x="192475" y="1037435"/>
                </a:lnTo>
                <a:lnTo>
                  <a:pt x="161098" y="1061764"/>
                </a:lnTo>
                <a:lnTo>
                  <a:pt x="136355" y="1098871"/>
                </a:lnTo>
                <a:lnTo>
                  <a:pt x="120127" y="1145938"/>
                </a:lnTo>
                <a:lnTo>
                  <a:pt x="114300" y="1200150"/>
                </a:lnTo>
                <a:lnTo>
                  <a:pt x="114300" y="1885950"/>
                </a:lnTo>
                <a:lnTo>
                  <a:pt x="108472" y="1940161"/>
                </a:lnTo>
                <a:lnTo>
                  <a:pt x="92244" y="1987228"/>
                </a:lnTo>
                <a:lnTo>
                  <a:pt x="67501" y="2024335"/>
                </a:lnTo>
                <a:lnTo>
                  <a:pt x="36124" y="2048664"/>
                </a:lnTo>
                <a:lnTo>
                  <a:pt x="0" y="2057400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3"/>
          <p:cNvSpPr/>
          <p:nvPr/>
        </p:nvSpPr>
        <p:spPr>
          <a:xfrm>
            <a:off x="1518158" y="5638800"/>
            <a:ext cx="239395" cy="535940"/>
          </a:xfrm>
          <a:custGeom>
            <a:avLst/>
            <a:gdLst/>
            <a:ahLst/>
            <a:cxnLst/>
            <a:rect l="l" t="t" r="r" b="b"/>
            <a:pathLst>
              <a:path w="239394" h="535939" extrusionOk="0">
                <a:moveTo>
                  <a:pt x="198578" y="67540"/>
                </a:moveTo>
                <a:lnTo>
                  <a:pt x="0" y="530898"/>
                </a:lnTo>
                <a:lnTo>
                  <a:pt x="11683" y="535901"/>
                </a:lnTo>
                <a:lnTo>
                  <a:pt x="210259" y="72551"/>
                </a:lnTo>
                <a:lnTo>
                  <a:pt x="198578" y="67540"/>
                </a:lnTo>
                <a:close/>
              </a:path>
              <a:path w="239394" h="535939" extrusionOk="0">
                <a:moveTo>
                  <a:pt x="237695" y="55867"/>
                </a:moveTo>
                <a:lnTo>
                  <a:pt x="203580" y="55867"/>
                </a:lnTo>
                <a:lnTo>
                  <a:pt x="215265" y="60871"/>
                </a:lnTo>
                <a:lnTo>
                  <a:pt x="210259" y="72551"/>
                </a:lnTo>
                <a:lnTo>
                  <a:pt x="239394" y="85051"/>
                </a:lnTo>
                <a:lnTo>
                  <a:pt x="237695" y="55867"/>
                </a:lnTo>
                <a:close/>
              </a:path>
              <a:path w="239394" h="535939" extrusionOk="0">
                <a:moveTo>
                  <a:pt x="203580" y="55867"/>
                </a:moveTo>
                <a:lnTo>
                  <a:pt x="198578" y="67540"/>
                </a:lnTo>
                <a:lnTo>
                  <a:pt x="210259" y="72551"/>
                </a:lnTo>
                <a:lnTo>
                  <a:pt x="215265" y="60871"/>
                </a:lnTo>
                <a:lnTo>
                  <a:pt x="203580" y="55867"/>
                </a:lnTo>
                <a:close/>
              </a:path>
              <a:path w="239394" h="535939" extrusionOk="0">
                <a:moveTo>
                  <a:pt x="234441" y="0"/>
                </a:moveTo>
                <a:lnTo>
                  <a:pt x="169417" y="55029"/>
                </a:lnTo>
                <a:lnTo>
                  <a:pt x="198578" y="67540"/>
                </a:lnTo>
                <a:lnTo>
                  <a:pt x="203580" y="55867"/>
                </a:lnTo>
                <a:lnTo>
                  <a:pt x="237695" y="55867"/>
                </a:lnTo>
                <a:lnTo>
                  <a:pt x="234441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3"/>
          <p:cNvSpPr txBox="1"/>
          <p:nvPr/>
        </p:nvSpPr>
        <p:spPr>
          <a:xfrm>
            <a:off x="612140" y="6191199"/>
            <a:ext cx="186753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left-most derivation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3"/>
          <p:cNvSpPr/>
          <p:nvPr/>
        </p:nvSpPr>
        <p:spPr>
          <a:xfrm>
            <a:off x="5252720" y="5562600"/>
            <a:ext cx="271780" cy="612140"/>
          </a:xfrm>
          <a:custGeom>
            <a:avLst/>
            <a:gdLst/>
            <a:ahLst/>
            <a:cxnLst/>
            <a:rect l="l" t="t" r="r" b="b"/>
            <a:pathLst>
              <a:path w="271779" h="612139" extrusionOk="0">
                <a:moveTo>
                  <a:pt x="40926" y="67556"/>
                </a:moveTo>
                <a:lnTo>
                  <a:pt x="29242" y="72547"/>
                </a:lnTo>
                <a:lnTo>
                  <a:pt x="259841" y="612101"/>
                </a:lnTo>
                <a:lnTo>
                  <a:pt x="271525" y="607098"/>
                </a:lnTo>
                <a:lnTo>
                  <a:pt x="40926" y="67556"/>
                </a:lnTo>
                <a:close/>
              </a:path>
              <a:path w="271779" h="612139" extrusionOk="0">
                <a:moveTo>
                  <a:pt x="5079" y="0"/>
                </a:moveTo>
                <a:lnTo>
                  <a:pt x="0" y="85039"/>
                </a:lnTo>
                <a:lnTo>
                  <a:pt x="29242" y="72547"/>
                </a:lnTo>
                <a:lnTo>
                  <a:pt x="24256" y="60883"/>
                </a:lnTo>
                <a:lnTo>
                  <a:pt x="35940" y="55892"/>
                </a:lnTo>
                <a:lnTo>
                  <a:pt x="68230" y="55892"/>
                </a:lnTo>
                <a:lnTo>
                  <a:pt x="70103" y="55092"/>
                </a:lnTo>
                <a:lnTo>
                  <a:pt x="5079" y="0"/>
                </a:lnTo>
                <a:close/>
              </a:path>
              <a:path w="271779" h="612139" extrusionOk="0">
                <a:moveTo>
                  <a:pt x="35940" y="55892"/>
                </a:moveTo>
                <a:lnTo>
                  <a:pt x="24256" y="60883"/>
                </a:lnTo>
                <a:lnTo>
                  <a:pt x="29242" y="72547"/>
                </a:lnTo>
                <a:lnTo>
                  <a:pt x="40926" y="67556"/>
                </a:lnTo>
                <a:lnTo>
                  <a:pt x="35940" y="55892"/>
                </a:lnTo>
                <a:close/>
              </a:path>
              <a:path w="271779" h="612139" extrusionOk="0">
                <a:moveTo>
                  <a:pt x="68230" y="55892"/>
                </a:moveTo>
                <a:lnTo>
                  <a:pt x="35940" y="55892"/>
                </a:lnTo>
                <a:lnTo>
                  <a:pt x="40926" y="67556"/>
                </a:lnTo>
                <a:lnTo>
                  <a:pt x="68230" y="5589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3"/>
          <p:cNvSpPr txBox="1"/>
          <p:nvPr/>
        </p:nvSpPr>
        <p:spPr>
          <a:xfrm>
            <a:off x="4607178" y="6191199"/>
            <a:ext cx="199072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right-most derivation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3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4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4001618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Parse Trees</a:t>
            </a:r>
            <a:endParaRPr dirty="0"/>
          </a:p>
        </p:txBody>
      </p:sp>
      <p:sp>
        <p:nvSpPr>
          <p:cNvPr id="306" name="Google Shape;306;p24"/>
          <p:cNvSpPr txBox="1"/>
          <p:nvPr/>
        </p:nvSpPr>
        <p:spPr>
          <a:xfrm>
            <a:off x="707542" y="1757665"/>
            <a:ext cx="10521290" cy="3486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7625" rIns="0" bIns="0" anchor="t" anchorCtr="0">
            <a:spAutoFit/>
          </a:bodyPr>
          <a:lstStyle/>
          <a:p>
            <a:pPr marL="2413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Representing derivations as trees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7865" marR="5080" lvl="1" indent="-228600" algn="l" rtl="0">
              <a:lnSpc>
                <a:spcPct val="90100"/>
              </a:lnSpc>
              <a:spcBef>
                <a:spcPts val="53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useful in compilers:	Parse trees correspond quite closely  (but not exactly) with abstract syntax trees we’re trying  to generate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55700" marR="0" lvl="2" indent="-229235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difference: </a:t>
            </a:r>
            <a:r>
              <a:rPr lang="en-US" sz="2000" b="0" i="0" u="none" strike="noStrike" cap="none" dirty="0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</a:rPr>
              <a:t>abstract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 vs </a:t>
            </a:r>
            <a:r>
              <a:rPr lang="en-US" sz="2000" b="0" i="0" u="none" strike="noStrike" cap="none" dirty="0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</a:rPr>
              <a:t>concrete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(parse) syntax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internal node is labeled with a non-terminal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leaf node is labeled with a terminal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432434" lvl="0" indent="-228600" algn="l" rtl="0">
              <a:lnSpc>
                <a:spcPct val="90000"/>
              </a:lnSpc>
              <a:spcBef>
                <a:spcPts val="100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use of a rule in a derivation explains how to  generate children in the parse tree from the  parents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7819" y="2325623"/>
            <a:ext cx="61341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5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3473424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Parse Trees</a:t>
            </a:r>
            <a:endParaRPr dirty="0"/>
          </a:p>
        </p:txBody>
      </p:sp>
      <p:sp>
        <p:nvSpPr>
          <p:cNvPr id="314" name="Google Shape;314;p25"/>
          <p:cNvSpPr txBox="1"/>
          <p:nvPr/>
        </p:nvSpPr>
        <p:spPr>
          <a:xfrm>
            <a:off x="707542" y="1273986"/>
            <a:ext cx="8601050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8875" rIns="0" bIns="0" anchor="t" anchorCtr="0">
            <a:spAutoFit/>
          </a:bodyPr>
          <a:lstStyle/>
          <a:p>
            <a:pPr marL="2413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parse trees have meaning.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7865" marR="0" lvl="1" indent="-228600" algn="l" rtl="0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of children, nesting of subtrees is significant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5"/>
          <p:cNvSpPr txBox="1"/>
          <p:nvPr/>
        </p:nvSpPr>
        <p:spPr>
          <a:xfrm>
            <a:off x="2422398" y="3399790"/>
            <a:ext cx="13081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99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5"/>
          <p:cNvSpPr txBox="1"/>
          <p:nvPr/>
        </p:nvSpPr>
        <p:spPr>
          <a:xfrm>
            <a:off x="1082141" y="4162170"/>
            <a:ext cx="13081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99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5"/>
          <p:cNvSpPr txBox="1"/>
          <p:nvPr/>
        </p:nvSpPr>
        <p:spPr>
          <a:xfrm>
            <a:off x="2955798" y="4009770"/>
            <a:ext cx="13081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99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5"/>
          <p:cNvSpPr txBox="1"/>
          <p:nvPr/>
        </p:nvSpPr>
        <p:spPr>
          <a:xfrm>
            <a:off x="320141" y="4786121"/>
            <a:ext cx="22479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9900"/>
                </a:solidFill>
                <a:latin typeface="Calibri"/>
                <a:ea typeface="Calibri"/>
                <a:cs typeface="Calibri"/>
                <a:sym typeface="Calibri"/>
              </a:rPr>
              <a:t>ID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5"/>
          <p:cNvSpPr txBox="1"/>
          <p:nvPr/>
        </p:nvSpPr>
        <p:spPr>
          <a:xfrm>
            <a:off x="1692020" y="4771770"/>
            <a:ext cx="13716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99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5"/>
          <p:cNvSpPr txBox="1"/>
          <p:nvPr/>
        </p:nvSpPr>
        <p:spPr>
          <a:xfrm>
            <a:off x="1082141" y="4771770"/>
            <a:ext cx="20002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9900"/>
                </a:solidFill>
                <a:latin typeface="Calibri"/>
                <a:ea typeface="Calibri"/>
                <a:cs typeface="Calibri"/>
                <a:sym typeface="Calibri"/>
              </a:rPr>
              <a:t>:=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5"/>
          <p:cNvSpPr txBox="1"/>
          <p:nvPr/>
        </p:nvSpPr>
        <p:spPr>
          <a:xfrm>
            <a:off x="1520444" y="5457850"/>
            <a:ext cx="51562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9900"/>
                </a:solidFill>
                <a:latin typeface="Calibri"/>
                <a:ea typeface="Calibri"/>
                <a:cs typeface="Calibri"/>
                <a:sym typeface="Calibri"/>
              </a:rPr>
              <a:t>NUM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5"/>
          <p:cNvSpPr txBox="1"/>
          <p:nvPr/>
        </p:nvSpPr>
        <p:spPr>
          <a:xfrm>
            <a:off x="3381247" y="5976924"/>
            <a:ext cx="51562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9900"/>
                </a:solidFill>
                <a:latin typeface="Calibri"/>
                <a:ea typeface="Calibri"/>
                <a:cs typeface="Calibri"/>
                <a:sym typeface="Calibri"/>
              </a:rPr>
              <a:t>NUM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5"/>
          <p:cNvSpPr txBox="1"/>
          <p:nvPr/>
        </p:nvSpPr>
        <p:spPr>
          <a:xfrm>
            <a:off x="3565652" y="5305425"/>
            <a:ext cx="13716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99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5"/>
          <p:cNvSpPr txBox="1"/>
          <p:nvPr/>
        </p:nvSpPr>
        <p:spPr>
          <a:xfrm>
            <a:off x="3140201" y="4695570"/>
            <a:ext cx="104076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9900"/>
                </a:solidFill>
                <a:latin typeface="Calibri"/>
                <a:ea typeface="Calibri"/>
                <a:cs typeface="Calibri"/>
                <a:sym typeface="Calibri"/>
              </a:rPr>
              <a:t>(	L	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5"/>
          <p:cNvSpPr txBox="1"/>
          <p:nvPr/>
        </p:nvSpPr>
        <p:spPr>
          <a:xfrm>
            <a:off x="2301620" y="4709921"/>
            <a:ext cx="58356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9900"/>
                </a:solidFill>
                <a:latin typeface="Calibri"/>
                <a:ea typeface="Calibri"/>
                <a:cs typeface="Calibri"/>
                <a:sym typeface="Calibri"/>
              </a:rPr>
              <a:t>PRINT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5"/>
          <p:cNvSpPr txBox="1"/>
          <p:nvPr/>
        </p:nvSpPr>
        <p:spPr>
          <a:xfrm>
            <a:off x="2225420" y="4162170"/>
            <a:ext cx="8699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9900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5"/>
          <p:cNvSpPr/>
          <p:nvPr/>
        </p:nvSpPr>
        <p:spPr>
          <a:xfrm>
            <a:off x="1307592" y="3680713"/>
            <a:ext cx="1149350" cy="467995"/>
          </a:xfrm>
          <a:custGeom>
            <a:avLst/>
            <a:gdLst/>
            <a:ahLst/>
            <a:cxnLst/>
            <a:rect l="l" t="t" r="r" b="b"/>
            <a:pathLst>
              <a:path w="1149350" h="467995" extrusionOk="0">
                <a:moveTo>
                  <a:pt x="1069340" y="11684"/>
                </a:moveTo>
                <a:lnTo>
                  <a:pt x="1064260" y="0"/>
                </a:lnTo>
                <a:lnTo>
                  <a:pt x="67525" y="427189"/>
                </a:lnTo>
                <a:lnTo>
                  <a:pt x="54991" y="398018"/>
                </a:lnTo>
                <a:lnTo>
                  <a:pt x="0" y="463042"/>
                </a:lnTo>
                <a:lnTo>
                  <a:pt x="85090" y="467995"/>
                </a:lnTo>
                <a:lnTo>
                  <a:pt x="74701" y="443865"/>
                </a:lnTo>
                <a:lnTo>
                  <a:pt x="72542" y="438848"/>
                </a:lnTo>
                <a:lnTo>
                  <a:pt x="1069340" y="11684"/>
                </a:lnTo>
                <a:close/>
              </a:path>
              <a:path w="1149350" h="467995" extrusionOk="0">
                <a:moveTo>
                  <a:pt x="1148842" y="84455"/>
                </a:moveTo>
                <a:lnTo>
                  <a:pt x="1137158" y="79629"/>
                </a:lnTo>
                <a:lnTo>
                  <a:pt x="1012977" y="389890"/>
                </a:lnTo>
                <a:lnTo>
                  <a:pt x="983488" y="378079"/>
                </a:lnTo>
                <a:lnTo>
                  <a:pt x="990600" y="463042"/>
                </a:lnTo>
                <a:lnTo>
                  <a:pt x="1054227" y="406400"/>
                </a:lnTo>
                <a:lnTo>
                  <a:pt x="1024775" y="394614"/>
                </a:lnTo>
                <a:lnTo>
                  <a:pt x="1148842" y="844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5"/>
          <p:cNvSpPr/>
          <p:nvPr/>
        </p:nvSpPr>
        <p:spPr>
          <a:xfrm>
            <a:off x="2598547" y="3682110"/>
            <a:ext cx="309245" cy="309245"/>
          </a:xfrm>
          <a:custGeom>
            <a:avLst/>
            <a:gdLst/>
            <a:ahLst/>
            <a:cxnLst/>
            <a:rect l="l" t="t" r="r" b="b"/>
            <a:pathLst>
              <a:path w="309244" h="309245" extrusionOk="0">
                <a:moveTo>
                  <a:pt x="250890" y="259903"/>
                </a:moveTo>
                <a:lnTo>
                  <a:pt x="228472" y="282320"/>
                </a:lnTo>
                <a:lnTo>
                  <a:pt x="309244" y="309244"/>
                </a:lnTo>
                <a:lnTo>
                  <a:pt x="295782" y="268858"/>
                </a:lnTo>
                <a:lnTo>
                  <a:pt x="259841" y="268858"/>
                </a:lnTo>
                <a:lnTo>
                  <a:pt x="250890" y="259903"/>
                </a:lnTo>
                <a:close/>
              </a:path>
              <a:path w="309244" h="309245" extrusionOk="0">
                <a:moveTo>
                  <a:pt x="259903" y="250890"/>
                </a:moveTo>
                <a:lnTo>
                  <a:pt x="250890" y="259903"/>
                </a:lnTo>
                <a:lnTo>
                  <a:pt x="259841" y="268858"/>
                </a:lnTo>
                <a:lnTo>
                  <a:pt x="268858" y="259841"/>
                </a:lnTo>
                <a:lnTo>
                  <a:pt x="259903" y="250890"/>
                </a:lnTo>
                <a:close/>
              </a:path>
              <a:path w="309244" h="309245" extrusionOk="0">
                <a:moveTo>
                  <a:pt x="282320" y="228472"/>
                </a:moveTo>
                <a:lnTo>
                  <a:pt x="259903" y="250890"/>
                </a:lnTo>
                <a:lnTo>
                  <a:pt x="268858" y="259841"/>
                </a:lnTo>
                <a:lnTo>
                  <a:pt x="259841" y="268858"/>
                </a:lnTo>
                <a:lnTo>
                  <a:pt x="295782" y="268858"/>
                </a:lnTo>
                <a:lnTo>
                  <a:pt x="282320" y="228472"/>
                </a:lnTo>
                <a:close/>
              </a:path>
              <a:path w="309244" h="309245" extrusionOk="0">
                <a:moveTo>
                  <a:pt x="8889" y="0"/>
                </a:moveTo>
                <a:lnTo>
                  <a:pt x="0" y="8889"/>
                </a:lnTo>
                <a:lnTo>
                  <a:pt x="250890" y="259903"/>
                </a:lnTo>
                <a:lnTo>
                  <a:pt x="259903" y="250890"/>
                </a:lnTo>
                <a:lnTo>
                  <a:pt x="888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5"/>
          <p:cNvSpPr/>
          <p:nvPr/>
        </p:nvSpPr>
        <p:spPr>
          <a:xfrm>
            <a:off x="621791" y="4443603"/>
            <a:ext cx="385445" cy="309880"/>
          </a:xfrm>
          <a:custGeom>
            <a:avLst/>
            <a:gdLst/>
            <a:ahLst/>
            <a:cxnLst/>
            <a:rect l="l" t="t" r="r" b="b"/>
            <a:pathLst>
              <a:path w="385444" h="309879" extrusionOk="0">
                <a:moveTo>
                  <a:pt x="35699" y="232410"/>
                </a:moveTo>
                <a:lnTo>
                  <a:pt x="0" y="309753"/>
                </a:lnTo>
                <a:lnTo>
                  <a:pt x="83299" y="291846"/>
                </a:lnTo>
                <a:lnTo>
                  <a:pt x="69873" y="275082"/>
                </a:lnTo>
                <a:lnTo>
                  <a:pt x="53555" y="275082"/>
                </a:lnTo>
                <a:lnTo>
                  <a:pt x="45618" y="265176"/>
                </a:lnTo>
                <a:lnTo>
                  <a:pt x="55566" y="257216"/>
                </a:lnTo>
                <a:lnTo>
                  <a:pt x="35699" y="232410"/>
                </a:lnTo>
                <a:close/>
              </a:path>
              <a:path w="385444" h="309879" extrusionOk="0">
                <a:moveTo>
                  <a:pt x="55566" y="257216"/>
                </a:moveTo>
                <a:lnTo>
                  <a:pt x="45618" y="265176"/>
                </a:lnTo>
                <a:lnTo>
                  <a:pt x="53555" y="275082"/>
                </a:lnTo>
                <a:lnTo>
                  <a:pt x="63500" y="267124"/>
                </a:lnTo>
                <a:lnTo>
                  <a:pt x="55566" y="257216"/>
                </a:lnTo>
                <a:close/>
              </a:path>
              <a:path w="385444" h="309879" extrusionOk="0">
                <a:moveTo>
                  <a:pt x="63500" y="267124"/>
                </a:moveTo>
                <a:lnTo>
                  <a:pt x="53555" y="275082"/>
                </a:lnTo>
                <a:lnTo>
                  <a:pt x="69873" y="275082"/>
                </a:lnTo>
                <a:lnTo>
                  <a:pt x="63500" y="267124"/>
                </a:lnTo>
                <a:close/>
              </a:path>
              <a:path w="385444" h="309879" extrusionOk="0">
                <a:moveTo>
                  <a:pt x="377037" y="0"/>
                </a:moveTo>
                <a:lnTo>
                  <a:pt x="55566" y="257216"/>
                </a:lnTo>
                <a:lnTo>
                  <a:pt x="63500" y="267124"/>
                </a:lnTo>
                <a:lnTo>
                  <a:pt x="384962" y="9906"/>
                </a:lnTo>
                <a:lnTo>
                  <a:pt x="37703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5"/>
          <p:cNvSpPr/>
          <p:nvPr/>
        </p:nvSpPr>
        <p:spPr>
          <a:xfrm>
            <a:off x="1117091" y="4524755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 extrusionOk="0">
                <a:moveTo>
                  <a:pt x="31750" y="228600"/>
                </a:moveTo>
                <a:lnTo>
                  <a:pt x="0" y="228600"/>
                </a:lnTo>
                <a:lnTo>
                  <a:pt x="38100" y="304800"/>
                </a:lnTo>
                <a:lnTo>
                  <a:pt x="69850" y="241300"/>
                </a:lnTo>
                <a:lnTo>
                  <a:pt x="31750" y="241300"/>
                </a:lnTo>
                <a:lnTo>
                  <a:pt x="31750" y="228600"/>
                </a:lnTo>
                <a:close/>
              </a:path>
              <a:path w="76200" h="304800" extrusionOk="0">
                <a:moveTo>
                  <a:pt x="44450" y="0"/>
                </a:moveTo>
                <a:lnTo>
                  <a:pt x="31750" y="0"/>
                </a:lnTo>
                <a:lnTo>
                  <a:pt x="31750" y="241300"/>
                </a:lnTo>
                <a:lnTo>
                  <a:pt x="44450" y="241300"/>
                </a:lnTo>
                <a:lnTo>
                  <a:pt x="44450" y="0"/>
                </a:lnTo>
                <a:close/>
              </a:path>
              <a:path w="76200" h="304800" extrusionOk="0">
                <a:moveTo>
                  <a:pt x="76200" y="228600"/>
                </a:moveTo>
                <a:lnTo>
                  <a:pt x="44450" y="228600"/>
                </a:lnTo>
                <a:lnTo>
                  <a:pt x="44450" y="241300"/>
                </a:lnTo>
                <a:lnTo>
                  <a:pt x="69850" y="241300"/>
                </a:lnTo>
                <a:lnTo>
                  <a:pt x="76200" y="2286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5"/>
          <p:cNvSpPr/>
          <p:nvPr/>
        </p:nvSpPr>
        <p:spPr>
          <a:xfrm>
            <a:off x="1378838" y="4368419"/>
            <a:ext cx="309880" cy="385445"/>
          </a:xfrm>
          <a:custGeom>
            <a:avLst/>
            <a:gdLst/>
            <a:ahLst/>
            <a:cxnLst/>
            <a:rect l="l" t="t" r="r" b="b"/>
            <a:pathLst>
              <a:path w="309880" h="385445" extrusionOk="0">
                <a:moveTo>
                  <a:pt x="257205" y="329381"/>
                </a:moveTo>
                <a:lnTo>
                  <a:pt x="232410" y="349249"/>
                </a:lnTo>
                <a:lnTo>
                  <a:pt x="309753" y="384936"/>
                </a:lnTo>
                <a:lnTo>
                  <a:pt x="299953" y="339343"/>
                </a:lnTo>
                <a:lnTo>
                  <a:pt x="265175" y="339343"/>
                </a:lnTo>
                <a:lnTo>
                  <a:pt x="257205" y="329381"/>
                </a:lnTo>
                <a:close/>
              </a:path>
              <a:path w="309880" h="385445" extrusionOk="0">
                <a:moveTo>
                  <a:pt x="267141" y="321420"/>
                </a:moveTo>
                <a:lnTo>
                  <a:pt x="257205" y="329381"/>
                </a:lnTo>
                <a:lnTo>
                  <a:pt x="265175" y="339343"/>
                </a:lnTo>
                <a:lnTo>
                  <a:pt x="275081" y="331342"/>
                </a:lnTo>
                <a:lnTo>
                  <a:pt x="267141" y="321420"/>
                </a:lnTo>
                <a:close/>
              </a:path>
              <a:path w="309880" h="385445" extrusionOk="0">
                <a:moveTo>
                  <a:pt x="291846" y="301624"/>
                </a:moveTo>
                <a:lnTo>
                  <a:pt x="267141" y="321420"/>
                </a:lnTo>
                <a:lnTo>
                  <a:pt x="275081" y="331342"/>
                </a:lnTo>
                <a:lnTo>
                  <a:pt x="265175" y="339343"/>
                </a:lnTo>
                <a:lnTo>
                  <a:pt x="299953" y="339343"/>
                </a:lnTo>
                <a:lnTo>
                  <a:pt x="291846" y="301624"/>
                </a:lnTo>
                <a:close/>
              </a:path>
              <a:path w="309880" h="385445" extrusionOk="0">
                <a:moveTo>
                  <a:pt x="9906" y="0"/>
                </a:moveTo>
                <a:lnTo>
                  <a:pt x="0" y="7873"/>
                </a:lnTo>
                <a:lnTo>
                  <a:pt x="257205" y="329381"/>
                </a:lnTo>
                <a:lnTo>
                  <a:pt x="267141" y="321420"/>
                </a:lnTo>
                <a:lnTo>
                  <a:pt x="990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5"/>
          <p:cNvSpPr/>
          <p:nvPr/>
        </p:nvSpPr>
        <p:spPr>
          <a:xfrm>
            <a:off x="1727961" y="5134355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 extrusionOk="0">
                <a:moveTo>
                  <a:pt x="31699" y="304821"/>
                </a:moveTo>
                <a:lnTo>
                  <a:pt x="0" y="304927"/>
                </a:lnTo>
                <a:lnTo>
                  <a:pt x="38354" y="381000"/>
                </a:lnTo>
                <a:lnTo>
                  <a:pt x="69839" y="317500"/>
                </a:lnTo>
                <a:lnTo>
                  <a:pt x="31750" y="317500"/>
                </a:lnTo>
                <a:lnTo>
                  <a:pt x="31699" y="304821"/>
                </a:lnTo>
                <a:close/>
              </a:path>
              <a:path w="76200" h="381000" extrusionOk="0">
                <a:moveTo>
                  <a:pt x="44399" y="304779"/>
                </a:moveTo>
                <a:lnTo>
                  <a:pt x="31699" y="304821"/>
                </a:lnTo>
                <a:lnTo>
                  <a:pt x="31750" y="317500"/>
                </a:lnTo>
                <a:lnTo>
                  <a:pt x="44450" y="317500"/>
                </a:lnTo>
                <a:lnTo>
                  <a:pt x="44399" y="304779"/>
                </a:lnTo>
                <a:close/>
              </a:path>
              <a:path w="76200" h="381000" extrusionOk="0">
                <a:moveTo>
                  <a:pt x="76200" y="304673"/>
                </a:moveTo>
                <a:lnTo>
                  <a:pt x="44399" y="304779"/>
                </a:lnTo>
                <a:lnTo>
                  <a:pt x="44450" y="317500"/>
                </a:lnTo>
                <a:lnTo>
                  <a:pt x="69839" y="317500"/>
                </a:lnTo>
                <a:lnTo>
                  <a:pt x="76200" y="304673"/>
                </a:lnTo>
                <a:close/>
              </a:path>
              <a:path w="76200" h="381000" extrusionOk="0">
                <a:moveTo>
                  <a:pt x="43180" y="0"/>
                </a:moveTo>
                <a:lnTo>
                  <a:pt x="30480" y="0"/>
                </a:lnTo>
                <a:lnTo>
                  <a:pt x="31699" y="304821"/>
                </a:lnTo>
                <a:lnTo>
                  <a:pt x="44399" y="304779"/>
                </a:lnTo>
                <a:lnTo>
                  <a:pt x="4318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5"/>
          <p:cNvSpPr/>
          <p:nvPr/>
        </p:nvSpPr>
        <p:spPr>
          <a:xfrm>
            <a:off x="2824479" y="4369942"/>
            <a:ext cx="165735" cy="383540"/>
          </a:xfrm>
          <a:custGeom>
            <a:avLst/>
            <a:gdLst/>
            <a:ahLst/>
            <a:cxnLst/>
            <a:rect l="l" t="t" r="r" b="b"/>
            <a:pathLst>
              <a:path w="165735" h="383539" extrusionOk="0">
                <a:moveTo>
                  <a:pt x="0" y="298449"/>
                </a:moveTo>
                <a:lnTo>
                  <a:pt x="7112" y="383412"/>
                </a:lnTo>
                <a:lnTo>
                  <a:pt x="70738" y="326770"/>
                </a:lnTo>
                <a:lnTo>
                  <a:pt x="36575" y="326770"/>
                </a:lnTo>
                <a:lnTo>
                  <a:pt x="24764" y="322071"/>
                </a:lnTo>
                <a:lnTo>
                  <a:pt x="29493" y="310257"/>
                </a:lnTo>
                <a:lnTo>
                  <a:pt x="0" y="298449"/>
                </a:lnTo>
                <a:close/>
              </a:path>
              <a:path w="165735" h="383539" extrusionOk="0">
                <a:moveTo>
                  <a:pt x="29493" y="310257"/>
                </a:moveTo>
                <a:lnTo>
                  <a:pt x="24764" y="322071"/>
                </a:lnTo>
                <a:lnTo>
                  <a:pt x="36575" y="326770"/>
                </a:lnTo>
                <a:lnTo>
                  <a:pt x="41291" y="314981"/>
                </a:lnTo>
                <a:lnTo>
                  <a:pt x="29493" y="310257"/>
                </a:lnTo>
                <a:close/>
              </a:path>
              <a:path w="165735" h="383539" extrusionOk="0">
                <a:moveTo>
                  <a:pt x="41291" y="314981"/>
                </a:moveTo>
                <a:lnTo>
                  <a:pt x="36575" y="326770"/>
                </a:lnTo>
                <a:lnTo>
                  <a:pt x="70738" y="326770"/>
                </a:lnTo>
                <a:lnTo>
                  <a:pt x="41291" y="314981"/>
                </a:lnTo>
                <a:close/>
              </a:path>
              <a:path w="165735" h="383539" extrusionOk="0">
                <a:moveTo>
                  <a:pt x="153669" y="0"/>
                </a:moveTo>
                <a:lnTo>
                  <a:pt x="29493" y="310257"/>
                </a:lnTo>
                <a:lnTo>
                  <a:pt x="41291" y="314981"/>
                </a:lnTo>
                <a:lnTo>
                  <a:pt x="165353" y="4825"/>
                </a:lnTo>
                <a:lnTo>
                  <a:pt x="15366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5"/>
          <p:cNvSpPr/>
          <p:nvPr/>
        </p:nvSpPr>
        <p:spPr>
          <a:xfrm>
            <a:off x="3130169" y="4291076"/>
            <a:ext cx="844550" cy="462280"/>
          </a:xfrm>
          <a:custGeom>
            <a:avLst/>
            <a:gdLst/>
            <a:ahLst/>
            <a:cxnLst/>
            <a:rect l="l" t="t" r="r" b="b"/>
            <a:pathLst>
              <a:path w="844550" h="462279" extrusionOk="0">
                <a:moveTo>
                  <a:pt x="104775" y="380111"/>
                </a:moveTo>
                <a:lnTo>
                  <a:pt x="73698" y="386295"/>
                </a:lnTo>
                <a:lnTo>
                  <a:pt x="12446" y="80010"/>
                </a:lnTo>
                <a:lnTo>
                  <a:pt x="0" y="82550"/>
                </a:lnTo>
                <a:lnTo>
                  <a:pt x="61239" y="388785"/>
                </a:lnTo>
                <a:lnTo>
                  <a:pt x="30099" y="394970"/>
                </a:lnTo>
                <a:lnTo>
                  <a:pt x="82423" y="462280"/>
                </a:lnTo>
                <a:lnTo>
                  <a:pt x="98996" y="401320"/>
                </a:lnTo>
                <a:lnTo>
                  <a:pt x="104775" y="380111"/>
                </a:lnTo>
                <a:close/>
              </a:path>
              <a:path w="844550" h="462279" extrusionOk="0">
                <a:moveTo>
                  <a:pt x="539623" y="462280"/>
                </a:moveTo>
                <a:lnTo>
                  <a:pt x="526161" y="421894"/>
                </a:lnTo>
                <a:lnTo>
                  <a:pt x="512699" y="381508"/>
                </a:lnTo>
                <a:lnTo>
                  <a:pt x="490270" y="403936"/>
                </a:lnTo>
                <a:lnTo>
                  <a:pt x="86868" y="635"/>
                </a:lnTo>
                <a:lnTo>
                  <a:pt x="77978" y="9525"/>
                </a:lnTo>
                <a:lnTo>
                  <a:pt x="481266" y="412940"/>
                </a:lnTo>
                <a:lnTo>
                  <a:pt x="458851" y="435356"/>
                </a:lnTo>
                <a:lnTo>
                  <a:pt x="539623" y="462280"/>
                </a:lnTo>
                <a:close/>
              </a:path>
              <a:path w="844550" h="462279" extrusionOk="0">
                <a:moveTo>
                  <a:pt x="844423" y="462280"/>
                </a:moveTo>
                <a:lnTo>
                  <a:pt x="827900" y="429260"/>
                </a:lnTo>
                <a:lnTo>
                  <a:pt x="806323" y="386080"/>
                </a:lnTo>
                <a:lnTo>
                  <a:pt x="787273" y="411480"/>
                </a:lnTo>
                <a:lnTo>
                  <a:pt x="238633" y="0"/>
                </a:lnTo>
                <a:lnTo>
                  <a:pt x="231013" y="10160"/>
                </a:lnTo>
                <a:lnTo>
                  <a:pt x="779653" y="421640"/>
                </a:lnTo>
                <a:lnTo>
                  <a:pt x="760603" y="447040"/>
                </a:lnTo>
                <a:lnTo>
                  <a:pt x="844423" y="46228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5"/>
          <p:cNvSpPr/>
          <p:nvPr/>
        </p:nvSpPr>
        <p:spPr>
          <a:xfrm>
            <a:off x="3587496" y="5058155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 extrusionOk="0">
                <a:moveTo>
                  <a:pt x="31750" y="228600"/>
                </a:moveTo>
                <a:lnTo>
                  <a:pt x="0" y="228600"/>
                </a:lnTo>
                <a:lnTo>
                  <a:pt x="38100" y="304800"/>
                </a:lnTo>
                <a:lnTo>
                  <a:pt x="69850" y="241300"/>
                </a:lnTo>
                <a:lnTo>
                  <a:pt x="31750" y="241300"/>
                </a:lnTo>
                <a:lnTo>
                  <a:pt x="31750" y="228600"/>
                </a:lnTo>
                <a:close/>
              </a:path>
              <a:path w="76200" h="304800" extrusionOk="0">
                <a:moveTo>
                  <a:pt x="44450" y="0"/>
                </a:moveTo>
                <a:lnTo>
                  <a:pt x="31750" y="0"/>
                </a:lnTo>
                <a:lnTo>
                  <a:pt x="31750" y="241300"/>
                </a:lnTo>
                <a:lnTo>
                  <a:pt x="44450" y="241300"/>
                </a:lnTo>
                <a:lnTo>
                  <a:pt x="44450" y="0"/>
                </a:lnTo>
                <a:close/>
              </a:path>
              <a:path w="76200" h="304800" extrusionOk="0">
                <a:moveTo>
                  <a:pt x="76200" y="228600"/>
                </a:moveTo>
                <a:lnTo>
                  <a:pt x="44450" y="228600"/>
                </a:lnTo>
                <a:lnTo>
                  <a:pt x="44450" y="241300"/>
                </a:lnTo>
                <a:lnTo>
                  <a:pt x="69850" y="241300"/>
                </a:lnTo>
                <a:lnTo>
                  <a:pt x="76200" y="2286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5"/>
          <p:cNvSpPr/>
          <p:nvPr/>
        </p:nvSpPr>
        <p:spPr>
          <a:xfrm>
            <a:off x="3587496" y="5652515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 extrusionOk="0">
                <a:moveTo>
                  <a:pt x="31750" y="228600"/>
                </a:moveTo>
                <a:lnTo>
                  <a:pt x="0" y="228600"/>
                </a:lnTo>
                <a:lnTo>
                  <a:pt x="38100" y="304800"/>
                </a:lnTo>
                <a:lnTo>
                  <a:pt x="69850" y="241300"/>
                </a:lnTo>
                <a:lnTo>
                  <a:pt x="31750" y="241300"/>
                </a:lnTo>
                <a:lnTo>
                  <a:pt x="31750" y="228600"/>
                </a:lnTo>
                <a:close/>
              </a:path>
              <a:path w="76200" h="304800" extrusionOk="0">
                <a:moveTo>
                  <a:pt x="44450" y="0"/>
                </a:moveTo>
                <a:lnTo>
                  <a:pt x="31750" y="0"/>
                </a:lnTo>
                <a:lnTo>
                  <a:pt x="31750" y="241300"/>
                </a:lnTo>
                <a:lnTo>
                  <a:pt x="44450" y="241300"/>
                </a:lnTo>
                <a:lnTo>
                  <a:pt x="44450" y="0"/>
                </a:lnTo>
                <a:close/>
              </a:path>
              <a:path w="76200" h="304800" extrusionOk="0">
                <a:moveTo>
                  <a:pt x="76200" y="228600"/>
                </a:moveTo>
                <a:lnTo>
                  <a:pt x="44450" y="228600"/>
                </a:lnTo>
                <a:lnTo>
                  <a:pt x="44450" y="241300"/>
                </a:lnTo>
                <a:lnTo>
                  <a:pt x="69850" y="241300"/>
                </a:lnTo>
                <a:lnTo>
                  <a:pt x="76200" y="2286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5"/>
          <p:cNvSpPr txBox="1"/>
          <p:nvPr/>
        </p:nvSpPr>
        <p:spPr>
          <a:xfrm>
            <a:off x="6906259" y="3323590"/>
            <a:ext cx="13081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5"/>
          <p:cNvSpPr txBox="1"/>
          <p:nvPr/>
        </p:nvSpPr>
        <p:spPr>
          <a:xfrm>
            <a:off x="7928864" y="4071620"/>
            <a:ext cx="13081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5"/>
          <p:cNvSpPr txBox="1"/>
          <p:nvPr/>
        </p:nvSpPr>
        <p:spPr>
          <a:xfrm>
            <a:off x="5566028" y="3981069"/>
            <a:ext cx="13081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5"/>
          <p:cNvSpPr txBox="1"/>
          <p:nvPr/>
        </p:nvSpPr>
        <p:spPr>
          <a:xfrm>
            <a:off x="5642228" y="4695570"/>
            <a:ext cx="1748789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</a:rPr>
              <a:t>(	L	)	ID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5"/>
          <p:cNvSpPr txBox="1"/>
          <p:nvPr/>
        </p:nvSpPr>
        <p:spPr>
          <a:xfrm>
            <a:off x="8538464" y="4681220"/>
            <a:ext cx="13716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5"/>
          <p:cNvSpPr txBox="1"/>
          <p:nvPr/>
        </p:nvSpPr>
        <p:spPr>
          <a:xfrm>
            <a:off x="7928864" y="4681220"/>
            <a:ext cx="20002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</a:rPr>
              <a:t>:=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5"/>
          <p:cNvSpPr txBox="1"/>
          <p:nvPr/>
        </p:nvSpPr>
        <p:spPr>
          <a:xfrm>
            <a:off x="8367141" y="5367324"/>
            <a:ext cx="51562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</a:rPr>
              <a:t>NUM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5"/>
          <p:cNvSpPr txBox="1"/>
          <p:nvPr/>
        </p:nvSpPr>
        <p:spPr>
          <a:xfrm>
            <a:off x="5883655" y="5976924"/>
            <a:ext cx="51562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</a:rPr>
              <a:t>NUM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5"/>
          <p:cNvSpPr txBox="1"/>
          <p:nvPr/>
        </p:nvSpPr>
        <p:spPr>
          <a:xfrm>
            <a:off x="6068059" y="5305425"/>
            <a:ext cx="13716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5"/>
          <p:cNvSpPr txBox="1"/>
          <p:nvPr/>
        </p:nvSpPr>
        <p:spPr>
          <a:xfrm>
            <a:off x="4804028" y="4709921"/>
            <a:ext cx="58356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</a:rPr>
              <a:t>PRINT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5"/>
          <p:cNvSpPr txBox="1"/>
          <p:nvPr/>
        </p:nvSpPr>
        <p:spPr>
          <a:xfrm>
            <a:off x="6709409" y="4085970"/>
            <a:ext cx="8699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5"/>
          <p:cNvSpPr/>
          <p:nvPr/>
        </p:nvSpPr>
        <p:spPr>
          <a:xfrm>
            <a:off x="5791200" y="3604513"/>
            <a:ext cx="1149350" cy="467995"/>
          </a:xfrm>
          <a:custGeom>
            <a:avLst/>
            <a:gdLst/>
            <a:ahLst/>
            <a:cxnLst/>
            <a:rect l="l" t="t" r="r" b="b"/>
            <a:pathLst>
              <a:path w="1149350" h="467995" extrusionOk="0">
                <a:moveTo>
                  <a:pt x="1069340" y="11684"/>
                </a:moveTo>
                <a:lnTo>
                  <a:pt x="1064260" y="0"/>
                </a:lnTo>
                <a:lnTo>
                  <a:pt x="67525" y="427189"/>
                </a:lnTo>
                <a:lnTo>
                  <a:pt x="54991" y="398018"/>
                </a:lnTo>
                <a:lnTo>
                  <a:pt x="0" y="463042"/>
                </a:lnTo>
                <a:lnTo>
                  <a:pt x="85090" y="467995"/>
                </a:lnTo>
                <a:lnTo>
                  <a:pt x="74701" y="443865"/>
                </a:lnTo>
                <a:lnTo>
                  <a:pt x="72542" y="438848"/>
                </a:lnTo>
                <a:lnTo>
                  <a:pt x="1069340" y="11684"/>
                </a:lnTo>
                <a:close/>
              </a:path>
              <a:path w="1149350" h="467995" extrusionOk="0">
                <a:moveTo>
                  <a:pt x="1148842" y="84455"/>
                </a:moveTo>
                <a:lnTo>
                  <a:pt x="1137158" y="79629"/>
                </a:lnTo>
                <a:lnTo>
                  <a:pt x="1012977" y="389890"/>
                </a:lnTo>
                <a:lnTo>
                  <a:pt x="983488" y="378079"/>
                </a:lnTo>
                <a:lnTo>
                  <a:pt x="990600" y="463042"/>
                </a:lnTo>
                <a:lnTo>
                  <a:pt x="1054227" y="406400"/>
                </a:lnTo>
                <a:lnTo>
                  <a:pt x="1024775" y="394614"/>
                </a:lnTo>
                <a:lnTo>
                  <a:pt x="1148842" y="844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5"/>
          <p:cNvSpPr/>
          <p:nvPr/>
        </p:nvSpPr>
        <p:spPr>
          <a:xfrm>
            <a:off x="7083425" y="3604767"/>
            <a:ext cx="765175" cy="434340"/>
          </a:xfrm>
          <a:custGeom>
            <a:avLst/>
            <a:gdLst/>
            <a:ahLst/>
            <a:cxnLst/>
            <a:rect l="l" t="t" r="r" b="b"/>
            <a:pathLst>
              <a:path w="765175" h="434339" extrusionOk="0">
                <a:moveTo>
                  <a:pt x="695656" y="402068"/>
                </a:moveTo>
                <a:lnTo>
                  <a:pt x="680084" y="429768"/>
                </a:lnTo>
                <a:lnTo>
                  <a:pt x="765175" y="433832"/>
                </a:lnTo>
                <a:lnTo>
                  <a:pt x="747881" y="408305"/>
                </a:lnTo>
                <a:lnTo>
                  <a:pt x="706754" y="408305"/>
                </a:lnTo>
                <a:lnTo>
                  <a:pt x="695656" y="402068"/>
                </a:lnTo>
                <a:close/>
              </a:path>
              <a:path w="765175" h="434339" extrusionOk="0">
                <a:moveTo>
                  <a:pt x="701924" y="390917"/>
                </a:moveTo>
                <a:lnTo>
                  <a:pt x="695656" y="402068"/>
                </a:lnTo>
                <a:lnTo>
                  <a:pt x="706754" y="408305"/>
                </a:lnTo>
                <a:lnTo>
                  <a:pt x="712977" y="397129"/>
                </a:lnTo>
                <a:lnTo>
                  <a:pt x="701924" y="390917"/>
                </a:lnTo>
                <a:close/>
              </a:path>
              <a:path w="765175" h="434339" extrusionOk="0">
                <a:moveTo>
                  <a:pt x="717423" y="363347"/>
                </a:moveTo>
                <a:lnTo>
                  <a:pt x="701924" y="390917"/>
                </a:lnTo>
                <a:lnTo>
                  <a:pt x="712977" y="397129"/>
                </a:lnTo>
                <a:lnTo>
                  <a:pt x="706754" y="408305"/>
                </a:lnTo>
                <a:lnTo>
                  <a:pt x="747881" y="408305"/>
                </a:lnTo>
                <a:lnTo>
                  <a:pt x="717423" y="363347"/>
                </a:lnTo>
                <a:close/>
              </a:path>
              <a:path w="765175" h="434339" extrusionOk="0">
                <a:moveTo>
                  <a:pt x="6223" y="0"/>
                </a:moveTo>
                <a:lnTo>
                  <a:pt x="0" y="11176"/>
                </a:lnTo>
                <a:lnTo>
                  <a:pt x="695656" y="402068"/>
                </a:lnTo>
                <a:lnTo>
                  <a:pt x="701924" y="390917"/>
                </a:lnTo>
                <a:lnTo>
                  <a:pt x="622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5"/>
          <p:cNvSpPr/>
          <p:nvPr/>
        </p:nvSpPr>
        <p:spPr>
          <a:xfrm>
            <a:off x="7467600" y="4352163"/>
            <a:ext cx="385445" cy="309880"/>
          </a:xfrm>
          <a:custGeom>
            <a:avLst/>
            <a:gdLst/>
            <a:ahLst/>
            <a:cxnLst/>
            <a:rect l="l" t="t" r="r" b="b"/>
            <a:pathLst>
              <a:path w="385445" h="309879" extrusionOk="0">
                <a:moveTo>
                  <a:pt x="35686" y="232410"/>
                </a:moveTo>
                <a:lnTo>
                  <a:pt x="0" y="309753"/>
                </a:lnTo>
                <a:lnTo>
                  <a:pt x="83311" y="291845"/>
                </a:lnTo>
                <a:lnTo>
                  <a:pt x="69879" y="275081"/>
                </a:lnTo>
                <a:lnTo>
                  <a:pt x="53594" y="275081"/>
                </a:lnTo>
                <a:lnTo>
                  <a:pt x="45593" y="265175"/>
                </a:lnTo>
                <a:lnTo>
                  <a:pt x="55555" y="257205"/>
                </a:lnTo>
                <a:lnTo>
                  <a:pt x="35686" y="232410"/>
                </a:lnTo>
                <a:close/>
              </a:path>
              <a:path w="385445" h="309879" extrusionOk="0">
                <a:moveTo>
                  <a:pt x="55555" y="257205"/>
                </a:moveTo>
                <a:lnTo>
                  <a:pt x="45593" y="265175"/>
                </a:lnTo>
                <a:lnTo>
                  <a:pt x="53594" y="275081"/>
                </a:lnTo>
                <a:lnTo>
                  <a:pt x="63516" y="267141"/>
                </a:lnTo>
                <a:lnTo>
                  <a:pt x="55555" y="257205"/>
                </a:lnTo>
                <a:close/>
              </a:path>
              <a:path w="385445" h="309879" extrusionOk="0">
                <a:moveTo>
                  <a:pt x="63516" y="267141"/>
                </a:moveTo>
                <a:lnTo>
                  <a:pt x="53594" y="275081"/>
                </a:lnTo>
                <a:lnTo>
                  <a:pt x="69879" y="275081"/>
                </a:lnTo>
                <a:lnTo>
                  <a:pt x="63516" y="267141"/>
                </a:lnTo>
                <a:close/>
              </a:path>
              <a:path w="385445" h="309879" extrusionOk="0">
                <a:moveTo>
                  <a:pt x="377063" y="0"/>
                </a:moveTo>
                <a:lnTo>
                  <a:pt x="55555" y="257205"/>
                </a:lnTo>
                <a:lnTo>
                  <a:pt x="63516" y="267141"/>
                </a:lnTo>
                <a:lnTo>
                  <a:pt x="384936" y="9906"/>
                </a:lnTo>
                <a:lnTo>
                  <a:pt x="3770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5"/>
          <p:cNvSpPr/>
          <p:nvPr/>
        </p:nvSpPr>
        <p:spPr>
          <a:xfrm>
            <a:off x="7962900" y="4433315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 extrusionOk="0">
                <a:moveTo>
                  <a:pt x="31750" y="228599"/>
                </a:moveTo>
                <a:lnTo>
                  <a:pt x="0" y="228599"/>
                </a:lnTo>
                <a:lnTo>
                  <a:pt x="38100" y="304799"/>
                </a:lnTo>
                <a:lnTo>
                  <a:pt x="69850" y="241299"/>
                </a:lnTo>
                <a:lnTo>
                  <a:pt x="31750" y="241299"/>
                </a:lnTo>
                <a:lnTo>
                  <a:pt x="31750" y="228599"/>
                </a:lnTo>
                <a:close/>
              </a:path>
              <a:path w="76200" h="304800" extrusionOk="0">
                <a:moveTo>
                  <a:pt x="44450" y="0"/>
                </a:moveTo>
                <a:lnTo>
                  <a:pt x="31750" y="0"/>
                </a:lnTo>
                <a:lnTo>
                  <a:pt x="31750" y="241299"/>
                </a:lnTo>
                <a:lnTo>
                  <a:pt x="44450" y="241299"/>
                </a:lnTo>
                <a:lnTo>
                  <a:pt x="44450" y="0"/>
                </a:lnTo>
                <a:close/>
              </a:path>
              <a:path w="76200" h="304800" extrusionOk="0">
                <a:moveTo>
                  <a:pt x="76200" y="228599"/>
                </a:moveTo>
                <a:lnTo>
                  <a:pt x="44450" y="228599"/>
                </a:lnTo>
                <a:lnTo>
                  <a:pt x="44450" y="241299"/>
                </a:lnTo>
                <a:lnTo>
                  <a:pt x="69850" y="241299"/>
                </a:lnTo>
                <a:lnTo>
                  <a:pt x="76200" y="22859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5"/>
          <p:cNvSpPr/>
          <p:nvPr/>
        </p:nvSpPr>
        <p:spPr>
          <a:xfrm>
            <a:off x="8224646" y="4276978"/>
            <a:ext cx="309880" cy="385445"/>
          </a:xfrm>
          <a:custGeom>
            <a:avLst/>
            <a:gdLst/>
            <a:ahLst/>
            <a:cxnLst/>
            <a:rect l="l" t="t" r="r" b="b"/>
            <a:pathLst>
              <a:path w="309879" h="385445" extrusionOk="0">
                <a:moveTo>
                  <a:pt x="257205" y="329381"/>
                </a:moveTo>
                <a:lnTo>
                  <a:pt x="232409" y="349250"/>
                </a:lnTo>
                <a:lnTo>
                  <a:pt x="309752" y="384937"/>
                </a:lnTo>
                <a:lnTo>
                  <a:pt x="299953" y="339344"/>
                </a:lnTo>
                <a:lnTo>
                  <a:pt x="265175" y="339344"/>
                </a:lnTo>
                <a:lnTo>
                  <a:pt x="257205" y="329381"/>
                </a:lnTo>
                <a:close/>
              </a:path>
              <a:path w="309879" h="385445" extrusionOk="0">
                <a:moveTo>
                  <a:pt x="267141" y="321420"/>
                </a:moveTo>
                <a:lnTo>
                  <a:pt x="257205" y="329381"/>
                </a:lnTo>
                <a:lnTo>
                  <a:pt x="265175" y="339344"/>
                </a:lnTo>
                <a:lnTo>
                  <a:pt x="275081" y="331343"/>
                </a:lnTo>
                <a:lnTo>
                  <a:pt x="267141" y="321420"/>
                </a:lnTo>
                <a:close/>
              </a:path>
              <a:path w="309879" h="385445" extrusionOk="0">
                <a:moveTo>
                  <a:pt x="291846" y="301625"/>
                </a:moveTo>
                <a:lnTo>
                  <a:pt x="267141" y="321420"/>
                </a:lnTo>
                <a:lnTo>
                  <a:pt x="275081" y="331343"/>
                </a:lnTo>
                <a:lnTo>
                  <a:pt x="265175" y="339344"/>
                </a:lnTo>
                <a:lnTo>
                  <a:pt x="299953" y="339344"/>
                </a:lnTo>
                <a:lnTo>
                  <a:pt x="291846" y="301625"/>
                </a:lnTo>
                <a:close/>
              </a:path>
              <a:path w="309879" h="385445" extrusionOk="0">
                <a:moveTo>
                  <a:pt x="9905" y="0"/>
                </a:moveTo>
                <a:lnTo>
                  <a:pt x="0" y="7874"/>
                </a:lnTo>
                <a:lnTo>
                  <a:pt x="257205" y="329381"/>
                </a:lnTo>
                <a:lnTo>
                  <a:pt x="267141" y="321420"/>
                </a:lnTo>
                <a:lnTo>
                  <a:pt x="990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5"/>
          <p:cNvSpPr/>
          <p:nvPr/>
        </p:nvSpPr>
        <p:spPr>
          <a:xfrm>
            <a:off x="8573769" y="5042915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 extrusionOk="0">
                <a:moveTo>
                  <a:pt x="31699" y="304821"/>
                </a:moveTo>
                <a:lnTo>
                  <a:pt x="0" y="304926"/>
                </a:lnTo>
                <a:lnTo>
                  <a:pt x="38353" y="380999"/>
                </a:lnTo>
                <a:lnTo>
                  <a:pt x="69839" y="317499"/>
                </a:lnTo>
                <a:lnTo>
                  <a:pt x="31750" y="317499"/>
                </a:lnTo>
                <a:lnTo>
                  <a:pt x="31699" y="304821"/>
                </a:lnTo>
                <a:close/>
              </a:path>
              <a:path w="76200" h="381000" extrusionOk="0">
                <a:moveTo>
                  <a:pt x="44399" y="304779"/>
                </a:moveTo>
                <a:lnTo>
                  <a:pt x="31699" y="304821"/>
                </a:lnTo>
                <a:lnTo>
                  <a:pt x="31750" y="317499"/>
                </a:lnTo>
                <a:lnTo>
                  <a:pt x="44450" y="317499"/>
                </a:lnTo>
                <a:lnTo>
                  <a:pt x="44399" y="304779"/>
                </a:lnTo>
                <a:close/>
              </a:path>
              <a:path w="76200" h="381000" extrusionOk="0">
                <a:moveTo>
                  <a:pt x="76200" y="304672"/>
                </a:moveTo>
                <a:lnTo>
                  <a:pt x="44399" y="304779"/>
                </a:lnTo>
                <a:lnTo>
                  <a:pt x="44450" y="317499"/>
                </a:lnTo>
                <a:lnTo>
                  <a:pt x="69839" y="317499"/>
                </a:lnTo>
                <a:lnTo>
                  <a:pt x="76200" y="304672"/>
                </a:lnTo>
                <a:close/>
              </a:path>
              <a:path w="76200" h="381000" extrusionOk="0">
                <a:moveTo>
                  <a:pt x="43179" y="0"/>
                </a:moveTo>
                <a:lnTo>
                  <a:pt x="30479" y="0"/>
                </a:lnTo>
                <a:lnTo>
                  <a:pt x="31699" y="304821"/>
                </a:lnTo>
                <a:lnTo>
                  <a:pt x="44399" y="304779"/>
                </a:lnTo>
                <a:lnTo>
                  <a:pt x="4317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5"/>
          <p:cNvSpPr/>
          <p:nvPr/>
        </p:nvSpPr>
        <p:spPr>
          <a:xfrm>
            <a:off x="5326888" y="4369942"/>
            <a:ext cx="165735" cy="383540"/>
          </a:xfrm>
          <a:custGeom>
            <a:avLst/>
            <a:gdLst/>
            <a:ahLst/>
            <a:cxnLst/>
            <a:rect l="l" t="t" r="r" b="b"/>
            <a:pathLst>
              <a:path w="165735" h="383539" extrusionOk="0">
                <a:moveTo>
                  <a:pt x="0" y="298449"/>
                </a:moveTo>
                <a:lnTo>
                  <a:pt x="7112" y="383412"/>
                </a:lnTo>
                <a:lnTo>
                  <a:pt x="70738" y="326770"/>
                </a:lnTo>
                <a:lnTo>
                  <a:pt x="36575" y="326770"/>
                </a:lnTo>
                <a:lnTo>
                  <a:pt x="24764" y="322071"/>
                </a:lnTo>
                <a:lnTo>
                  <a:pt x="29493" y="310257"/>
                </a:lnTo>
                <a:lnTo>
                  <a:pt x="0" y="298449"/>
                </a:lnTo>
                <a:close/>
              </a:path>
              <a:path w="165735" h="383539" extrusionOk="0">
                <a:moveTo>
                  <a:pt x="29493" y="310257"/>
                </a:moveTo>
                <a:lnTo>
                  <a:pt x="24764" y="322071"/>
                </a:lnTo>
                <a:lnTo>
                  <a:pt x="36575" y="326770"/>
                </a:lnTo>
                <a:lnTo>
                  <a:pt x="41291" y="314981"/>
                </a:lnTo>
                <a:lnTo>
                  <a:pt x="29493" y="310257"/>
                </a:lnTo>
                <a:close/>
              </a:path>
              <a:path w="165735" h="383539" extrusionOk="0">
                <a:moveTo>
                  <a:pt x="41291" y="314981"/>
                </a:moveTo>
                <a:lnTo>
                  <a:pt x="36575" y="326770"/>
                </a:lnTo>
                <a:lnTo>
                  <a:pt x="70738" y="326770"/>
                </a:lnTo>
                <a:lnTo>
                  <a:pt x="41291" y="314981"/>
                </a:lnTo>
                <a:close/>
              </a:path>
              <a:path w="165735" h="383539" extrusionOk="0">
                <a:moveTo>
                  <a:pt x="153670" y="0"/>
                </a:moveTo>
                <a:lnTo>
                  <a:pt x="29493" y="310257"/>
                </a:lnTo>
                <a:lnTo>
                  <a:pt x="41291" y="314981"/>
                </a:lnTo>
                <a:lnTo>
                  <a:pt x="165353" y="4825"/>
                </a:lnTo>
                <a:lnTo>
                  <a:pt x="1536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5"/>
          <p:cNvSpPr/>
          <p:nvPr/>
        </p:nvSpPr>
        <p:spPr>
          <a:xfrm>
            <a:off x="5632577" y="4291076"/>
            <a:ext cx="844550" cy="462280"/>
          </a:xfrm>
          <a:custGeom>
            <a:avLst/>
            <a:gdLst/>
            <a:ahLst/>
            <a:cxnLst/>
            <a:rect l="l" t="t" r="r" b="b"/>
            <a:pathLst>
              <a:path w="844550" h="462279" extrusionOk="0">
                <a:moveTo>
                  <a:pt x="104775" y="380111"/>
                </a:moveTo>
                <a:lnTo>
                  <a:pt x="73698" y="386295"/>
                </a:lnTo>
                <a:lnTo>
                  <a:pt x="12446" y="80010"/>
                </a:lnTo>
                <a:lnTo>
                  <a:pt x="0" y="82550"/>
                </a:lnTo>
                <a:lnTo>
                  <a:pt x="61239" y="388785"/>
                </a:lnTo>
                <a:lnTo>
                  <a:pt x="30099" y="394970"/>
                </a:lnTo>
                <a:lnTo>
                  <a:pt x="82423" y="462280"/>
                </a:lnTo>
                <a:lnTo>
                  <a:pt x="98996" y="401320"/>
                </a:lnTo>
                <a:lnTo>
                  <a:pt x="104775" y="380111"/>
                </a:lnTo>
                <a:close/>
              </a:path>
              <a:path w="844550" h="462279" extrusionOk="0">
                <a:moveTo>
                  <a:pt x="539623" y="462280"/>
                </a:moveTo>
                <a:lnTo>
                  <a:pt x="526161" y="421894"/>
                </a:lnTo>
                <a:lnTo>
                  <a:pt x="512699" y="381508"/>
                </a:lnTo>
                <a:lnTo>
                  <a:pt x="490270" y="403936"/>
                </a:lnTo>
                <a:lnTo>
                  <a:pt x="86868" y="635"/>
                </a:lnTo>
                <a:lnTo>
                  <a:pt x="77978" y="9525"/>
                </a:lnTo>
                <a:lnTo>
                  <a:pt x="481266" y="412940"/>
                </a:lnTo>
                <a:lnTo>
                  <a:pt x="458851" y="435356"/>
                </a:lnTo>
                <a:lnTo>
                  <a:pt x="539623" y="462280"/>
                </a:lnTo>
                <a:close/>
              </a:path>
              <a:path w="844550" h="462279" extrusionOk="0">
                <a:moveTo>
                  <a:pt x="844423" y="462280"/>
                </a:moveTo>
                <a:lnTo>
                  <a:pt x="827913" y="429260"/>
                </a:lnTo>
                <a:lnTo>
                  <a:pt x="806323" y="386080"/>
                </a:lnTo>
                <a:lnTo>
                  <a:pt x="787273" y="411480"/>
                </a:lnTo>
                <a:lnTo>
                  <a:pt x="238633" y="0"/>
                </a:lnTo>
                <a:lnTo>
                  <a:pt x="231013" y="10160"/>
                </a:lnTo>
                <a:lnTo>
                  <a:pt x="779653" y="421640"/>
                </a:lnTo>
                <a:lnTo>
                  <a:pt x="760603" y="447040"/>
                </a:lnTo>
                <a:lnTo>
                  <a:pt x="844423" y="46228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5"/>
          <p:cNvSpPr/>
          <p:nvPr/>
        </p:nvSpPr>
        <p:spPr>
          <a:xfrm>
            <a:off x="6089903" y="5058155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 extrusionOk="0">
                <a:moveTo>
                  <a:pt x="31750" y="228600"/>
                </a:moveTo>
                <a:lnTo>
                  <a:pt x="0" y="228600"/>
                </a:lnTo>
                <a:lnTo>
                  <a:pt x="38100" y="304800"/>
                </a:lnTo>
                <a:lnTo>
                  <a:pt x="69850" y="241300"/>
                </a:lnTo>
                <a:lnTo>
                  <a:pt x="31750" y="241300"/>
                </a:lnTo>
                <a:lnTo>
                  <a:pt x="31750" y="228600"/>
                </a:lnTo>
                <a:close/>
              </a:path>
              <a:path w="76200" h="304800" extrusionOk="0">
                <a:moveTo>
                  <a:pt x="44450" y="0"/>
                </a:moveTo>
                <a:lnTo>
                  <a:pt x="31750" y="0"/>
                </a:lnTo>
                <a:lnTo>
                  <a:pt x="31750" y="241300"/>
                </a:lnTo>
                <a:lnTo>
                  <a:pt x="44450" y="241300"/>
                </a:lnTo>
                <a:lnTo>
                  <a:pt x="44450" y="0"/>
                </a:lnTo>
                <a:close/>
              </a:path>
              <a:path w="76200" h="304800" extrusionOk="0">
                <a:moveTo>
                  <a:pt x="76200" y="228600"/>
                </a:moveTo>
                <a:lnTo>
                  <a:pt x="44450" y="228600"/>
                </a:lnTo>
                <a:lnTo>
                  <a:pt x="44450" y="241300"/>
                </a:lnTo>
                <a:lnTo>
                  <a:pt x="69850" y="241300"/>
                </a:lnTo>
                <a:lnTo>
                  <a:pt x="76200" y="2286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5"/>
          <p:cNvSpPr/>
          <p:nvPr/>
        </p:nvSpPr>
        <p:spPr>
          <a:xfrm>
            <a:off x="6089903" y="5652515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 extrusionOk="0">
                <a:moveTo>
                  <a:pt x="31750" y="228600"/>
                </a:moveTo>
                <a:lnTo>
                  <a:pt x="0" y="228600"/>
                </a:lnTo>
                <a:lnTo>
                  <a:pt x="38100" y="304800"/>
                </a:lnTo>
                <a:lnTo>
                  <a:pt x="69850" y="241300"/>
                </a:lnTo>
                <a:lnTo>
                  <a:pt x="31750" y="241300"/>
                </a:lnTo>
                <a:lnTo>
                  <a:pt x="31750" y="228600"/>
                </a:lnTo>
                <a:close/>
              </a:path>
              <a:path w="76200" h="304800" extrusionOk="0">
                <a:moveTo>
                  <a:pt x="44450" y="0"/>
                </a:moveTo>
                <a:lnTo>
                  <a:pt x="31750" y="0"/>
                </a:lnTo>
                <a:lnTo>
                  <a:pt x="31750" y="241300"/>
                </a:lnTo>
                <a:lnTo>
                  <a:pt x="44450" y="241300"/>
                </a:lnTo>
                <a:lnTo>
                  <a:pt x="44450" y="0"/>
                </a:lnTo>
                <a:close/>
              </a:path>
              <a:path w="76200" h="304800" extrusionOk="0">
                <a:moveTo>
                  <a:pt x="76200" y="228600"/>
                </a:moveTo>
                <a:lnTo>
                  <a:pt x="44450" y="228600"/>
                </a:lnTo>
                <a:lnTo>
                  <a:pt x="44450" y="241300"/>
                </a:lnTo>
                <a:lnTo>
                  <a:pt x="69850" y="241300"/>
                </a:lnTo>
                <a:lnTo>
                  <a:pt x="76200" y="2286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5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7994" y="1687840"/>
            <a:ext cx="7963928" cy="1849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4018788"/>
            <a:ext cx="1714500" cy="1805939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6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3690722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Derivation</a:t>
            </a:r>
            <a:endParaRPr dirty="0"/>
          </a:p>
        </p:txBody>
      </p:sp>
      <p:pic>
        <p:nvPicPr>
          <p:cNvPr id="366" name="Google Shape;366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1331" y="4099559"/>
            <a:ext cx="4061459" cy="1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2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4191" y="4998720"/>
            <a:ext cx="47244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58951" y="5786628"/>
            <a:ext cx="47244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6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7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494345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Review Question</a:t>
            </a:r>
            <a:endParaRPr dirty="0"/>
          </a:p>
        </p:txBody>
      </p:sp>
      <p:sp>
        <p:nvSpPr>
          <p:cNvPr id="375" name="Google Shape;375;p27"/>
          <p:cNvSpPr txBox="1"/>
          <p:nvPr/>
        </p:nvSpPr>
        <p:spPr>
          <a:xfrm>
            <a:off x="707542" y="1793493"/>
            <a:ext cx="711327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413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161616"/>
                </a:solidFill>
                <a:latin typeface="Calibri"/>
                <a:ea typeface="Calibri"/>
                <a:cs typeface="Calibri"/>
                <a:sym typeface="Calibri"/>
              </a:rPr>
              <a:t>What expression does this parse tree generate?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6" name="Google Shape;376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076" y="2627376"/>
            <a:ext cx="3323844" cy="3864864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7"/>
          <p:cNvSpPr txBox="1"/>
          <p:nvPr/>
        </p:nvSpPr>
        <p:spPr>
          <a:xfrm>
            <a:off x="5436870" y="6115303"/>
            <a:ext cx="2448560" cy="300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( x + y ) * x - z * y / ( x + x 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7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8"/>
          <p:cNvSpPr txBox="1"/>
          <p:nvPr/>
        </p:nvSpPr>
        <p:spPr>
          <a:xfrm>
            <a:off x="707542" y="1793493"/>
            <a:ext cx="10457282" cy="2116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0" anchor="t" anchorCtr="0">
            <a:spAutoFit/>
          </a:bodyPr>
          <a:lstStyle/>
          <a:p>
            <a:pPr marL="241300" marR="5080" lvl="0" indent="-228600" algn="l" rtl="0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grammar that produces more than one parse tree  for some sentence is said to be ambiguous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96520" lvl="0" indent="-228600" algn="l" rtl="0">
              <a:lnSpc>
                <a:spcPct val="107857"/>
              </a:lnSpc>
              <a:spcBef>
                <a:spcPts val="101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ambiguous grammar is one that produces more  than one leftmost or rightmost derivation for the  same sentence.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8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2876906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Ambiguity</a:t>
            </a:r>
            <a:endParaRPr dirty="0"/>
          </a:p>
        </p:txBody>
      </p:sp>
      <p:pic>
        <p:nvPicPr>
          <p:cNvPr id="387" name="Google Shape;387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8011" y="4878323"/>
            <a:ext cx="3566160" cy="1021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1331" y="4273296"/>
            <a:ext cx="4061459" cy="19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09765" y="4256532"/>
            <a:ext cx="1464514" cy="316991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8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9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7878674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Two parse trees for id + id * id</a:t>
            </a:r>
            <a:endParaRPr dirty="0"/>
          </a:p>
        </p:txBody>
      </p:sp>
      <p:pic>
        <p:nvPicPr>
          <p:cNvPr id="396" name="Google Shape;396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2333" y="4069686"/>
            <a:ext cx="7020857" cy="2090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31970" y="2157635"/>
            <a:ext cx="4943435" cy="141474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0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6872834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Ambiguous Grammars</a:t>
            </a:r>
            <a:endParaRPr dirty="0"/>
          </a:p>
        </p:txBody>
      </p:sp>
      <p:sp>
        <p:nvSpPr>
          <p:cNvPr id="404" name="Google Shape;404;p30"/>
          <p:cNvSpPr txBox="1"/>
          <p:nvPr/>
        </p:nvSpPr>
        <p:spPr>
          <a:xfrm>
            <a:off x="953516" y="1549349"/>
            <a:ext cx="10366756" cy="4367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325" rIns="0" bIns="0" anchor="t" anchorCtr="0">
            <a:spAutoFit/>
          </a:bodyPr>
          <a:lstStyle/>
          <a:p>
            <a:pPr marL="241300" marR="462280" lvl="0" indent="-228600" algn="just" rtl="0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problem: compilers use parse trees to interpret the  meaning of parsed expressions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8500" marR="0" lvl="1" indent="-229234" algn="just" rtl="0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parse trees have different meanings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8500" marR="0" lvl="1" indent="-229234" algn="just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eg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(4 + 5) * 6 is not 4 + (5 * 6)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8500" marR="5080" lvl="1" indent="-229234" algn="just" rtl="0">
              <a:lnSpc>
                <a:spcPct val="9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languages with ambiguous grammars are </a:t>
            </a:r>
            <a:r>
              <a:rPr lang="en-US" sz="2400" b="0" i="0" u="none" strike="noStrike" cap="none" dirty="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DISASTROUS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The  meaning of programs isn’t well-defined! You can’t tell what  your program might do!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solution: rewrite grammar to eliminate ambiguity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8500" marR="0" lvl="1" indent="-229234" algn="l" rtl="0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fold </a:t>
            </a:r>
            <a:r>
              <a:rPr lang="en-US" sz="2400" b="0" i="0" u="none" strike="noStrike" cap="none" dirty="0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</a:rPr>
              <a:t>precedence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rules into grammar to disambiguate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8500" marR="0" lvl="1" indent="-229234" algn="l" rtl="0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fold </a:t>
            </a:r>
            <a:r>
              <a:rPr lang="en-US" sz="2400" b="0" i="0" u="none" strike="noStrike" cap="none" dirty="0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</a:rPr>
              <a:t>associativity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rules into grammar to disambiguate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8500" marR="0" lvl="1" indent="-229234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 tricks as well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0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1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526349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More on Ambiguity</a:t>
            </a:r>
            <a:endParaRPr dirty="0"/>
          </a:p>
        </p:txBody>
      </p:sp>
      <p:pic>
        <p:nvPicPr>
          <p:cNvPr id="411" name="Google Shape;411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4262" y="3609130"/>
            <a:ext cx="7186199" cy="2904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9035" y="2148839"/>
            <a:ext cx="5823064" cy="113538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3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29108" y="2206751"/>
            <a:ext cx="4931515" cy="297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9035" y="548640"/>
            <a:ext cx="5823064" cy="1135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0770" y="2945610"/>
            <a:ext cx="5353232" cy="1707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3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09987" y="4904112"/>
            <a:ext cx="4381666" cy="176093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3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3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5876138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Removing Ambiguity</a:t>
            </a:r>
            <a:endParaRPr dirty="0"/>
          </a:p>
        </p:txBody>
      </p:sp>
      <p:sp>
        <p:nvSpPr>
          <p:cNvPr id="428" name="Google Shape;428;p33"/>
          <p:cNvSpPr txBox="1"/>
          <p:nvPr/>
        </p:nvSpPr>
        <p:spPr>
          <a:xfrm>
            <a:off x="707542" y="1775205"/>
            <a:ext cx="4119245" cy="1289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413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Ambiguity can be handled in several ways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7865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-US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Enforce associativity and precedence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7865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-US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Rewrite the grammar (cleanest way)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3"/>
          <p:cNvSpPr txBox="1"/>
          <p:nvPr/>
        </p:nvSpPr>
        <p:spPr>
          <a:xfrm>
            <a:off x="707542" y="3403219"/>
            <a:ext cx="6000115" cy="1129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413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no general techniques for handling ambiguity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endParaRPr sz="2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019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	is	impossible	to	convert	automatically	an	ambiguous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0" algn="l" rtl="0">
              <a:lnSpc>
                <a:spcPct val="101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unambiguous one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3"/>
          <p:cNvSpPr txBox="1"/>
          <p:nvPr/>
        </p:nvSpPr>
        <p:spPr>
          <a:xfrm>
            <a:off x="6835267" y="4039946"/>
            <a:ext cx="1603375" cy="300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grammar	to	an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3"/>
          <p:cNvSpPr txBox="1"/>
          <p:nvPr/>
        </p:nvSpPr>
        <p:spPr>
          <a:xfrm>
            <a:off x="707542" y="4871084"/>
            <a:ext cx="10493858" cy="871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4600" rIns="0" bIns="0" anchor="t" anchorCtr="0">
            <a:spAutoFit/>
          </a:bodyPr>
          <a:lstStyle/>
          <a:p>
            <a:pPr marL="241300" marR="5080" lvl="0" indent="-228600" algn="just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Ambiguity is harmful to the intent of the program. The input might be  deciphered in a way which was not really the intention of the programmer, as  shown above in the 9-5+2 example. Though there is no general technique to  handle ambiguity i.e., it is not possible to develop some feature which  automatically identifies and removes ambiguity from any grammar.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3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4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402905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Associativity</a:t>
            </a:r>
            <a:endParaRPr dirty="0"/>
          </a:p>
        </p:txBody>
      </p:sp>
      <p:sp>
        <p:nvSpPr>
          <p:cNvPr id="438" name="Google Shape;438;p34"/>
          <p:cNvSpPr txBox="1"/>
          <p:nvPr/>
        </p:nvSpPr>
        <p:spPr>
          <a:xfrm>
            <a:off x="707542" y="1764537"/>
            <a:ext cx="11015066" cy="4017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7150" rIns="0" bIns="0" anchor="t" anchorCtr="0">
            <a:spAutoFit/>
          </a:bodyPr>
          <a:lstStyle/>
          <a:p>
            <a:pPr marL="241300" marR="5080" lvl="0" indent="-22860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an operand has operator on both the sides,  the side on which operator takes this operand  is the associativity of that operator</a:t>
            </a: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just" rtl="0">
              <a:lnSpc>
                <a:spcPct val="118892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+, -, *, / are left associative</a:t>
            </a: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9900" marR="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660000"/>
                </a:solidFill>
                <a:latin typeface="Arial"/>
                <a:ea typeface="Arial"/>
                <a:cs typeface="Arial"/>
                <a:sym typeface="Arial"/>
              </a:rPr>
              <a:t>For example,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27100" marR="0" lvl="0" indent="0" algn="l" rtl="0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660000"/>
                </a:solidFill>
                <a:latin typeface="Arial"/>
                <a:ea typeface="Arial"/>
                <a:cs typeface="Arial"/>
                <a:sym typeface="Arial"/>
              </a:rPr>
              <a:t>6*5*4 = (6*5)*4 and not 6*(5*4)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27100" marR="0" lvl="0" indent="0" algn="l" rtl="0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660000"/>
                </a:solidFill>
                <a:latin typeface="Arial"/>
                <a:ea typeface="Arial"/>
                <a:cs typeface="Arial"/>
                <a:sym typeface="Arial"/>
              </a:rPr>
              <a:t>6/5/4 = (6/5)/4 and not 6/(5/4)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41300" marR="0" lvl="0" indent="-228600" algn="just" rtl="0">
              <a:lnSpc>
                <a:spcPct val="11875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^, = are right associative</a:t>
            </a: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9900" marR="0" lvl="0" indent="0" algn="l" rtl="0">
              <a:lnSpc>
                <a:spcPct val="1185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660000"/>
                </a:solidFill>
                <a:latin typeface="Arial"/>
                <a:ea typeface="Arial"/>
                <a:cs typeface="Arial"/>
                <a:sym typeface="Arial"/>
              </a:rPr>
              <a:t>For example,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27100" marR="0" lvl="0" indent="0" algn="l" rtl="0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660000"/>
                </a:solidFill>
                <a:latin typeface="Arial"/>
                <a:ea typeface="Arial"/>
                <a:cs typeface="Arial"/>
                <a:sym typeface="Arial"/>
              </a:rPr>
              <a:t>6^5^4 =&gt; 6^(5^4) and not (6^5)^4)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27100" marR="0" lvl="0" indent="0" algn="l" rtl="0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660000"/>
                </a:solidFill>
                <a:latin typeface="Arial"/>
                <a:ea typeface="Arial"/>
                <a:cs typeface="Arial"/>
                <a:sym typeface="Arial"/>
              </a:rPr>
              <a:t>x=y=z=5 =&gt; x=(y=(z=5))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3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5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3452978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Precedence</a:t>
            </a:r>
            <a:endParaRPr dirty="0"/>
          </a:p>
        </p:txBody>
      </p:sp>
      <p:sp>
        <p:nvSpPr>
          <p:cNvPr id="445" name="Google Shape;445;p35"/>
          <p:cNvSpPr txBox="1"/>
          <p:nvPr/>
        </p:nvSpPr>
        <p:spPr>
          <a:xfrm>
            <a:off x="707542" y="1764538"/>
            <a:ext cx="10557866" cy="3709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4775" rIns="0" bIns="0" anchor="t" anchorCtr="0">
            <a:spAutoFit/>
          </a:bodyPr>
          <a:lstStyle/>
          <a:p>
            <a:pPr marL="241300" marR="5080" lvl="0" indent="-2286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String	 a+5*2	has	two	possible	interpretations	because	of	two  different parse trees corresponding to (a+5)*2 and a+(5*2)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Precedence determines the correct interpretation.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41300" marR="8255" lvl="0" indent="-228600" algn="l" rtl="0">
              <a:lnSpc>
                <a:spcPct val="70000"/>
              </a:lnSpc>
              <a:spcBef>
                <a:spcPts val="101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Precedence is a simple ordering, based on either importance or  sequence.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41300" marR="5715" lvl="0" indent="-228600" algn="l" rtl="0">
              <a:lnSpc>
                <a:spcPct val="70000"/>
              </a:lnSpc>
              <a:spcBef>
                <a:spcPts val="994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thing is said to "take precedence" over another if it is either  regarded as more important or is to be performed first.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41300" marR="0" lvl="0" indent="-228600" algn="l" rtl="0">
              <a:lnSpc>
                <a:spcPct val="101950"/>
              </a:lnSpc>
              <a:spcBef>
                <a:spcPts val="2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example, consider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a+5*2.	</a:t>
            </a:r>
          </a:p>
          <a:p>
            <a:pPr marL="241300" marR="0" lvl="0" indent="-228600" algn="l" rtl="0">
              <a:lnSpc>
                <a:spcPct val="101950"/>
              </a:lnSpc>
              <a:spcBef>
                <a:spcPts val="2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has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possible interpretations because of two different parse trees corresponding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(a+5)*2 and a+(5*2).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the * operator has precedence over the + operator.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41300" marR="8255" lvl="0" indent="-228600" algn="l" rtl="0">
              <a:lnSpc>
                <a:spcPct val="70000"/>
              </a:lnSpc>
              <a:spcBef>
                <a:spcPts val="994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So, the second interpretation is correct. Hence, the precedence  determines the correct interpretation.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5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6"/>
          <p:cNvSpPr txBox="1">
            <a:spLocks noGrp="1"/>
          </p:cNvSpPr>
          <p:nvPr>
            <p:ph type="title"/>
          </p:nvPr>
        </p:nvSpPr>
        <p:spPr>
          <a:xfrm>
            <a:off x="707541" y="609676"/>
            <a:ext cx="7621347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Unambiguous Grammar</a:t>
            </a:r>
            <a:endParaRPr dirty="0"/>
          </a:p>
        </p:txBody>
      </p:sp>
      <p:pic>
        <p:nvPicPr>
          <p:cNvPr id="452" name="Google Shape;452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886" y="4145088"/>
            <a:ext cx="7483003" cy="1796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24651" y="1712758"/>
            <a:ext cx="5823064" cy="113422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4" name="Google Shape;454;p36"/>
          <p:cNvGrpSpPr/>
          <p:nvPr/>
        </p:nvGrpSpPr>
        <p:grpSpPr>
          <a:xfrm>
            <a:off x="4283964" y="2935223"/>
            <a:ext cx="527685" cy="988060"/>
            <a:chOff x="4283964" y="2935223"/>
            <a:chExt cx="527685" cy="988060"/>
          </a:xfrm>
        </p:grpSpPr>
        <p:sp>
          <p:nvSpPr>
            <p:cNvPr id="455" name="Google Shape;455;p36"/>
            <p:cNvSpPr/>
            <p:nvPr/>
          </p:nvSpPr>
          <p:spPr>
            <a:xfrm>
              <a:off x="4283964" y="2935223"/>
              <a:ext cx="527685" cy="988060"/>
            </a:xfrm>
            <a:custGeom>
              <a:avLst/>
              <a:gdLst/>
              <a:ahLst/>
              <a:cxnLst/>
              <a:rect l="l" t="t" r="r" b="b"/>
              <a:pathLst>
                <a:path w="527685" h="988060" extrusionOk="0">
                  <a:moveTo>
                    <a:pt x="395477" y="0"/>
                  </a:moveTo>
                  <a:lnTo>
                    <a:pt x="131825" y="0"/>
                  </a:lnTo>
                  <a:lnTo>
                    <a:pt x="131825" y="723900"/>
                  </a:lnTo>
                  <a:lnTo>
                    <a:pt x="0" y="723900"/>
                  </a:lnTo>
                  <a:lnTo>
                    <a:pt x="263651" y="987551"/>
                  </a:lnTo>
                  <a:lnTo>
                    <a:pt x="527303" y="723900"/>
                  </a:lnTo>
                  <a:lnTo>
                    <a:pt x="395477" y="723900"/>
                  </a:lnTo>
                  <a:lnTo>
                    <a:pt x="395477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36"/>
            <p:cNvSpPr/>
            <p:nvPr/>
          </p:nvSpPr>
          <p:spPr>
            <a:xfrm>
              <a:off x="4283964" y="2935223"/>
              <a:ext cx="527685" cy="988060"/>
            </a:xfrm>
            <a:custGeom>
              <a:avLst/>
              <a:gdLst/>
              <a:ahLst/>
              <a:cxnLst/>
              <a:rect l="l" t="t" r="r" b="b"/>
              <a:pathLst>
                <a:path w="527685" h="988060" extrusionOk="0">
                  <a:moveTo>
                    <a:pt x="0" y="723900"/>
                  </a:moveTo>
                  <a:lnTo>
                    <a:pt x="131825" y="723900"/>
                  </a:lnTo>
                  <a:lnTo>
                    <a:pt x="131825" y="0"/>
                  </a:lnTo>
                  <a:lnTo>
                    <a:pt x="395477" y="0"/>
                  </a:lnTo>
                  <a:lnTo>
                    <a:pt x="395477" y="723900"/>
                  </a:lnTo>
                  <a:lnTo>
                    <a:pt x="527303" y="723900"/>
                  </a:lnTo>
                  <a:lnTo>
                    <a:pt x="263651" y="987551"/>
                  </a:lnTo>
                  <a:lnTo>
                    <a:pt x="0" y="723900"/>
                  </a:lnTo>
                  <a:close/>
                </a:path>
              </a:pathLst>
            </a:custGeom>
            <a:noFill/>
            <a:ln w="12700" cap="flat" cmpd="sng">
              <a:solidFill>
                <a:srgbClr val="2E52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7" name="Google Shape;457;p36"/>
          <p:cNvSpPr txBox="1"/>
          <p:nvPr/>
        </p:nvSpPr>
        <p:spPr>
          <a:xfrm>
            <a:off x="4890261" y="3019805"/>
            <a:ext cx="3564254" cy="568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6650" rIns="0" bIns="0" anchor="t" anchorCtr="0">
            <a:spAutoFit/>
          </a:bodyPr>
          <a:lstStyle/>
          <a:p>
            <a:pPr marL="12700" marR="5080" lvl="0" indent="0" algn="l" rtl="0">
              <a:lnSpc>
                <a:spcPct val="117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General rule: match each </a:t>
            </a: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else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 the closest previous </a:t>
            </a: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36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7"/>
          <p:cNvSpPr txBox="1">
            <a:spLocks noGrp="1"/>
          </p:cNvSpPr>
          <p:nvPr>
            <p:ph type="title"/>
          </p:nvPr>
        </p:nvSpPr>
        <p:spPr>
          <a:xfrm>
            <a:off x="707542" y="324993"/>
            <a:ext cx="10402418" cy="821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12700" marR="5080" lvl="0" indent="0" algn="l" rtl="0">
              <a:lnSpc>
                <a:spcPct val="107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General types of parsers for  grammars</a:t>
            </a:r>
            <a:endParaRPr dirty="0"/>
          </a:p>
        </p:txBody>
      </p:sp>
      <p:sp>
        <p:nvSpPr>
          <p:cNvPr id="464" name="Google Shape;464;p37"/>
          <p:cNvSpPr txBox="1"/>
          <p:nvPr/>
        </p:nvSpPr>
        <p:spPr>
          <a:xfrm>
            <a:off x="707542" y="1757665"/>
            <a:ext cx="634746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7625" rIns="0" bIns="0" anchor="t" anchorCtr="0">
            <a:spAutoFit/>
          </a:bodyPr>
          <a:lstStyle/>
          <a:p>
            <a:pPr marL="2413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Universal (INEFFICIENT)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7865" marR="0" lvl="1" indent="-228600" algn="l" rtl="0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Cocke-Younger-Kasami algorithm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7865" marR="0" lvl="1" indent="-228600" algn="l" rtl="0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Earley’s algorithm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Top-down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7865" marR="0" lvl="1" indent="-228600" algn="l" rtl="0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Parse trees from top (root) to bottom (leaves)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Bottom-up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7865" marR="0" lvl="1" indent="-228600" algn="l" rtl="0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Parse trees from bottom (leaves) to top (root)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5" name="Google Shape;465;p37"/>
          <p:cNvGrpSpPr/>
          <p:nvPr/>
        </p:nvGrpSpPr>
        <p:grpSpPr>
          <a:xfrm>
            <a:off x="6957821" y="2107692"/>
            <a:ext cx="1799209" cy="2792729"/>
            <a:chOff x="6957821" y="2107692"/>
            <a:chExt cx="1799209" cy="2792729"/>
          </a:xfrm>
        </p:grpSpPr>
        <p:sp>
          <p:nvSpPr>
            <p:cNvPr id="466" name="Google Shape;466;p37"/>
            <p:cNvSpPr/>
            <p:nvPr/>
          </p:nvSpPr>
          <p:spPr>
            <a:xfrm>
              <a:off x="6957821" y="3170682"/>
              <a:ext cx="417830" cy="1729739"/>
            </a:xfrm>
            <a:custGeom>
              <a:avLst/>
              <a:gdLst/>
              <a:ahLst/>
              <a:cxnLst/>
              <a:rect l="l" t="t" r="r" b="b"/>
              <a:pathLst>
                <a:path w="417829" h="1729739" extrusionOk="0">
                  <a:moveTo>
                    <a:pt x="0" y="0"/>
                  </a:moveTo>
                  <a:lnTo>
                    <a:pt x="65995" y="1777"/>
                  </a:lnTo>
                  <a:lnTo>
                    <a:pt x="123309" y="6725"/>
                  </a:lnTo>
                  <a:lnTo>
                    <a:pt x="168505" y="14264"/>
                  </a:lnTo>
                  <a:lnTo>
                    <a:pt x="208787" y="34797"/>
                  </a:lnTo>
                  <a:lnTo>
                    <a:pt x="208787" y="830071"/>
                  </a:lnTo>
                  <a:lnTo>
                    <a:pt x="219431" y="841054"/>
                  </a:lnTo>
                  <a:lnTo>
                    <a:pt x="249070" y="850605"/>
                  </a:lnTo>
                  <a:lnTo>
                    <a:pt x="294266" y="858144"/>
                  </a:lnTo>
                  <a:lnTo>
                    <a:pt x="351580" y="863091"/>
                  </a:lnTo>
                  <a:lnTo>
                    <a:pt x="417575" y="864869"/>
                  </a:lnTo>
                  <a:lnTo>
                    <a:pt x="351580" y="866647"/>
                  </a:lnTo>
                  <a:lnTo>
                    <a:pt x="294266" y="871595"/>
                  </a:lnTo>
                  <a:lnTo>
                    <a:pt x="249070" y="879134"/>
                  </a:lnTo>
                  <a:lnTo>
                    <a:pt x="219431" y="888685"/>
                  </a:lnTo>
                  <a:lnTo>
                    <a:pt x="208787" y="899667"/>
                  </a:lnTo>
                  <a:lnTo>
                    <a:pt x="208787" y="1694941"/>
                  </a:lnTo>
                  <a:lnTo>
                    <a:pt x="198144" y="1705924"/>
                  </a:lnTo>
                  <a:lnTo>
                    <a:pt x="168505" y="1715475"/>
                  </a:lnTo>
                  <a:lnTo>
                    <a:pt x="123309" y="1723014"/>
                  </a:lnTo>
                  <a:lnTo>
                    <a:pt x="65995" y="1727962"/>
                  </a:lnTo>
                  <a:lnTo>
                    <a:pt x="0" y="1729739"/>
                  </a:lnTo>
                </a:path>
              </a:pathLst>
            </a:custGeom>
            <a:noFill/>
            <a:ln w="28575" cap="flat" cmpd="sng">
              <a:solidFill>
                <a:srgbClr val="4471C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37"/>
            <p:cNvSpPr/>
            <p:nvPr/>
          </p:nvSpPr>
          <p:spPr>
            <a:xfrm>
              <a:off x="7275575" y="2107692"/>
              <a:ext cx="1481455" cy="1924685"/>
            </a:xfrm>
            <a:custGeom>
              <a:avLst/>
              <a:gdLst/>
              <a:ahLst/>
              <a:cxnLst/>
              <a:rect l="l" t="t" r="r" b="b"/>
              <a:pathLst>
                <a:path w="1481454" h="1924685" extrusionOk="0">
                  <a:moveTo>
                    <a:pt x="1481327" y="0"/>
                  </a:moveTo>
                  <a:lnTo>
                    <a:pt x="0" y="0"/>
                  </a:lnTo>
                  <a:lnTo>
                    <a:pt x="0" y="1648968"/>
                  </a:lnTo>
                  <a:lnTo>
                    <a:pt x="246888" y="1648968"/>
                  </a:lnTo>
                  <a:lnTo>
                    <a:pt x="153670" y="1924685"/>
                  </a:lnTo>
                  <a:lnTo>
                    <a:pt x="617220" y="1648968"/>
                  </a:lnTo>
                  <a:lnTo>
                    <a:pt x="1481327" y="1648968"/>
                  </a:lnTo>
                  <a:lnTo>
                    <a:pt x="1481327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37"/>
            <p:cNvSpPr/>
            <p:nvPr/>
          </p:nvSpPr>
          <p:spPr>
            <a:xfrm>
              <a:off x="7275575" y="2107692"/>
              <a:ext cx="1481455" cy="1924685"/>
            </a:xfrm>
            <a:custGeom>
              <a:avLst/>
              <a:gdLst/>
              <a:ahLst/>
              <a:cxnLst/>
              <a:rect l="l" t="t" r="r" b="b"/>
              <a:pathLst>
                <a:path w="1481454" h="1924685" extrusionOk="0">
                  <a:moveTo>
                    <a:pt x="0" y="0"/>
                  </a:moveTo>
                  <a:lnTo>
                    <a:pt x="246888" y="0"/>
                  </a:lnTo>
                  <a:lnTo>
                    <a:pt x="617220" y="0"/>
                  </a:lnTo>
                  <a:lnTo>
                    <a:pt x="1481327" y="0"/>
                  </a:lnTo>
                  <a:lnTo>
                    <a:pt x="1481327" y="961898"/>
                  </a:lnTo>
                  <a:lnTo>
                    <a:pt x="1481327" y="1374140"/>
                  </a:lnTo>
                  <a:lnTo>
                    <a:pt x="1481327" y="1648968"/>
                  </a:lnTo>
                  <a:lnTo>
                    <a:pt x="617220" y="1648968"/>
                  </a:lnTo>
                  <a:lnTo>
                    <a:pt x="153670" y="1924685"/>
                  </a:lnTo>
                  <a:lnTo>
                    <a:pt x="246888" y="1648968"/>
                  </a:lnTo>
                  <a:lnTo>
                    <a:pt x="0" y="1648968"/>
                  </a:lnTo>
                  <a:lnTo>
                    <a:pt x="0" y="1374140"/>
                  </a:lnTo>
                  <a:lnTo>
                    <a:pt x="0" y="96189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2E52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9" name="Google Shape;469;p37"/>
          <p:cNvSpPr txBox="1"/>
          <p:nvPr/>
        </p:nvSpPr>
        <p:spPr>
          <a:xfrm>
            <a:off x="7368285" y="2218690"/>
            <a:ext cx="1296035" cy="1397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065" marR="5080" lvl="0" indent="1269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  scanned from  left to right;  one symbol  at a time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7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8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7631786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Classification of Parsers</a:t>
            </a:r>
            <a:endParaRPr dirty="0"/>
          </a:p>
        </p:txBody>
      </p:sp>
      <p:grpSp>
        <p:nvGrpSpPr>
          <p:cNvPr id="476" name="Google Shape;476;p38"/>
          <p:cNvGrpSpPr/>
          <p:nvPr/>
        </p:nvGrpSpPr>
        <p:grpSpPr>
          <a:xfrm>
            <a:off x="1295400" y="1691639"/>
            <a:ext cx="6056629" cy="4712081"/>
            <a:chOff x="1295400" y="1691639"/>
            <a:chExt cx="6056629" cy="4712081"/>
          </a:xfrm>
        </p:grpSpPr>
        <p:sp>
          <p:nvSpPr>
            <p:cNvPr id="477" name="Google Shape;477;p38"/>
            <p:cNvSpPr/>
            <p:nvPr/>
          </p:nvSpPr>
          <p:spPr>
            <a:xfrm>
              <a:off x="5852159" y="3191255"/>
              <a:ext cx="1499870" cy="260350"/>
            </a:xfrm>
            <a:custGeom>
              <a:avLst/>
              <a:gdLst/>
              <a:ahLst/>
              <a:cxnLst/>
              <a:rect l="l" t="t" r="r" b="b"/>
              <a:pathLst>
                <a:path w="1499870" h="260350" extrusionOk="0">
                  <a:moveTo>
                    <a:pt x="749808" y="0"/>
                  </a:moveTo>
                  <a:lnTo>
                    <a:pt x="749808" y="130175"/>
                  </a:lnTo>
                  <a:lnTo>
                    <a:pt x="1499869" y="130175"/>
                  </a:lnTo>
                  <a:lnTo>
                    <a:pt x="1499869" y="260350"/>
                  </a:lnTo>
                </a:path>
                <a:path w="1499870" h="260350" extrusionOk="0">
                  <a:moveTo>
                    <a:pt x="750062" y="0"/>
                  </a:moveTo>
                  <a:lnTo>
                    <a:pt x="750062" y="130175"/>
                  </a:lnTo>
                  <a:lnTo>
                    <a:pt x="0" y="130175"/>
                  </a:lnTo>
                  <a:lnTo>
                    <a:pt x="0" y="260350"/>
                  </a:lnTo>
                </a:path>
              </a:pathLst>
            </a:custGeom>
            <a:noFill/>
            <a:ln w="12700" cap="flat" cmpd="sng">
              <a:solidFill>
                <a:srgbClr val="3C67B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38"/>
            <p:cNvSpPr/>
            <p:nvPr/>
          </p:nvSpPr>
          <p:spPr>
            <a:xfrm>
              <a:off x="2542032" y="2311907"/>
              <a:ext cx="4060190" cy="260350"/>
            </a:xfrm>
            <a:custGeom>
              <a:avLst/>
              <a:gdLst/>
              <a:ahLst/>
              <a:cxnLst/>
              <a:rect l="l" t="t" r="r" b="b"/>
              <a:pathLst>
                <a:path w="4060190" h="260350" extrusionOk="0">
                  <a:moveTo>
                    <a:pt x="2029968" y="0"/>
                  </a:moveTo>
                  <a:lnTo>
                    <a:pt x="2029968" y="130175"/>
                  </a:lnTo>
                  <a:lnTo>
                    <a:pt x="4060063" y="130175"/>
                  </a:lnTo>
                  <a:lnTo>
                    <a:pt x="4060063" y="260350"/>
                  </a:lnTo>
                </a:path>
                <a:path w="4060190" h="260350" extrusionOk="0">
                  <a:moveTo>
                    <a:pt x="2030095" y="0"/>
                  </a:moveTo>
                  <a:lnTo>
                    <a:pt x="2030095" y="130175"/>
                  </a:lnTo>
                  <a:lnTo>
                    <a:pt x="0" y="130175"/>
                  </a:lnTo>
                  <a:lnTo>
                    <a:pt x="0" y="260350"/>
                  </a:lnTo>
                </a:path>
              </a:pathLst>
            </a:custGeom>
            <a:noFill/>
            <a:ln w="12700" cap="flat" cmpd="sng">
              <a:solidFill>
                <a:srgbClr val="34589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38"/>
            <p:cNvSpPr/>
            <p:nvPr/>
          </p:nvSpPr>
          <p:spPr>
            <a:xfrm>
              <a:off x="3951732" y="1691639"/>
              <a:ext cx="1240790" cy="620395"/>
            </a:xfrm>
            <a:custGeom>
              <a:avLst/>
              <a:gdLst/>
              <a:ahLst/>
              <a:cxnLst/>
              <a:rect l="l" t="t" r="r" b="b"/>
              <a:pathLst>
                <a:path w="1240789" h="620394" extrusionOk="0">
                  <a:moveTo>
                    <a:pt x="1240536" y="0"/>
                  </a:moveTo>
                  <a:lnTo>
                    <a:pt x="0" y="0"/>
                  </a:lnTo>
                  <a:lnTo>
                    <a:pt x="0" y="620267"/>
                  </a:lnTo>
                  <a:lnTo>
                    <a:pt x="1240536" y="620267"/>
                  </a:lnTo>
                  <a:lnTo>
                    <a:pt x="1240536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38"/>
            <p:cNvSpPr/>
            <p:nvPr/>
          </p:nvSpPr>
          <p:spPr>
            <a:xfrm>
              <a:off x="3951732" y="1691639"/>
              <a:ext cx="1240790" cy="620395"/>
            </a:xfrm>
            <a:custGeom>
              <a:avLst/>
              <a:gdLst/>
              <a:ahLst/>
              <a:cxnLst/>
              <a:rect l="l" t="t" r="r" b="b"/>
              <a:pathLst>
                <a:path w="1240789" h="620394" extrusionOk="0">
                  <a:moveTo>
                    <a:pt x="0" y="620267"/>
                  </a:moveTo>
                  <a:lnTo>
                    <a:pt x="1240536" y="620267"/>
                  </a:lnTo>
                  <a:lnTo>
                    <a:pt x="1240536" y="0"/>
                  </a:lnTo>
                  <a:lnTo>
                    <a:pt x="0" y="0"/>
                  </a:lnTo>
                  <a:lnTo>
                    <a:pt x="0" y="620267"/>
                  </a:lnTo>
                  <a:close/>
                </a:path>
              </a:pathLst>
            </a:cu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38"/>
            <p:cNvSpPr/>
            <p:nvPr/>
          </p:nvSpPr>
          <p:spPr>
            <a:xfrm>
              <a:off x="1295400" y="3191255"/>
              <a:ext cx="5307330" cy="3212465"/>
            </a:xfrm>
            <a:custGeom>
              <a:avLst/>
              <a:gdLst/>
              <a:ahLst/>
              <a:cxnLst/>
              <a:rect l="l" t="t" r="r" b="b"/>
              <a:pathLst>
                <a:path w="5307330" h="3212465" extrusionOk="0">
                  <a:moveTo>
                    <a:pt x="1246632" y="0"/>
                  </a:moveTo>
                  <a:lnTo>
                    <a:pt x="1246632" y="130175"/>
                  </a:lnTo>
                  <a:lnTo>
                    <a:pt x="1996694" y="130175"/>
                  </a:lnTo>
                  <a:lnTo>
                    <a:pt x="1996694" y="260350"/>
                  </a:lnTo>
                </a:path>
                <a:path w="5307330" h="3212465" extrusionOk="0">
                  <a:moveTo>
                    <a:pt x="1246886" y="0"/>
                  </a:moveTo>
                  <a:lnTo>
                    <a:pt x="1246886" y="130175"/>
                  </a:lnTo>
                  <a:lnTo>
                    <a:pt x="496824" y="130175"/>
                  </a:lnTo>
                  <a:lnTo>
                    <a:pt x="496824" y="260350"/>
                  </a:lnTo>
                </a:path>
                <a:path w="5307330" h="3212465" extrusionOk="0">
                  <a:moveTo>
                    <a:pt x="0" y="880872"/>
                  </a:moveTo>
                  <a:lnTo>
                    <a:pt x="0" y="1451102"/>
                  </a:lnTo>
                  <a:lnTo>
                    <a:pt x="185928" y="1451102"/>
                  </a:lnTo>
                </a:path>
                <a:path w="5307330" h="3212465" extrusionOk="0">
                  <a:moveTo>
                    <a:pt x="1501139" y="880872"/>
                  </a:moveTo>
                  <a:lnTo>
                    <a:pt x="1501139" y="2331339"/>
                  </a:lnTo>
                  <a:lnTo>
                    <a:pt x="1687068" y="2331339"/>
                  </a:lnTo>
                </a:path>
                <a:path w="5307330" h="3212465" extrusionOk="0">
                  <a:moveTo>
                    <a:pt x="1501139" y="880872"/>
                  </a:moveTo>
                  <a:lnTo>
                    <a:pt x="1501139" y="1451102"/>
                  </a:lnTo>
                  <a:lnTo>
                    <a:pt x="1687068" y="1451102"/>
                  </a:lnTo>
                </a:path>
                <a:path w="5307330" h="3212465" extrusionOk="0">
                  <a:moveTo>
                    <a:pt x="4556760" y="880872"/>
                  </a:moveTo>
                  <a:lnTo>
                    <a:pt x="4556760" y="1011047"/>
                  </a:lnTo>
                  <a:lnTo>
                    <a:pt x="5306822" y="1011047"/>
                  </a:lnTo>
                  <a:lnTo>
                    <a:pt x="5306822" y="1141222"/>
                  </a:lnTo>
                </a:path>
                <a:path w="5307330" h="3212465" extrusionOk="0">
                  <a:moveTo>
                    <a:pt x="4557014" y="880872"/>
                  </a:moveTo>
                  <a:lnTo>
                    <a:pt x="4557014" y="1011047"/>
                  </a:lnTo>
                  <a:lnTo>
                    <a:pt x="3806952" y="1011047"/>
                  </a:lnTo>
                  <a:lnTo>
                    <a:pt x="3806952" y="1141222"/>
                  </a:lnTo>
                </a:path>
                <a:path w="5307330" h="3212465" extrusionOk="0">
                  <a:moveTo>
                    <a:pt x="3310128" y="1761744"/>
                  </a:moveTo>
                  <a:lnTo>
                    <a:pt x="3310128" y="3212236"/>
                  </a:lnTo>
                  <a:lnTo>
                    <a:pt x="3496055" y="3212236"/>
                  </a:lnTo>
                </a:path>
                <a:path w="5307330" h="3212465" extrusionOk="0">
                  <a:moveTo>
                    <a:pt x="3310128" y="1761744"/>
                  </a:moveTo>
                  <a:lnTo>
                    <a:pt x="3310128" y="2331974"/>
                  </a:lnTo>
                  <a:lnTo>
                    <a:pt x="3496055" y="2331974"/>
                  </a:lnTo>
                </a:path>
                <a:path w="5307330" h="3212465" extrusionOk="0">
                  <a:moveTo>
                    <a:pt x="4811268" y="1761744"/>
                  </a:moveTo>
                  <a:lnTo>
                    <a:pt x="4811268" y="3212236"/>
                  </a:lnTo>
                  <a:lnTo>
                    <a:pt x="4997196" y="3212236"/>
                  </a:lnTo>
                </a:path>
                <a:path w="5307330" h="3212465" extrusionOk="0">
                  <a:moveTo>
                    <a:pt x="4811268" y="1761744"/>
                  </a:moveTo>
                  <a:lnTo>
                    <a:pt x="4811268" y="2331974"/>
                  </a:lnTo>
                  <a:lnTo>
                    <a:pt x="4997196" y="2331974"/>
                  </a:lnTo>
                </a:path>
              </a:pathLst>
            </a:custGeom>
            <a:noFill/>
            <a:ln w="12700" cap="flat" cmpd="sng">
              <a:solidFill>
                <a:srgbClr val="3C67B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2" name="Google Shape;482;p38"/>
          <p:cNvSpPr txBox="1"/>
          <p:nvPr/>
        </p:nvSpPr>
        <p:spPr>
          <a:xfrm>
            <a:off x="4338065" y="1879853"/>
            <a:ext cx="470534" cy="20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Parsers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3" name="Google Shape;483;p38"/>
          <p:cNvGrpSpPr/>
          <p:nvPr/>
        </p:nvGrpSpPr>
        <p:grpSpPr>
          <a:xfrm>
            <a:off x="1921764" y="2572511"/>
            <a:ext cx="1240790" cy="619125"/>
            <a:chOff x="1921764" y="2572511"/>
            <a:chExt cx="1240790" cy="619125"/>
          </a:xfrm>
        </p:grpSpPr>
        <p:sp>
          <p:nvSpPr>
            <p:cNvPr id="484" name="Google Shape;484;p38"/>
            <p:cNvSpPr/>
            <p:nvPr/>
          </p:nvSpPr>
          <p:spPr>
            <a:xfrm>
              <a:off x="1921764" y="2572511"/>
              <a:ext cx="1240790" cy="619125"/>
            </a:xfrm>
            <a:custGeom>
              <a:avLst/>
              <a:gdLst/>
              <a:ahLst/>
              <a:cxnLst/>
              <a:rect l="l" t="t" r="r" b="b"/>
              <a:pathLst>
                <a:path w="1240789" h="619125" extrusionOk="0">
                  <a:moveTo>
                    <a:pt x="1240536" y="0"/>
                  </a:moveTo>
                  <a:lnTo>
                    <a:pt x="0" y="0"/>
                  </a:lnTo>
                  <a:lnTo>
                    <a:pt x="0" y="618744"/>
                  </a:lnTo>
                  <a:lnTo>
                    <a:pt x="1240536" y="618744"/>
                  </a:lnTo>
                  <a:lnTo>
                    <a:pt x="1240536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38"/>
            <p:cNvSpPr/>
            <p:nvPr/>
          </p:nvSpPr>
          <p:spPr>
            <a:xfrm>
              <a:off x="1921764" y="2572511"/>
              <a:ext cx="1240790" cy="619125"/>
            </a:xfrm>
            <a:custGeom>
              <a:avLst/>
              <a:gdLst/>
              <a:ahLst/>
              <a:cxnLst/>
              <a:rect l="l" t="t" r="r" b="b"/>
              <a:pathLst>
                <a:path w="1240789" h="619125" extrusionOk="0">
                  <a:moveTo>
                    <a:pt x="0" y="618744"/>
                  </a:moveTo>
                  <a:lnTo>
                    <a:pt x="1240536" y="618744"/>
                  </a:lnTo>
                  <a:lnTo>
                    <a:pt x="1240536" y="0"/>
                  </a:lnTo>
                  <a:lnTo>
                    <a:pt x="0" y="0"/>
                  </a:lnTo>
                  <a:lnTo>
                    <a:pt x="0" y="618744"/>
                  </a:lnTo>
                  <a:close/>
                </a:path>
              </a:pathLst>
            </a:custGeom>
            <a:noFill/>
            <a:ln w="126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6" name="Google Shape;486;p38"/>
          <p:cNvSpPr txBox="1"/>
          <p:nvPr/>
        </p:nvSpPr>
        <p:spPr>
          <a:xfrm>
            <a:off x="2219070" y="2760345"/>
            <a:ext cx="645160" cy="20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Top-down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7" name="Google Shape;487;p38"/>
          <p:cNvGrpSpPr/>
          <p:nvPr/>
        </p:nvGrpSpPr>
        <p:grpSpPr>
          <a:xfrm>
            <a:off x="1171955" y="3451859"/>
            <a:ext cx="1240790" cy="620395"/>
            <a:chOff x="1171955" y="3451859"/>
            <a:chExt cx="1240790" cy="620395"/>
          </a:xfrm>
        </p:grpSpPr>
        <p:sp>
          <p:nvSpPr>
            <p:cNvPr id="488" name="Google Shape;488;p38"/>
            <p:cNvSpPr/>
            <p:nvPr/>
          </p:nvSpPr>
          <p:spPr>
            <a:xfrm>
              <a:off x="1171955" y="3451859"/>
              <a:ext cx="1240790" cy="620395"/>
            </a:xfrm>
            <a:custGeom>
              <a:avLst/>
              <a:gdLst/>
              <a:ahLst/>
              <a:cxnLst/>
              <a:rect l="l" t="t" r="r" b="b"/>
              <a:pathLst>
                <a:path w="1240789" h="620395" extrusionOk="0">
                  <a:moveTo>
                    <a:pt x="1240536" y="0"/>
                  </a:moveTo>
                  <a:lnTo>
                    <a:pt x="0" y="0"/>
                  </a:lnTo>
                  <a:lnTo>
                    <a:pt x="0" y="620268"/>
                  </a:lnTo>
                  <a:lnTo>
                    <a:pt x="1240536" y="620268"/>
                  </a:lnTo>
                  <a:lnTo>
                    <a:pt x="1240536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38"/>
            <p:cNvSpPr/>
            <p:nvPr/>
          </p:nvSpPr>
          <p:spPr>
            <a:xfrm>
              <a:off x="1171955" y="3451859"/>
              <a:ext cx="1240790" cy="620395"/>
            </a:xfrm>
            <a:custGeom>
              <a:avLst/>
              <a:gdLst/>
              <a:ahLst/>
              <a:cxnLst/>
              <a:rect l="l" t="t" r="r" b="b"/>
              <a:pathLst>
                <a:path w="1240789" h="620395" extrusionOk="0">
                  <a:moveTo>
                    <a:pt x="0" y="620268"/>
                  </a:moveTo>
                  <a:lnTo>
                    <a:pt x="1240536" y="620268"/>
                  </a:lnTo>
                  <a:lnTo>
                    <a:pt x="1240536" y="0"/>
                  </a:lnTo>
                  <a:lnTo>
                    <a:pt x="0" y="0"/>
                  </a:lnTo>
                  <a:lnTo>
                    <a:pt x="0" y="620268"/>
                  </a:lnTo>
                  <a:close/>
                </a:path>
              </a:pathLst>
            </a:custGeom>
            <a:noFill/>
            <a:ln w="126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0" name="Google Shape;490;p38"/>
          <p:cNvSpPr txBox="1"/>
          <p:nvPr/>
        </p:nvSpPr>
        <p:spPr>
          <a:xfrm>
            <a:off x="1218996" y="3640582"/>
            <a:ext cx="1145540" cy="20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With Backtracking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1" name="Google Shape;491;p38"/>
          <p:cNvGrpSpPr/>
          <p:nvPr/>
        </p:nvGrpSpPr>
        <p:grpSpPr>
          <a:xfrm>
            <a:off x="1481327" y="4332732"/>
            <a:ext cx="1240790" cy="620395"/>
            <a:chOff x="1481327" y="4332732"/>
            <a:chExt cx="1240790" cy="620395"/>
          </a:xfrm>
        </p:grpSpPr>
        <p:sp>
          <p:nvSpPr>
            <p:cNvPr id="492" name="Google Shape;492;p38"/>
            <p:cNvSpPr/>
            <p:nvPr/>
          </p:nvSpPr>
          <p:spPr>
            <a:xfrm>
              <a:off x="1481327" y="4332732"/>
              <a:ext cx="1240790" cy="620395"/>
            </a:xfrm>
            <a:custGeom>
              <a:avLst/>
              <a:gdLst/>
              <a:ahLst/>
              <a:cxnLst/>
              <a:rect l="l" t="t" r="r" b="b"/>
              <a:pathLst>
                <a:path w="1240789" h="620395" extrusionOk="0">
                  <a:moveTo>
                    <a:pt x="1240536" y="0"/>
                  </a:moveTo>
                  <a:lnTo>
                    <a:pt x="0" y="0"/>
                  </a:lnTo>
                  <a:lnTo>
                    <a:pt x="0" y="620268"/>
                  </a:lnTo>
                  <a:lnTo>
                    <a:pt x="1240536" y="620268"/>
                  </a:lnTo>
                  <a:lnTo>
                    <a:pt x="1240536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38"/>
            <p:cNvSpPr/>
            <p:nvPr/>
          </p:nvSpPr>
          <p:spPr>
            <a:xfrm>
              <a:off x="1481327" y="4332732"/>
              <a:ext cx="1240790" cy="620395"/>
            </a:xfrm>
            <a:custGeom>
              <a:avLst/>
              <a:gdLst/>
              <a:ahLst/>
              <a:cxnLst/>
              <a:rect l="l" t="t" r="r" b="b"/>
              <a:pathLst>
                <a:path w="1240789" h="620395" extrusionOk="0">
                  <a:moveTo>
                    <a:pt x="0" y="620268"/>
                  </a:moveTo>
                  <a:lnTo>
                    <a:pt x="1240536" y="620268"/>
                  </a:lnTo>
                  <a:lnTo>
                    <a:pt x="1240536" y="0"/>
                  </a:lnTo>
                  <a:lnTo>
                    <a:pt x="0" y="0"/>
                  </a:lnTo>
                  <a:lnTo>
                    <a:pt x="0" y="620268"/>
                  </a:lnTo>
                  <a:close/>
                </a:path>
              </a:pathLst>
            </a:cu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4" name="Google Shape;494;p38"/>
          <p:cNvSpPr txBox="1"/>
          <p:nvPr/>
        </p:nvSpPr>
        <p:spPr>
          <a:xfrm>
            <a:off x="1524380" y="4521200"/>
            <a:ext cx="1155700" cy="20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Brute-force parser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5" name="Google Shape;495;p38"/>
          <p:cNvGrpSpPr/>
          <p:nvPr/>
        </p:nvGrpSpPr>
        <p:grpSpPr>
          <a:xfrm>
            <a:off x="2671572" y="3451859"/>
            <a:ext cx="1240790" cy="620395"/>
            <a:chOff x="2671572" y="3451859"/>
            <a:chExt cx="1240790" cy="620395"/>
          </a:xfrm>
        </p:grpSpPr>
        <p:sp>
          <p:nvSpPr>
            <p:cNvPr id="496" name="Google Shape;496;p38"/>
            <p:cNvSpPr/>
            <p:nvPr/>
          </p:nvSpPr>
          <p:spPr>
            <a:xfrm>
              <a:off x="2671572" y="3451859"/>
              <a:ext cx="1240790" cy="620395"/>
            </a:xfrm>
            <a:custGeom>
              <a:avLst/>
              <a:gdLst/>
              <a:ahLst/>
              <a:cxnLst/>
              <a:rect l="l" t="t" r="r" b="b"/>
              <a:pathLst>
                <a:path w="1240789" h="620395" extrusionOk="0">
                  <a:moveTo>
                    <a:pt x="1240536" y="0"/>
                  </a:moveTo>
                  <a:lnTo>
                    <a:pt x="0" y="0"/>
                  </a:lnTo>
                  <a:lnTo>
                    <a:pt x="0" y="620268"/>
                  </a:lnTo>
                  <a:lnTo>
                    <a:pt x="1240536" y="620268"/>
                  </a:lnTo>
                  <a:lnTo>
                    <a:pt x="1240536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38"/>
            <p:cNvSpPr/>
            <p:nvPr/>
          </p:nvSpPr>
          <p:spPr>
            <a:xfrm>
              <a:off x="2671572" y="3451859"/>
              <a:ext cx="1240790" cy="620395"/>
            </a:xfrm>
            <a:custGeom>
              <a:avLst/>
              <a:gdLst/>
              <a:ahLst/>
              <a:cxnLst/>
              <a:rect l="l" t="t" r="r" b="b"/>
              <a:pathLst>
                <a:path w="1240789" h="620395" extrusionOk="0">
                  <a:moveTo>
                    <a:pt x="0" y="620268"/>
                  </a:moveTo>
                  <a:lnTo>
                    <a:pt x="1240536" y="620268"/>
                  </a:lnTo>
                  <a:lnTo>
                    <a:pt x="1240536" y="0"/>
                  </a:lnTo>
                  <a:lnTo>
                    <a:pt x="0" y="0"/>
                  </a:lnTo>
                  <a:lnTo>
                    <a:pt x="0" y="620268"/>
                  </a:lnTo>
                  <a:close/>
                </a:path>
              </a:pathLst>
            </a:custGeom>
            <a:noFill/>
            <a:ln w="126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8" name="Google Shape;498;p38"/>
          <p:cNvSpPr txBox="1"/>
          <p:nvPr/>
        </p:nvSpPr>
        <p:spPr>
          <a:xfrm>
            <a:off x="2888742" y="3556761"/>
            <a:ext cx="807085" cy="376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Without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backtracking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9" name="Google Shape;499;p38"/>
          <p:cNvGrpSpPr/>
          <p:nvPr/>
        </p:nvGrpSpPr>
        <p:grpSpPr>
          <a:xfrm>
            <a:off x="2982467" y="4332732"/>
            <a:ext cx="1239520" cy="620395"/>
            <a:chOff x="2982467" y="4332732"/>
            <a:chExt cx="1239520" cy="620395"/>
          </a:xfrm>
        </p:grpSpPr>
        <p:sp>
          <p:nvSpPr>
            <p:cNvPr id="500" name="Google Shape;500;p38"/>
            <p:cNvSpPr/>
            <p:nvPr/>
          </p:nvSpPr>
          <p:spPr>
            <a:xfrm>
              <a:off x="2982467" y="4332732"/>
              <a:ext cx="1239520" cy="620395"/>
            </a:xfrm>
            <a:custGeom>
              <a:avLst/>
              <a:gdLst/>
              <a:ahLst/>
              <a:cxnLst/>
              <a:rect l="l" t="t" r="r" b="b"/>
              <a:pathLst>
                <a:path w="1239520" h="620395" extrusionOk="0">
                  <a:moveTo>
                    <a:pt x="1239011" y="0"/>
                  </a:moveTo>
                  <a:lnTo>
                    <a:pt x="0" y="0"/>
                  </a:lnTo>
                  <a:lnTo>
                    <a:pt x="0" y="620268"/>
                  </a:lnTo>
                  <a:lnTo>
                    <a:pt x="1239011" y="620268"/>
                  </a:lnTo>
                  <a:lnTo>
                    <a:pt x="1239011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38"/>
            <p:cNvSpPr/>
            <p:nvPr/>
          </p:nvSpPr>
          <p:spPr>
            <a:xfrm>
              <a:off x="2982467" y="4332732"/>
              <a:ext cx="1239520" cy="620395"/>
            </a:xfrm>
            <a:custGeom>
              <a:avLst/>
              <a:gdLst/>
              <a:ahLst/>
              <a:cxnLst/>
              <a:rect l="l" t="t" r="r" b="b"/>
              <a:pathLst>
                <a:path w="1239520" h="620395" extrusionOk="0">
                  <a:moveTo>
                    <a:pt x="0" y="620268"/>
                  </a:moveTo>
                  <a:lnTo>
                    <a:pt x="1239011" y="620268"/>
                  </a:lnTo>
                  <a:lnTo>
                    <a:pt x="1239011" y="0"/>
                  </a:lnTo>
                  <a:lnTo>
                    <a:pt x="0" y="0"/>
                  </a:lnTo>
                  <a:lnTo>
                    <a:pt x="0" y="620268"/>
                  </a:lnTo>
                  <a:close/>
                </a:path>
              </a:pathLst>
            </a:cu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2" name="Google Shape;502;p38"/>
          <p:cNvSpPr txBox="1"/>
          <p:nvPr/>
        </p:nvSpPr>
        <p:spPr>
          <a:xfrm>
            <a:off x="3027679" y="4521200"/>
            <a:ext cx="1152525" cy="20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Recursive Descent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3" name="Google Shape;503;p38"/>
          <p:cNvGrpSpPr/>
          <p:nvPr/>
        </p:nvGrpSpPr>
        <p:grpSpPr>
          <a:xfrm>
            <a:off x="2982467" y="5213260"/>
            <a:ext cx="1239520" cy="735811"/>
            <a:chOff x="2982467" y="5212079"/>
            <a:chExt cx="1239520" cy="620395"/>
          </a:xfrm>
        </p:grpSpPr>
        <p:sp>
          <p:nvSpPr>
            <p:cNvPr id="504" name="Google Shape;504;p38"/>
            <p:cNvSpPr/>
            <p:nvPr/>
          </p:nvSpPr>
          <p:spPr>
            <a:xfrm>
              <a:off x="2982467" y="5212079"/>
              <a:ext cx="1239520" cy="620395"/>
            </a:xfrm>
            <a:custGeom>
              <a:avLst/>
              <a:gdLst/>
              <a:ahLst/>
              <a:cxnLst/>
              <a:rect l="l" t="t" r="r" b="b"/>
              <a:pathLst>
                <a:path w="1239520" h="620395" extrusionOk="0">
                  <a:moveTo>
                    <a:pt x="1239011" y="0"/>
                  </a:moveTo>
                  <a:lnTo>
                    <a:pt x="0" y="0"/>
                  </a:lnTo>
                  <a:lnTo>
                    <a:pt x="0" y="620268"/>
                  </a:lnTo>
                  <a:lnTo>
                    <a:pt x="1239011" y="620268"/>
                  </a:lnTo>
                  <a:lnTo>
                    <a:pt x="1239011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38"/>
            <p:cNvSpPr/>
            <p:nvPr/>
          </p:nvSpPr>
          <p:spPr>
            <a:xfrm>
              <a:off x="2982467" y="5212079"/>
              <a:ext cx="1239520" cy="620395"/>
            </a:xfrm>
            <a:custGeom>
              <a:avLst/>
              <a:gdLst/>
              <a:ahLst/>
              <a:cxnLst/>
              <a:rect l="l" t="t" r="r" b="b"/>
              <a:pathLst>
                <a:path w="1239520" h="620395" extrusionOk="0">
                  <a:moveTo>
                    <a:pt x="0" y="620268"/>
                  </a:moveTo>
                  <a:lnTo>
                    <a:pt x="1239011" y="620268"/>
                  </a:lnTo>
                  <a:lnTo>
                    <a:pt x="1239011" y="0"/>
                  </a:lnTo>
                  <a:lnTo>
                    <a:pt x="0" y="0"/>
                  </a:lnTo>
                  <a:lnTo>
                    <a:pt x="0" y="620268"/>
                  </a:lnTo>
                  <a:close/>
                </a:path>
              </a:pathLst>
            </a:custGeom>
            <a:noFill/>
            <a:ln w="126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6" name="Google Shape;506;p38"/>
          <p:cNvSpPr txBox="1"/>
          <p:nvPr/>
        </p:nvSpPr>
        <p:spPr>
          <a:xfrm>
            <a:off x="3155950" y="5317616"/>
            <a:ext cx="894080" cy="53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475" rIns="0" bIns="0" anchor="t" anchorCtr="0">
            <a:spAutoFit/>
          </a:bodyPr>
          <a:lstStyle/>
          <a:p>
            <a:pPr marL="137160" marR="5080" lvl="0" indent="-12509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Non-recursive  Predictive (LL1)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7" name="Google Shape;507;p38"/>
          <p:cNvGrpSpPr/>
          <p:nvPr/>
        </p:nvGrpSpPr>
        <p:grpSpPr>
          <a:xfrm>
            <a:off x="5981700" y="2572511"/>
            <a:ext cx="1240790" cy="619125"/>
            <a:chOff x="5981700" y="2572511"/>
            <a:chExt cx="1240790" cy="619125"/>
          </a:xfrm>
        </p:grpSpPr>
        <p:sp>
          <p:nvSpPr>
            <p:cNvPr id="508" name="Google Shape;508;p38"/>
            <p:cNvSpPr/>
            <p:nvPr/>
          </p:nvSpPr>
          <p:spPr>
            <a:xfrm>
              <a:off x="5981700" y="2572511"/>
              <a:ext cx="1240790" cy="619125"/>
            </a:xfrm>
            <a:custGeom>
              <a:avLst/>
              <a:gdLst/>
              <a:ahLst/>
              <a:cxnLst/>
              <a:rect l="l" t="t" r="r" b="b"/>
              <a:pathLst>
                <a:path w="1240790" h="619125" extrusionOk="0">
                  <a:moveTo>
                    <a:pt x="1240536" y="0"/>
                  </a:moveTo>
                  <a:lnTo>
                    <a:pt x="0" y="0"/>
                  </a:lnTo>
                  <a:lnTo>
                    <a:pt x="0" y="618744"/>
                  </a:lnTo>
                  <a:lnTo>
                    <a:pt x="1240536" y="618744"/>
                  </a:lnTo>
                  <a:lnTo>
                    <a:pt x="1240536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38"/>
            <p:cNvSpPr/>
            <p:nvPr/>
          </p:nvSpPr>
          <p:spPr>
            <a:xfrm>
              <a:off x="5981700" y="2572511"/>
              <a:ext cx="1240790" cy="619125"/>
            </a:xfrm>
            <a:custGeom>
              <a:avLst/>
              <a:gdLst/>
              <a:ahLst/>
              <a:cxnLst/>
              <a:rect l="l" t="t" r="r" b="b"/>
              <a:pathLst>
                <a:path w="1240790" h="619125" extrusionOk="0">
                  <a:moveTo>
                    <a:pt x="0" y="618744"/>
                  </a:moveTo>
                  <a:lnTo>
                    <a:pt x="1240536" y="618744"/>
                  </a:lnTo>
                  <a:lnTo>
                    <a:pt x="1240536" y="0"/>
                  </a:lnTo>
                  <a:lnTo>
                    <a:pt x="0" y="0"/>
                  </a:lnTo>
                  <a:lnTo>
                    <a:pt x="0" y="618744"/>
                  </a:lnTo>
                  <a:close/>
                </a:path>
              </a:pathLst>
            </a:cu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0" name="Google Shape;510;p38"/>
          <p:cNvSpPr txBox="1"/>
          <p:nvPr/>
        </p:nvSpPr>
        <p:spPr>
          <a:xfrm>
            <a:off x="6004052" y="2593593"/>
            <a:ext cx="1196340" cy="49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248284" algn="l" rtl="0">
              <a:lnSpc>
                <a:spcPct val="127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Bottom-up  Shift reduce parser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1" name="Google Shape;511;p38"/>
          <p:cNvGrpSpPr/>
          <p:nvPr/>
        </p:nvGrpSpPr>
        <p:grpSpPr>
          <a:xfrm>
            <a:off x="5231891" y="3451859"/>
            <a:ext cx="1240790" cy="620395"/>
            <a:chOff x="5231891" y="3451859"/>
            <a:chExt cx="1240790" cy="620395"/>
          </a:xfrm>
        </p:grpSpPr>
        <p:sp>
          <p:nvSpPr>
            <p:cNvPr id="512" name="Google Shape;512;p38"/>
            <p:cNvSpPr/>
            <p:nvPr/>
          </p:nvSpPr>
          <p:spPr>
            <a:xfrm>
              <a:off x="5231891" y="3451859"/>
              <a:ext cx="1240790" cy="620395"/>
            </a:xfrm>
            <a:custGeom>
              <a:avLst/>
              <a:gdLst/>
              <a:ahLst/>
              <a:cxnLst/>
              <a:rect l="l" t="t" r="r" b="b"/>
              <a:pathLst>
                <a:path w="1240789" h="620395" extrusionOk="0">
                  <a:moveTo>
                    <a:pt x="1240536" y="0"/>
                  </a:moveTo>
                  <a:lnTo>
                    <a:pt x="0" y="0"/>
                  </a:lnTo>
                  <a:lnTo>
                    <a:pt x="0" y="620268"/>
                  </a:lnTo>
                  <a:lnTo>
                    <a:pt x="1240536" y="620268"/>
                  </a:lnTo>
                  <a:lnTo>
                    <a:pt x="1240536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38"/>
            <p:cNvSpPr/>
            <p:nvPr/>
          </p:nvSpPr>
          <p:spPr>
            <a:xfrm>
              <a:off x="5231891" y="3451859"/>
              <a:ext cx="1240790" cy="620395"/>
            </a:xfrm>
            <a:custGeom>
              <a:avLst/>
              <a:gdLst/>
              <a:ahLst/>
              <a:cxnLst/>
              <a:rect l="l" t="t" r="r" b="b"/>
              <a:pathLst>
                <a:path w="1240789" h="620395" extrusionOk="0">
                  <a:moveTo>
                    <a:pt x="0" y="620268"/>
                  </a:moveTo>
                  <a:lnTo>
                    <a:pt x="1240536" y="620268"/>
                  </a:lnTo>
                  <a:lnTo>
                    <a:pt x="1240536" y="0"/>
                  </a:lnTo>
                  <a:lnTo>
                    <a:pt x="0" y="0"/>
                  </a:lnTo>
                  <a:lnTo>
                    <a:pt x="0" y="620268"/>
                  </a:lnTo>
                  <a:close/>
                </a:path>
              </a:pathLst>
            </a:custGeom>
            <a:noFill/>
            <a:ln w="126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4" name="Google Shape;514;p38"/>
          <p:cNvSpPr txBox="1"/>
          <p:nvPr/>
        </p:nvSpPr>
        <p:spPr>
          <a:xfrm>
            <a:off x="5686805" y="3640582"/>
            <a:ext cx="332740" cy="20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LR(k)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5" name="Google Shape;515;p38"/>
          <p:cNvGrpSpPr/>
          <p:nvPr/>
        </p:nvGrpSpPr>
        <p:grpSpPr>
          <a:xfrm>
            <a:off x="4482084" y="4332732"/>
            <a:ext cx="1240790" cy="620395"/>
            <a:chOff x="4482084" y="4332732"/>
            <a:chExt cx="1240790" cy="620395"/>
          </a:xfrm>
        </p:grpSpPr>
        <p:sp>
          <p:nvSpPr>
            <p:cNvPr id="516" name="Google Shape;516;p38"/>
            <p:cNvSpPr/>
            <p:nvPr/>
          </p:nvSpPr>
          <p:spPr>
            <a:xfrm>
              <a:off x="4482084" y="4332732"/>
              <a:ext cx="1240790" cy="620395"/>
            </a:xfrm>
            <a:custGeom>
              <a:avLst/>
              <a:gdLst/>
              <a:ahLst/>
              <a:cxnLst/>
              <a:rect l="l" t="t" r="r" b="b"/>
              <a:pathLst>
                <a:path w="1240789" h="620395" extrusionOk="0">
                  <a:moveTo>
                    <a:pt x="1240536" y="0"/>
                  </a:moveTo>
                  <a:lnTo>
                    <a:pt x="0" y="0"/>
                  </a:lnTo>
                  <a:lnTo>
                    <a:pt x="0" y="620268"/>
                  </a:lnTo>
                  <a:lnTo>
                    <a:pt x="1240536" y="620268"/>
                  </a:lnTo>
                  <a:lnTo>
                    <a:pt x="1240536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38"/>
            <p:cNvSpPr/>
            <p:nvPr/>
          </p:nvSpPr>
          <p:spPr>
            <a:xfrm>
              <a:off x="4482084" y="4332732"/>
              <a:ext cx="1240790" cy="620395"/>
            </a:xfrm>
            <a:custGeom>
              <a:avLst/>
              <a:gdLst/>
              <a:ahLst/>
              <a:cxnLst/>
              <a:rect l="l" t="t" r="r" b="b"/>
              <a:pathLst>
                <a:path w="1240789" h="620395" extrusionOk="0">
                  <a:moveTo>
                    <a:pt x="0" y="620268"/>
                  </a:moveTo>
                  <a:lnTo>
                    <a:pt x="1240536" y="620268"/>
                  </a:lnTo>
                  <a:lnTo>
                    <a:pt x="1240536" y="0"/>
                  </a:lnTo>
                  <a:lnTo>
                    <a:pt x="0" y="0"/>
                  </a:lnTo>
                  <a:lnTo>
                    <a:pt x="0" y="620268"/>
                  </a:lnTo>
                  <a:close/>
                </a:path>
              </a:pathLst>
            </a:cu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8" name="Google Shape;518;p38"/>
          <p:cNvSpPr txBox="1"/>
          <p:nvPr/>
        </p:nvSpPr>
        <p:spPr>
          <a:xfrm>
            <a:off x="4932045" y="4521200"/>
            <a:ext cx="340995" cy="20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LR(0)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9" name="Google Shape;519;p38"/>
          <p:cNvGrpSpPr/>
          <p:nvPr/>
        </p:nvGrpSpPr>
        <p:grpSpPr>
          <a:xfrm>
            <a:off x="4791455" y="5212079"/>
            <a:ext cx="1240790" cy="620395"/>
            <a:chOff x="4791455" y="5212079"/>
            <a:chExt cx="1240790" cy="620395"/>
          </a:xfrm>
        </p:grpSpPr>
        <p:sp>
          <p:nvSpPr>
            <p:cNvPr id="520" name="Google Shape;520;p38"/>
            <p:cNvSpPr/>
            <p:nvPr/>
          </p:nvSpPr>
          <p:spPr>
            <a:xfrm>
              <a:off x="4791455" y="5212079"/>
              <a:ext cx="1240790" cy="620395"/>
            </a:xfrm>
            <a:custGeom>
              <a:avLst/>
              <a:gdLst/>
              <a:ahLst/>
              <a:cxnLst/>
              <a:rect l="l" t="t" r="r" b="b"/>
              <a:pathLst>
                <a:path w="1240789" h="620395" extrusionOk="0">
                  <a:moveTo>
                    <a:pt x="1240536" y="0"/>
                  </a:moveTo>
                  <a:lnTo>
                    <a:pt x="0" y="0"/>
                  </a:lnTo>
                  <a:lnTo>
                    <a:pt x="0" y="620268"/>
                  </a:lnTo>
                  <a:lnTo>
                    <a:pt x="1240536" y="620268"/>
                  </a:lnTo>
                  <a:lnTo>
                    <a:pt x="1240536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38"/>
            <p:cNvSpPr/>
            <p:nvPr/>
          </p:nvSpPr>
          <p:spPr>
            <a:xfrm>
              <a:off x="4791455" y="5212079"/>
              <a:ext cx="1240790" cy="620395"/>
            </a:xfrm>
            <a:custGeom>
              <a:avLst/>
              <a:gdLst/>
              <a:ahLst/>
              <a:cxnLst/>
              <a:rect l="l" t="t" r="r" b="b"/>
              <a:pathLst>
                <a:path w="1240789" h="620395" extrusionOk="0">
                  <a:moveTo>
                    <a:pt x="0" y="620268"/>
                  </a:moveTo>
                  <a:lnTo>
                    <a:pt x="1240536" y="620268"/>
                  </a:lnTo>
                  <a:lnTo>
                    <a:pt x="1240536" y="0"/>
                  </a:lnTo>
                  <a:lnTo>
                    <a:pt x="0" y="0"/>
                  </a:lnTo>
                  <a:lnTo>
                    <a:pt x="0" y="620268"/>
                  </a:lnTo>
                  <a:close/>
                </a:path>
              </a:pathLst>
            </a:cu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2" name="Google Shape;522;p38"/>
          <p:cNvSpPr txBox="1"/>
          <p:nvPr/>
        </p:nvSpPr>
        <p:spPr>
          <a:xfrm>
            <a:off x="5242052" y="5401436"/>
            <a:ext cx="340995" cy="20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LR(0)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3" name="Google Shape;523;p38"/>
          <p:cNvGrpSpPr/>
          <p:nvPr/>
        </p:nvGrpSpPr>
        <p:grpSpPr>
          <a:xfrm>
            <a:off x="4791455" y="6092952"/>
            <a:ext cx="1240790" cy="620395"/>
            <a:chOff x="4791455" y="6092952"/>
            <a:chExt cx="1240790" cy="620395"/>
          </a:xfrm>
        </p:grpSpPr>
        <p:sp>
          <p:nvSpPr>
            <p:cNvPr id="524" name="Google Shape;524;p38"/>
            <p:cNvSpPr/>
            <p:nvPr/>
          </p:nvSpPr>
          <p:spPr>
            <a:xfrm>
              <a:off x="4791455" y="6092952"/>
              <a:ext cx="1240790" cy="620395"/>
            </a:xfrm>
            <a:custGeom>
              <a:avLst/>
              <a:gdLst/>
              <a:ahLst/>
              <a:cxnLst/>
              <a:rect l="l" t="t" r="r" b="b"/>
              <a:pathLst>
                <a:path w="1240789" h="620395" extrusionOk="0">
                  <a:moveTo>
                    <a:pt x="1240536" y="0"/>
                  </a:moveTo>
                  <a:lnTo>
                    <a:pt x="0" y="0"/>
                  </a:lnTo>
                  <a:lnTo>
                    <a:pt x="0" y="620268"/>
                  </a:lnTo>
                  <a:lnTo>
                    <a:pt x="1240536" y="620268"/>
                  </a:lnTo>
                  <a:lnTo>
                    <a:pt x="1240536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38"/>
            <p:cNvSpPr/>
            <p:nvPr/>
          </p:nvSpPr>
          <p:spPr>
            <a:xfrm>
              <a:off x="4791455" y="6092952"/>
              <a:ext cx="1240790" cy="620395"/>
            </a:xfrm>
            <a:custGeom>
              <a:avLst/>
              <a:gdLst/>
              <a:ahLst/>
              <a:cxnLst/>
              <a:rect l="l" t="t" r="r" b="b"/>
              <a:pathLst>
                <a:path w="1240789" h="620395" extrusionOk="0">
                  <a:moveTo>
                    <a:pt x="0" y="620268"/>
                  </a:moveTo>
                  <a:lnTo>
                    <a:pt x="1240536" y="620268"/>
                  </a:lnTo>
                  <a:lnTo>
                    <a:pt x="1240536" y="0"/>
                  </a:lnTo>
                  <a:lnTo>
                    <a:pt x="0" y="0"/>
                  </a:lnTo>
                  <a:lnTo>
                    <a:pt x="0" y="620268"/>
                  </a:lnTo>
                  <a:close/>
                </a:path>
              </a:pathLst>
            </a:cu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6" name="Google Shape;526;p38"/>
          <p:cNvSpPr txBox="1"/>
          <p:nvPr/>
        </p:nvSpPr>
        <p:spPr>
          <a:xfrm>
            <a:off x="5207000" y="6281420"/>
            <a:ext cx="411480" cy="208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SLR(1)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7" name="Google Shape;527;p38"/>
          <p:cNvGrpSpPr/>
          <p:nvPr/>
        </p:nvGrpSpPr>
        <p:grpSpPr>
          <a:xfrm>
            <a:off x="5981700" y="4332732"/>
            <a:ext cx="1240790" cy="620395"/>
            <a:chOff x="5981700" y="4332732"/>
            <a:chExt cx="1240790" cy="620395"/>
          </a:xfrm>
        </p:grpSpPr>
        <p:sp>
          <p:nvSpPr>
            <p:cNvPr id="528" name="Google Shape;528;p38"/>
            <p:cNvSpPr/>
            <p:nvPr/>
          </p:nvSpPr>
          <p:spPr>
            <a:xfrm>
              <a:off x="5981700" y="4332732"/>
              <a:ext cx="1240790" cy="620395"/>
            </a:xfrm>
            <a:custGeom>
              <a:avLst/>
              <a:gdLst/>
              <a:ahLst/>
              <a:cxnLst/>
              <a:rect l="l" t="t" r="r" b="b"/>
              <a:pathLst>
                <a:path w="1240790" h="620395" extrusionOk="0">
                  <a:moveTo>
                    <a:pt x="1240536" y="0"/>
                  </a:moveTo>
                  <a:lnTo>
                    <a:pt x="0" y="0"/>
                  </a:lnTo>
                  <a:lnTo>
                    <a:pt x="0" y="620268"/>
                  </a:lnTo>
                  <a:lnTo>
                    <a:pt x="1240536" y="620268"/>
                  </a:lnTo>
                  <a:lnTo>
                    <a:pt x="1240536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38"/>
            <p:cNvSpPr/>
            <p:nvPr/>
          </p:nvSpPr>
          <p:spPr>
            <a:xfrm>
              <a:off x="5981700" y="4332732"/>
              <a:ext cx="1240790" cy="620395"/>
            </a:xfrm>
            <a:custGeom>
              <a:avLst/>
              <a:gdLst/>
              <a:ahLst/>
              <a:cxnLst/>
              <a:rect l="l" t="t" r="r" b="b"/>
              <a:pathLst>
                <a:path w="1240790" h="620395" extrusionOk="0">
                  <a:moveTo>
                    <a:pt x="0" y="620268"/>
                  </a:moveTo>
                  <a:lnTo>
                    <a:pt x="1240536" y="620268"/>
                  </a:lnTo>
                  <a:lnTo>
                    <a:pt x="1240536" y="0"/>
                  </a:lnTo>
                  <a:lnTo>
                    <a:pt x="0" y="0"/>
                  </a:lnTo>
                  <a:lnTo>
                    <a:pt x="0" y="620268"/>
                  </a:lnTo>
                  <a:close/>
                </a:path>
              </a:pathLst>
            </a:cu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0" name="Google Shape;530;p38"/>
          <p:cNvSpPr txBox="1"/>
          <p:nvPr/>
        </p:nvSpPr>
        <p:spPr>
          <a:xfrm>
            <a:off x="6432550" y="4521200"/>
            <a:ext cx="340995" cy="20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LR(1)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1" name="Google Shape;531;p38"/>
          <p:cNvGrpSpPr/>
          <p:nvPr/>
        </p:nvGrpSpPr>
        <p:grpSpPr>
          <a:xfrm>
            <a:off x="6292596" y="5212079"/>
            <a:ext cx="1239520" cy="620395"/>
            <a:chOff x="6292596" y="5212079"/>
            <a:chExt cx="1239520" cy="620395"/>
          </a:xfrm>
        </p:grpSpPr>
        <p:sp>
          <p:nvSpPr>
            <p:cNvPr id="532" name="Google Shape;532;p38"/>
            <p:cNvSpPr/>
            <p:nvPr/>
          </p:nvSpPr>
          <p:spPr>
            <a:xfrm>
              <a:off x="6292596" y="5212079"/>
              <a:ext cx="1239520" cy="620395"/>
            </a:xfrm>
            <a:custGeom>
              <a:avLst/>
              <a:gdLst/>
              <a:ahLst/>
              <a:cxnLst/>
              <a:rect l="l" t="t" r="r" b="b"/>
              <a:pathLst>
                <a:path w="1239520" h="620395" extrusionOk="0">
                  <a:moveTo>
                    <a:pt x="1239011" y="0"/>
                  </a:moveTo>
                  <a:lnTo>
                    <a:pt x="0" y="0"/>
                  </a:lnTo>
                  <a:lnTo>
                    <a:pt x="0" y="620268"/>
                  </a:lnTo>
                  <a:lnTo>
                    <a:pt x="1239011" y="620268"/>
                  </a:lnTo>
                  <a:lnTo>
                    <a:pt x="1239011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38"/>
            <p:cNvSpPr/>
            <p:nvPr/>
          </p:nvSpPr>
          <p:spPr>
            <a:xfrm>
              <a:off x="6292596" y="5212079"/>
              <a:ext cx="1239520" cy="620395"/>
            </a:xfrm>
            <a:custGeom>
              <a:avLst/>
              <a:gdLst/>
              <a:ahLst/>
              <a:cxnLst/>
              <a:rect l="l" t="t" r="r" b="b"/>
              <a:pathLst>
                <a:path w="1239520" h="620395" extrusionOk="0">
                  <a:moveTo>
                    <a:pt x="0" y="620268"/>
                  </a:moveTo>
                  <a:lnTo>
                    <a:pt x="1239011" y="620268"/>
                  </a:lnTo>
                  <a:lnTo>
                    <a:pt x="1239011" y="0"/>
                  </a:lnTo>
                  <a:lnTo>
                    <a:pt x="0" y="0"/>
                  </a:lnTo>
                  <a:lnTo>
                    <a:pt x="0" y="620268"/>
                  </a:lnTo>
                  <a:close/>
                </a:path>
              </a:pathLst>
            </a:cu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4" name="Google Shape;534;p38"/>
          <p:cNvSpPr txBox="1"/>
          <p:nvPr/>
        </p:nvSpPr>
        <p:spPr>
          <a:xfrm>
            <a:off x="6295789" y="5348223"/>
            <a:ext cx="1240790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Look Ahead LR (LALR)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5" name="Google Shape;535;p38"/>
          <p:cNvGrpSpPr/>
          <p:nvPr/>
        </p:nvGrpSpPr>
        <p:grpSpPr>
          <a:xfrm>
            <a:off x="6292596" y="6092952"/>
            <a:ext cx="1239520" cy="620395"/>
            <a:chOff x="6292596" y="6092952"/>
            <a:chExt cx="1239520" cy="620395"/>
          </a:xfrm>
        </p:grpSpPr>
        <p:sp>
          <p:nvSpPr>
            <p:cNvPr id="536" name="Google Shape;536;p38"/>
            <p:cNvSpPr/>
            <p:nvPr/>
          </p:nvSpPr>
          <p:spPr>
            <a:xfrm>
              <a:off x="6292596" y="6092952"/>
              <a:ext cx="1239520" cy="620395"/>
            </a:xfrm>
            <a:custGeom>
              <a:avLst/>
              <a:gdLst/>
              <a:ahLst/>
              <a:cxnLst/>
              <a:rect l="l" t="t" r="r" b="b"/>
              <a:pathLst>
                <a:path w="1239520" h="620395" extrusionOk="0">
                  <a:moveTo>
                    <a:pt x="1239011" y="0"/>
                  </a:moveTo>
                  <a:lnTo>
                    <a:pt x="0" y="0"/>
                  </a:lnTo>
                  <a:lnTo>
                    <a:pt x="0" y="620268"/>
                  </a:lnTo>
                  <a:lnTo>
                    <a:pt x="1239011" y="620268"/>
                  </a:lnTo>
                  <a:lnTo>
                    <a:pt x="1239011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38"/>
            <p:cNvSpPr/>
            <p:nvPr/>
          </p:nvSpPr>
          <p:spPr>
            <a:xfrm>
              <a:off x="6292596" y="6092952"/>
              <a:ext cx="1239520" cy="620395"/>
            </a:xfrm>
            <a:custGeom>
              <a:avLst/>
              <a:gdLst/>
              <a:ahLst/>
              <a:cxnLst/>
              <a:rect l="l" t="t" r="r" b="b"/>
              <a:pathLst>
                <a:path w="1239520" h="620395" extrusionOk="0">
                  <a:moveTo>
                    <a:pt x="0" y="620268"/>
                  </a:moveTo>
                  <a:lnTo>
                    <a:pt x="1239011" y="620268"/>
                  </a:lnTo>
                  <a:lnTo>
                    <a:pt x="1239011" y="0"/>
                  </a:lnTo>
                  <a:lnTo>
                    <a:pt x="0" y="0"/>
                  </a:lnTo>
                  <a:lnTo>
                    <a:pt x="0" y="620268"/>
                  </a:lnTo>
                  <a:close/>
                </a:path>
              </a:pathLst>
            </a:cu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8" name="Google Shape;538;p38"/>
          <p:cNvSpPr txBox="1"/>
          <p:nvPr/>
        </p:nvSpPr>
        <p:spPr>
          <a:xfrm>
            <a:off x="6323329" y="6281420"/>
            <a:ext cx="1208787" cy="19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Canonical LR (CLR)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9" name="Google Shape;539;p38"/>
          <p:cNvGrpSpPr/>
          <p:nvPr/>
        </p:nvGrpSpPr>
        <p:grpSpPr>
          <a:xfrm>
            <a:off x="6731507" y="3451859"/>
            <a:ext cx="1240790" cy="620395"/>
            <a:chOff x="6731507" y="3451859"/>
            <a:chExt cx="1240790" cy="620395"/>
          </a:xfrm>
        </p:grpSpPr>
        <p:sp>
          <p:nvSpPr>
            <p:cNvPr id="540" name="Google Shape;540;p38"/>
            <p:cNvSpPr/>
            <p:nvPr/>
          </p:nvSpPr>
          <p:spPr>
            <a:xfrm>
              <a:off x="6731507" y="3451859"/>
              <a:ext cx="1240790" cy="620395"/>
            </a:xfrm>
            <a:custGeom>
              <a:avLst/>
              <a:gdLst/>
              <a:ahLst/>
              <a:cxnLst/>
              <a:rect l="l" t="t" r="r" b="b"/>
              <a:pathLst>
                <a:path w="1240790" h="620395" extrusionOk="0">
                  <a:moveTo>
                    <a:pt x="1240536" y="0"/>
                  </a:moveTo>
                  <a:lnTo>
                    <a:pt x="0" y="0"/>
                  </a:lnTo>
                  <a:lnTo>
                    <a:pt x="0" y="620268"/>
                  </a:lnTo>
                  <a:lnTo>
                    <a:pt x="1240536" y="620268"/>
                  </a:lnTo>
                  <a:lnTo>
                    <a:pt x="1240536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38"/>
            <p:cNvSpPr/>
            <p:nvPr/>
          </p:nvSpPr>
          <p:spPr>
            <a:xfrm>
              <a:off x="6731507" y="3451859"/>
              <a:ext cx="1240790" cy="620395"/>
            </a:xfrm>
            <a:custGeom>
              <a:avLst/>
              <a:gdLst/>
              <a:ahLst/>
              <a:cxnLst/>
              <a:rect l="l" t="t" r="r" b="b"/>
              <a:pathLst>
                <a:path w="1240790" h="620395" extrusionOk="0">
                  <a:moveTo>
                    <a:pt x="0" y="620268"/>
                  </a:moveTo>
                  <a:lnTo>
                    <a:pt x="1240536" y="620268"/>
                  </a:lnTo>
                  <a:lnTo>
                    <a:pt x="1240536" y="0"/>
                  </a:lnTo>
                  <a:lnTo>
                    <a:pt x="0" y="0"/>
                  </a:lnTo>
                  <a:lnTo>
                    <a:pt x="0" y="620268"/>
                  </a:lnTo>
                  <a:close/>
                </a:path>
              </a:pathLst>
            </a:custGeom>
            <a:noFill/>
            <a:ln w="126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2" name="Google Shape;542;p38"/>
          <p:cNvSpPr txBox="1"/>
          <p:nvPr/>
        </p:nvSpPr>
        <p:spPr>
          <a:xfrm>
            <a:off x="6978522" y="3556761"/>
            <a:ext cx="750570" cy="376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Operator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Precedence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38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544" name="Google Shape;544;p38"/>
          <p:cNvSpPr/>
          <p:nvPr/>
        </p:nvSpPr>
        <p:spPr>
          <a:xfrm>
            <a:off x="839471" y="5609716"/>
            <a:ext cx="1832102" cy="958570"/>
          </a:xfrm>
          <a:prstGeom prst="cloudCallout">
            <a:avLst>
              <a:gd name="adj1" fmla="val 67079"/>
              <a:gd name="adj2" fmla="val -71227"/>
            </a:avLst>
          </a:prstGeom>
          <a:solidFill>
            <a:schemeClr val="accent1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Uses parse table</a:t>
            </a:r>
            <a:endParaRPr/>
          </a:p>
        </p:txBody>
      </p:sp>
      <p:sp>
        <p:nvSpPr>
          <p:cNvPr id="545" name="Google Shape;545;p38"/>
          <p:cNvSpPr/>
          <p:nvPr/>
        </p:nvSpPr>
        <p:spPr>
          <a:xfrm>
            <a:off x="8077200" y="2572256"/>
            <a:ext cx="2362200" cy="984505"/>
          </a:xfrm>
          <a:prstGeom prst="cloudCallout">
            <a:avLst>
              <a:gd name="adj1" fmla="val -51670"/>
              <a:gd name="adj2" fmla="val 52903"/>
            </a:avLst>
          </a:prstGeom>
          <a:solidFill>
            <a:schemeClr val="accent1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It can work for some ambiguous grammar 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9"/>
          <p:cNvSpPr txBox="1">
            <a:spLocks noGrp="1"/>
          </p:cNvSpPr>
          <p:nvPr>
            <p:ph type="title"/>
          </p:nvPr>
        </p:nvSpPr>
        <p:spPr>
          <a:xfrm>
            <a:off x="916938" y="609676"/>
            <a:ext cx="2676653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Parsing</a:t>
            </a:r>
            <a:endParaRPr dirty="0"/>
          </a:p>
        </p:txBody>
      </p:sp>
      <p:sp>
        <p:nvSpPr>
          <p:cNvPr id="559" name="Google Shape;559;p39"/>
          <p:cNvSpPr txBox="1"/>
          <p:nvPr/>
        </p:nvSpPr>
        <p:spPr>
          <a:xfrm>
            <a:off x="916938" y="1784350"/>
            <a:ext cx="10778237" cy="452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7925" rIns="0" bIns="0" anchor="t" anchorCtr="0">
            <a:spAutoFit/>
          </a:bodyPr>
          <a:lstStyle/>
          <a:p>
            <a:pPr marL="241300" marR="5080" lvl="0" indent="-229234" algn="l" rtl="0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Fortunately, there are large classes of grammars for which  we can build parsers that run in linear time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96290" marR="0" lvl="1" indent="-228600" algn="l" rtl="0">
              <a:lnSpc>
                <a:spcPct val="113928"/>
              </a:lnSpc>
              <a:spcBef>
                <a:spcPts val="13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two most important classes are called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96290" marR="0" lvl="0" indent="0" algn="l" rtl="0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 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LR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9234" algn="l" rtl="0">
              <a:lnSpc>
                <a:spcPct val="114062"/>
              </a:lnSpc>
              <a:spcBef>
                <a:spcPts val="59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 stands for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0" algn="l" rtl="0">
              <a:lnSpc>
                <a:spcPct val="1140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'Left-to-right, Leftmost derivation'.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9234" algn="l" rtl="0">
              <a:lnSpc>
                <a:spcPct val="114062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LR stands for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0" algn="l" rtl="0">
              <a:lnSpc>
                <a:spcPct val="1140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'Left-to-right, Rightmost derivation’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3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0"/>
          <p:cNvSpPr txBox="1">
            <a:spLocks noGrp="1"/>
          </p:cNvSpPr>
          <p:nvPr>
            <p:ph type="title"/>
          </p:nvPr>
        </p:nvSpPr>
        <p:spPr>
          <a:xfrm>
            <a:off x="916938" y="609676"/>
            <a:ext cx="4596893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Review Question</a:t>
            </a:r>
            <a:endParaRPr dirty="0"/>
          </a:p>
        </p:txBody>
      </p:sp>
      <p:sp>
        <p:nvSpPr>
          <p:cNvPr id="566" name="Google Shape;566;p40"/>
          <p:cNvSpPr txBox="1"/>
          <p:nvPr/>
        </p:nvSpPr>
        <p:spPr>
          <a:xfrm>
            <a:off x="916939" y="1707918"/>
            <a:ext cx="8118475" cy="258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7775" rIns="0" bIns="0" anchor="t" anchorCtr="0">
            <a:spAutoFit/>
          </a:bodyPr>
          <a:lstStyle/>
          <a:p>
            <a:pPr marL="241300" marR="0" lvl="0" indent="-22923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of these is true about LR parsing?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91160" marR="0" lvl="0" indent="-379094" algn="l" rtl="0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most general non-backtracking shift-reduce parsing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marR="0" lvl="0" indent="-365760" algn="l" rtl="0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still efficient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1475" marR="0" lvl="0" indent="-359410" algn="l" rtl="0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 a and b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94335" marR="0" lvl="0" indent="-382269" algn="l" rtl="0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None of the mentioned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40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1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5062322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Top-down Parsing</a:t>
            </a:r>
            <a:endParaRPr dirty="0"/>
          </a:p>
        </p:txBody>
      </p:sp>
      <p:sp>
        <p:nvSpPr>
          <p:cNvPr id="573" name="Google Shape;573;p41"/>
          <p:cNvSpPr txBox="1"/>
          <p:nvPr/>
        </p:nvSpPr>
        <p:spPr>
          <a:xfrm>
            <a:off x="707542" y="1759966"/>
            <a:ext cx="11027258" cy="34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7150" rIns="0" bIns="0" anchor="t" anchorCtr="0">
            <a:spAutoFit/>
          </a:bodyPr>
          <a:lstStyle/>
          <a:p>
            <a:pPr marL="241300" marR="184150" lvl="0" indent="-22860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73139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rgbClr val="273139"/>
                </a:solidFill>
                <a:latin typeface="Calibri"/>
                <a:ea typeface="Calibri"/>
                <a:cs typeface="Calibri"/>
                <a:sym typeface="Calibri"/>
              </a:rPr>
              <a:t>The process of constructing the parse tree which starts from the root and goes down to the leaf, is  Top-Down Parsing.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18796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273139"/>
              </a:buClr>
              <a:buSzPts val="2700"/>
              <a:buFont typeface="Calibri"/>
              <a:buAutoNum type="arabicPeriod"/>
            </a:pPr>
            <a:r>
              <a:rPr lang="en-US" sz="2800" dirty="0">
                <a:solidFill>
                  <a:srgbClr val="273139"/>
                </a:solidFill>
                <a:latin typeface="Calibri"/>
                <a:ea typeface="Calibri"/>
                <a:cs typeface="Calibri"/>
                <a:sym typeface="Calibri"/>
              </a:rPr>
              <a:t>Top-Down Parsers constructs from the Grammar  which is free from </a:t>
            </a:r>
            <a:r>
              <a:rPr lang="en-US" sz="2800" dirty="0">
                <a:solidFill>
                  <a:srgbClr val="4471C4"/>
                </a:solidFill>
                <a:latin typeface="Calibri"/>
                <a:ea typeface="Calibri"/>
                <a:cs typeface="Calibri"/>
                <a:sym typeface="Calibri"/>
              </a:rPr>
              <a:t>ambiguity </a:t>
            </a:r>
            <a:r>
              <a:rPr lang="en-US" sz="2800" dirty="0">
                <a:solidFill>
                  <a:srgbClr val="273139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sz="2800" dirty="0">
                <a:solidFill>
                  <a:srgbClr val="4471C4"/>
                </a:solidFill>
                <a:latin typeface="Calibri"/>
                <a:ea typeface="Calibri"/>
                <a:cs typeface="Calibri"/>
                <a:sym typeface="Calibri"/>
              </a:rPr>
              <a:t>left recursion</a:t>
            </a:r>
            <a:r>
              <a:rPr lang="en-US" sz="2800" dirty="0">
                <a:solidFill>
                  <a:srgbClr val="273139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617220" lvl="0" indent="-228600" algn="l" rtl="0">
              <a:lnSpc>
                <a:spcPct val="96071"/>
              </a:lnSpc>
              <a:spcBef>
                <a:spcPts val="980"/>
              </a:spcBef>
              <a:spcAft>
                <a:spcPts val="0"/>
              </a:spcAft>
              <a:buClr>
                <a:srgbClr val="273139"/>
              </a:buClr>
              <a:buSzPts val="2700"/>
              <a:buFont typeface="Calibri"/>
              <a:buAutoNum type="arabicPeriod"/>
            </a:pPr>
            <a:r>
              <a:rPr lang="en-US" sz="2800" dirty="0">
                <a:solidFill>
                  <a:srgbClr val="273139"/>
                </a:solidFill>
                <a:latin typeface="Calibri"/>
                <a:ea typeface="Calibri"/>
                <a:cs typeface="Calibri"/>
                <a:sym typeface="Calibri"/>
              </a:rPr>
              <a:t>Top-Down Parsers uses </a:t>
            </a:r>
            <a:r>
              <a:rPr lang="en-US" sz="2800" dirty="0">
                <a:solidFill>
                  <a:srgbClr val="4471C4"/>
                </a:solidFill>
                <a:latin typeface="Calibri"/>
                <a:ea typeface="Calibri"/>
                <a:cs typeface="Calibri"/>
                <a:sym typeface="Calibri"/>
              </a:rPr>
              <a:t>leftmost derivation </a:t>
            </a:r>
            <a:r>
              <a:rPr lang="en-US" sz="2800" dirty="0">
                <a:solidFill>
                  <a:srgbClr val="273139"/>
                </a:solidFill>
                <a:latin typeface="Calibri"/>
                <a:ea typeface="Calibri"/>
                <a:cs typeface="Calibri"/>
                <a:sym typeface="Calibri"/>
              </a:rPr>
              <a:t>to construct a parse tree.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-171448" algn="l" rtl="0">
              <a:lnSpc>
                <a:spcPct val="109600"/>
              </a:lnSpc>
              <a:spcBef>
                <a:spcPts val="25"/>
              </a:spcBef>
              <a:spcAft>
                <a:spcPts val="0"/>
              </a:spcAft>
              <a:buClr>
                <a:srgbClr val="273139"/>
              </a:buClr>
              <a:buSzPts val="2700"/>
              <a:buFont typeface="Calibri"/>
              <a:buAutoNum type="arabicPeriod"/>
            </a:pPr>
            <a:r>
              <a:rPr lang="en-US" sz="2800" dirty="0">
                <a:solidFill>
                  <a:srgbClr val="273139"/>
                </a:solidFill>
                <a:latin typeface="Calibri"/>
                <a:ea typeface="Calibri"/>
                <a:cs typeface="Calibri"/>
                <a:sym typeface="Calibri"/>
              </a:rPr>
              <a:t>It allows grammar that is free from </a:t>
            </a:r>
            <a:r>
              <a:rPr lang="en-US" sz="2800" dirty="0">
                <a:solidFill>
                  <a:srgbClr val="4471C4"/>
                </a:solidFill>
                <a:latin typeface="Calibri"/>
                <a:ea typeface="Calibri"/>
                <a:cs typeface="Calibri"/>
                <a:sym typeface="Calibri"/>
              </a:rPr>
              <a:t>Left Factoring</a:t>
            </a:r>
            <a:r>
              <a:rPr lang="en-US" sz="2800" dirty="0">
                <a:solidFill>
                  <a:srgbClr val="273139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2800" dirty="0">
              <a:solidFill>
                <a:srgbClr val="27313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096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273139"/>
                </a:solidFill>
                <a:latin typeface="Calibri"/>
                <a:ea typeface="Calibri"/>
                <a:cs typeface="Calibri"/>
                <a:sym typeface="Calibri"/>
              </a:rPr>
              <a:t>4. Top-down parsing can be viewed as finding the leftmost derivation for an input string.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4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2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4422242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Left Recursion</a:t>
            </a:r>
            <a:endParaRPr dirty="0"/>
          </a:p>
        </p:txBody>
      </p:sp>
      <p:pic>
        <p:nvPicPr>
          <p:cNvPr id="580" name="Google Shape;580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0200" y="1752600"/>
            <a:ext cx="8740659" cy="3918535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4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43"/>
          <p:cNvSpPr txBox="1">
            <a:spLocks noGrp="1"/>
          </p:cNvSpPr>
          <p:nvPr>
            <p:ph type="title"/>
          </p:nvPr>
        </p:nvSpPr>
        <p:spPr>
          <a:xfrm>
            <a:off x="707542" y="324993"/>
            <a:ext cx="9926930" cy="821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12700" marR="5080" lvl="0" indent="0" algn="l" rtl="0">
              <a:lnSpc>
                <a:spcPct val="107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EXAMPLE: Eliminating Left  Recursion</a:t>
            </a:r>
            <a:endParaRPr dirty="0"/>
          </a:p>
        </p:txBody>
      </p:sp>
      <p:pic>
        <p:nvPicPr>
          <p:cNvPr id="587" name="Google Shape;587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55335" y="2354579"/>
            <a:ext cx="2430780" cy="1508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9952" y="2423160"/>
            <a:ext cx="2552700" cy="8839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9" name="Google Shape;589;p43"/>
          <p:cNvGrpSpPr/>
          <p:nvPr/>
        </p:nvGrpSpPr>
        <p:grpSpPr>
          <a:xfrm>
            <a:off x="1665477" y="1923033"/>
            <a:ext cx="1355725" cy="321945"/>
            <a:chOff x="1665477" y="1923033"/>
            <a:chExt cx="1355725" cy="321945"/>
          </a:xfrm>
        </p:grpSpPr>
        <p:pic>
          <p:nvPicPr>
            <p:cNvPr id="590" name="Google Shape;590;p4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689806" y="1966912"/>
              <a:ext cx="1296935" cy="2733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1" name="Google Shape;591;p43"/>
            <p:cNvSpPr/>
            <p:nvPr/>
          </p:nvSpPr>
          <p:spPr>
            <a:xfrm>
              <a:off x="1665477" y="1923033"/>
              <a:ext cx="1355725" cy="321945"/>
            </a:xfrm>
            <a:custGeom>
              <a:avLst/>
              <a:gdLst/>
              <a:ahLst/>
              <a:cxnLst/>
              <a:rect l="l" t="t" r="r" b="b"/>
              <a:pathLst>
                <a:path w="1355725" h="321944" extrusionOk="0">
                  <a:moveTo>
                    <a:pt x="0" y="321945"/>
                  </a:moveTo>
                  <a:lnTo>
                    <a:pt x="1355216" y="321945"/>
                  </a:lnTo>
                  <a:lnTo>
                    <a:pt x="1355216" y="0"/>
                  </a:lnTo>
                  <a:lnTo>
                    <a:pt x="0" y="0"/>
                  </a:lnTo>
                  <a:lnTo>
                    <a:pt x="0" y="321945"/>
                  </a:lnTo>
                  <a:close/>
                </a:path>
              </a:pathLst>
            </a:custGeom>
            <a:noFill/>
            <a:ln w="9525" cap="flat" cmpd="sng">
              <a:solidFill>
                <a:srgbClr val="4471C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2" name="Google Shape;592;p43"/>
          <p:cNvGrpSpPr/>
          <p:nvPr/>
        </p:nvGrpSpPr>
        <p:grpSpPr>
          <a:xfrm>
            <a:off x="5822950" y="1686941"/>
            <a:ext cx="1396365" cy="558165"/>
            <a:chOff x="5822950" y="1686941"/>
            <a:chExt cx="1396365" cy="558165"/>
          </a:xfrm>
        </p:grpSpPr>
        <p:pic>
          <p:nvPicPr>
            <p:cNvPr id="593" name="Google Shape;593;p4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934455" y="1760220"/>
              <a:ext cx="1219200" cy="4343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3"/>
            <p:cNvSpPr/>
            <p:nvPr/>
          </p:nvSpPr>
          <p:spPr>
            <a:xfrm>
              <a:off x="5822950" y="1686941"/>
              <a:ext cx="1396365" cy="558165"/>
            </a:xfrm>
            <a:custGeom>
              <a:avLst/>
              <a:gdLst/>
              <a:ahLst/>
              <a:cxnLst/>
              <a:rect l="l" t="t" r="r" b="b"/>
              <a:pathLst>
                <a:path w="1396365" h="558164" extrusionOk="0">
                  <a:moveTo>
                    <a:pt x="0" y="558164"/>
                  </a:moveTo>
                  <a:lnTo>
                    <a:pt x="1396365" y="558164"/>
                  </a:lnTo>
                  <a:lnTo>
                    <a:pt x="1396365" y="0"/>
                  </a:lnTo>
                  <a:lnTo>
                    <a:pt x="0" y="0"/>
                  </a:lnTo>
                  <a:lnTo>
                    <a:pt x="0" y="558164"/>
                  </a:lnTo>
                  <a:close/>
                </a:path>
              </a:pathLst>
            </a:custGeom>
            <a:noFill/>
            <a:ln w="9525" cap="flat" cmpd="sng">
              <a:solidFill>
                <a:srgbClr val="4471C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95" name="Google Shape;595;p4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54252" y="4965450"/>
            <a:ext cx="2301240" cy="572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4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075791" y="4965450"/>
            <a:ext cx="32766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4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399032" y="6080759"/>
            <a:ext cx="1958340" cy="205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4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087111" y="5623559"/>
            <a:ext cx="2750819" cy="883920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43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44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8948522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Two parse trees for id + id * id</a:t>
            </a:r>
            <a:endParaRPr dirty="0"/>
          </a:p>
        </p:txBody>
      </p:sp>
      <p:pic>
        <p:nvPicPr>
          <p:cNvPr id="605" name="Google Shape;605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2333" y="4069686"/>
            <a:ext cx="7020857" cy="20900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6" name="Google Shape;606;p44"/>
          <p:cNvGrpSpPr/>
          <p:nvPr/>
        </p:nvGrpSpPr>
        <p:grpSpPr>
          <a:xfrm>
            <a:off x="94488" y="1263396"/>
            <a:ext cx="6980917" cy="2308988"/>
            <a:chOff x="94488" y="1263396"/>
            <a:chExt cx="6980917" cy="2308988"/>
          </a:xfrm>
        </p:grpSpPr>
        <p:pic>
          <p:nvPicPr>
            <p:cNvPr id="607" name="Google Shape;607;p4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131970" y="2157635"/>
              <a:ext cx="4943435" cy="1414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8" name="Google Shape;608;p4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4488" y="1263396"/>
              <a:ext cx="2255520" cy="85496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9" name="Google Shape;609;p4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45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9341714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Top-down Parse of id + id * id</a:t>
            </a:r>
            <a:endParaRPr dirty="0"/>
          </a:p>
        </p:txBody>
      </p:sp>
      <p:pic>
        <p:nvPicPr>
          <p:cNvPr id="615" name="Google Shape;615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47309" y="1471253"/>
            <a:ext cx="5684598" cy="5112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7284" y="2991611"/>
            <a:ext cx="2430779" cy="15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45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46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5044034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Left factoring</a:t>
            </a:r>
            <a:endParaRPr dirty="0"/>
          </a:p>
        </p:txBody>
      </p:sp>
      <p:grpSp>
        <p:nvGrpSpPr>
          <p:cNvPr id="623" name="Google Shape;623;p46"/>
          <p:cNvGrpSpPr/>
          <p:nvPr/>
        </p:nvGrpSpPr>
        <p:grpSpPr>
          <a:xfrm>
            <a:off x="707542" y="1444618"/>
            <a:ext cx="8786239" cy="2349040"/>
            <a:chOff x="126492" y="1441703"/>
            <a:chExt cx="8786239" cy="2349040"/>
          </a:xfrm>
        </p:grpSpPr>
        <p:pic>
          <p:nvPicPr>
            <p:cNvPr id="624" name="Google Shape;624;p4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46236" y="1494071"/>
              <a:ext cx="8666495" cy="22966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5" name="Google Shape;625;p46"/>
            <p:cNvSpPr/>
            <p:nvPr/>
          </p:nvSpPr>
          <p:spPr>
            <a:xfrm>
              <a:off x="126492" y="1441703"/>
              <a:ext cx="1888489" cy="327660"/>
            </a:xfrm>
            <a:custGeom>
              <a:avLst/>
              <a:gdLst/>
              <a:ahLst/>
              <a:cxnLst/>
              <a:rect l="l" t="t" r="r" b="b"/>
              <a:pathLst>
                <a:path w="1888489" h="327660" extrusionOk="0">
                  <a:moveTo>
                    <a:pt x="1888236" y="0"/>
                  </a:moveTo>
                  <a:lnTo>
                    <a:pt x="0" y="0"/>
                  </a:lnTo>
                  <a:lnTo>
                    <a:pt x="0" y="327660"/>
                  </a:lnTo>
                  <a:lnTo>
                    <a:pt x="1888236" y="327660"/>
                  </a:lnTo>
                  <a:lnTo>
                    <a:pt x="18882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46"/>
            <p:cNvSpPr/>
            <p:nvPr/>
          </p:nvSpPr>
          <p:spPr>
            <a:xfrm>
              <a:off x="126492" y="1441703"/>
              <a:ext cx="1888489" cy="327660"/>
            </a:xfrm>
            <a:custGeom>
              <a:avLst/>
              <a:gdLst/>
              <a:ahLst/>
              <a:cxnLst/>
              <a:rect l="l" t="t" r="r" b="b"/>
              <a:pathLst>
                <a:path w="1888489" h="327660" extrusionOk="0">
                  <a:moveTo>
                    <a:pt x="0" y="327660"/>
                  </a:moveTo>
                  <a:lnTo>
                    <a:pt x="1888236" y="327660"/>
                  </a:lnTo>
                  <a:lnTo>
                    <a:pt x="1888236" y="0"/>
                  </a:lnTo>
                  <a:lnTo>
                    <a:pt x="0" y="0"/>
                  </a:lnTo>
                  <a:lnTo>
                    <a:pt x="0" y="327660"/>
                  </a:lnTo>
                  <a:close/>
                </a:path>
              </a:pathLst>
            </a:cu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27" name="Google Shape;627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7542" y="3931370"/>
            <a:ext cx="8901659" cy="2865118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46"/>
          <p:cNvSpPr txBox="1">
            <a:spLocks noGrp="1"/>
          </p:cNvSpPr>
          <p:nvPr>
            <p:ph type="sldNum" idx="12"/>
          </p:nvPr>
        </p:nvSpPr>
        <p:spPr>
          <a:xfrm>
            <a:off x="9902952" y="6453588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47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6836258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EXAMPLE: Left Factoring</a:t>
            </a:r>
            <a:endParaRPr dirty="0"/>
          </a:p>
        </p:txBody>
      </p:sp>
      <p:sp>
        <p:nvSpPr>
          <p:cNvPr id="634" name="Google Shape;634;p47"/>
          <p:cNvSpPr txBox="1"/>
          <p:nvPr/>
        </p:nvSpPr>
        <p:spPr>
          <a:xfrm>
            <a:off x="707542" y="1737106"/>
            <a:ext cx="4835525" cy="4062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the context-free grammar: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-&gt; S S + | S S * | 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6995" marR="708660" lvl="0" indent="-74930" algn="l" rtl="0">
              <a:lnSpc>
                <a:spcPct val="122692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Extract the left common factor  S -&gt; S S A | 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6995" marR="0" lvl="0" indent="0" algn="l" rtl="0">
              <a:lnSpc>
                <a:spcPct val="1178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-&gt; + | *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endParaRPr sz="2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333333"/>
                </a:solidFill>
                <a:latin typeface="Trebuchet MS"/>
                <a:ea typeface="Trebuchet MS"/>
                <a:cs typeface="Trebuchet MS"/>
                <a:sym typeface="Trebuchet MS"/>
              </a:rPr>
              <a:t>S -&gt; 0 S 1 | 0 1</a:t>
            </a:r>
            <a:endParaRPr sz="2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86995" marR="708660" lvl="0" indent="-74930" algn="l" rtl="0">
              <a:lnSpc>
                <a:spcPct val="101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Extract the left common factor  S -&gt; 0 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6995" marR="0" lvl="0" indent="0" algn="l" rtl="0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-&gt; S 1 | 1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47"/>
          <p:cNvSpPr txBox="1">
            <a:spLocks noGrp="1"/>
          </p:cNvSpPr>
          <p:nvPr>
            <p:ph type="sldNum" idx="12"/>
          </p:nvPr>
        </p:nvSpPr>
        <p:spPr>
          <a:xfrm>
            <a:off x="9902952" y="6396228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48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704657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EXAMPLE: Left Factoring</a:t>
            </a:r>
            <a:endParaRPr dirty="0"/>
          </a:p>
        </p:txBody>
      </p:sp>
      <p:grpSp>
        <p:nvGrpSpPr>
          <p:cNvPr id="641" name="Google Shape;641;p48"/>
          <p:cNvGrpSpPr/>
          <p:nvPr/>
        </p:nvGrpSpPr>
        <p:grpSpPr>
          <a:xfrm>
            <a:off x="707542" y="1743058"/>
            <a:ext cx="9028176" cy="4198730"/>
            <a:chOff x="114300" y="1868423"/>
            <a:chExt cx="9028176" cy="4198730"/>
          </a:xfrm>
        </p:grpSpPr>
        <p:pic>
          <p:nvPicPr>
            <p:cNvPr id="642" name="Google Shape;642;p4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63438" y="1959207"/>
              <a:ext cx="8760350" cy="41079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3" name="Google Shape;643;p48"/>
            <p:cNvSpPr/>
            <p:nvPr/>
          </p:nvSpPr>
          <p:spPr>
            <a:xfrm>
              <a:off x="114300" y="1868423"/>
              <a:ext cx="1888489" cy="327660"/>
            </a:xfrm>
            <a:custGeom>
              <a:avLst/>
              <a:gdLst/>
              <a:ahLst/>
              <a:cxnLst/>
              <a:rect l="l" t="t" r="r" b="b"/>
              <a:pathLst>
                <a:path w="1888489" h="327660" extrusionOk="0">
                  <a:moveTo>
                    <a:pt x="1888236" y="0"/>
                  </a:moveTo>
                  <a:lnTo>
                    <a:pt x="0" y="0"/>
                  </a:lnTo>
                  <a:lnTo>
                    <a:pt x="0" y="327660"/>
                  </a:lnTo>
                  <a:lnTo>
                    <a:pt x="1888236" y="327660"/>
                  </a:lnTo>
                  <a:lnTo>
                    <a:pt x="18882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48"/>
            <p:cNvSpPr/>
            <p:nvPr/>
          </p:nvSpPr>
          <p:spPr>
            <a:xfrm>
              <a:off x="114300" y="1868423"/>
              <a:ext cx="1888489" cy="327660"/>
            </a:xfrm>
            <a:custGeom>
              <a:avLst/>
              <a:gdLst/>
              <a:ahLst/>
              <a:cxnLst/>
              <a:rect l="l" t="t" r="r" b="b"/>
              <a:pathLst>
                <a:path w="1888489" h="327660" extrusionOk="0">
                  <a:moveTo>
                    <a:pt x="0" y="327660"/>
                  </a:moveTo>
                  <a:lnTo>
                    <a:pt x="1888236" y="327660"/>
                  </a:lnTo>
                  <a:lnTo>
                    <a:pt x="1888236" y="0"/>
                  </a:lnTo>
                  <a:lnTo>
                    <a:pt x="0" y="0"/>
                  </a:lnTo>
                  <a:lnTo>
                    <a:pt x="0" y="327660"/>
                  </a:lnTo>
                  <a:close/>
                </a:path>
              </a:pathLst>
            </a:cu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48"/>
            <p:cNvSpPr/>
            <p:nvPr/>
          </p:nvSpPr>
          <p:spPr>
            <a:xfrm>
              <a:off x="7252716" y="2881883"/>
              <a:ext cx="1889760" cy="329565"/>
            </a:xfrm>
            <a:custGeom>
              <a:avLst/>
              <a:gdLst/>
              <a:ahLst/>
              <a:cxnLst/>
              <a:rect l="l" t="t" r="r" b="b"/>
              <a:pathLst>
                <a:path w="1889759" h="329564" extrusionOk="0">
                  <a:moveTo>
                    <a:pt x="0" y="329184"/>
                  </a:moveTo>
                  <a:lnTo>
                    <a:pt x="1889760" y="329184"/>
                  </a:lnTo>
                  <a:lnTo>
                    <a:pt x="1889760" y="0"/>
                  </a:lnTo>
                  <a:lnTo>
                    <a:pt x="0" y="0"/>
                  </a:lnTo>
                  <a:lnTo>
                    <a:pt x="0" y="329184"/>
                  </a:lnTo>
                  <a:close/>
                </a:path>
              </a:pathLst>
            </a:cu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48"/>
            <p:cNvSpPr/>
            <p:nvPr/>
          </p:nvSpPr>
          <p:spPr>
            <a:xfrm>
              <a:off x="7141464" y="4591811"/>
              <a:ext cx="1888489" cy="327660"/>
            </a:xfrm>
            <a:custGeom>
              <a:avLst/>
              <a:gdLst/>
              <a:ahLst/>
              <a:cxnLst/>
              <a:rect l="l" t="t" r="r" b="b"/>
              <a:pathLst>
                <a:path w="1888490" h="327660" extrusionOk="0">
                  <a:moveTo>
                    <a:pt x="1888235" y="0"/>
                  </a:moveTo>
                  <a:lnTo>
                    <a:pt x="0" y="0"/>
                  </a:lnTo>
                  <a:lnTo>
                    <a:pt x="0" y="327660"/>
                  </a:lnTo>
                  <a:lnTo>
                    <a:pt x="1888235" y="327660"/>
                  </a:lnTo>
                  <a:lnTo>
                    <a:pt x="18882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48"/>
            <p:cNvSpPr/>
            <p:nvPr/>
          </p:nvSpPr>
          <p:spPr>
            <a:xfrm>
              <a:off x="7141464" y="4591811"/>
              <a:ext cx="1888489" cy="327660"/>
            </a:xfrm>
            <a:custGeom>
              <a:avLst/>
              <a:gdLst/>
              <a:ahLst/>
              <a:cxnLst/>
              <a:rect l="l" t="t" r="r" b="b"/>
              <a:pathLst>
                <a:path w="1888490" h="327660" extrusionOk="0">
                  <a:moveTo>
                    <a:pt x="0" y="327660"/>
                  </a:moveTo>
                  <a:lnTo>
                    <a:pt x="1888235" y="327660"/>
                  </a:lnTo>
                  <a:lnTo>
                    <a:pt x="1888235" y="0"/>
                  </a:lnTo>
                  <a:lnTo>
                    <a:pt x="0" y="0"/>
                  </a:lnTo>
                  <a:lnTo>
                    <a:pt x="0" y="327660"/>
                  </a:lnTo>
                  <a:close/>
                </a:path>
              </a:pathLst>
            </a:cu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8" name="Google Shape;648;p48"/>
          <p:cNvSpPr txBox="1">
            <a:spLocks noGrp="1"/>
          </p:cNvSpPr>
          <p:nvPr>
            <p:ph type="sldNum" idx="12"/>
          </p:nvPr>
        </p:nvSpPr>
        <p:spPr>
          <a:xfrm>
            <a:off x="9912096" y="6359652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49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718373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Recursive Descent Parsing</a:t>
            </a:r>
            <a:endParaRPr dirty="0"/>
          </a:p>
        </p:txBody>
      </p:sp>
      <p:sp>
        <p:nvSpPr>
          <p:cNvPr id="654" name="Google Shape;654;p49"/>
          <p:cNvSpPr txBox="1"/>
          <p:nvPr/>
        </p:nvSpPr>
        <p:spPr>
          <a:xfrm>
            <a:off x="707542" y="1793493"/>
            <a:ext cx="10036658" cy="2626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0" anchor="t" anchorCtr="0">
            <a:spAutoFit/>
          </a:bodyPr>
          <a:lstStyle/>
          <a:p>
            <a:pPr marL="241300" marR="5080" lvl="0" indent="-228600" algn="l" rtl="0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 parsing program consists of a set of procedures,  one for each non-terminal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307975" lvl="0" indent="-228600" algn="l" rtl="0">
              <a:lnSpc>
                <a:spcPct val="107857"/>
              </a:lnSpc>
              <a:spcBef>
                <a:spcPts val="101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Execution begins with the procedure for the start  symbol which halts and announces success if its  procedure body scans the entire input string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May/may not use backtracking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49"/>
          <p:cNvSpPr txBox="1">
            <a:spLocks noGrp="1"/>
          </p:cNvSpPr>
          <p:nvPr>
            <p:ph type="sldNum" idx="12"/>
          </p:nvPr>
        </p:nvSpPr>
        <p:spPr>
          <a:xfrm>
            <a:off x="9930384" y="6341364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50"/>
          <p:cNvSpPr txBox="1">
            <a:spLocks noGrp="1"/>
          </p:cNvSpPr>
          <p:nvPr>
            <p:ph type="title"/>
          </p:nvPr>
        </p:nvSpPr>
        <p:spPr>
          <a:xfrm>
            <a:off x="581964" y="682828"/>
            <a:ext cx="9741612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A typical procedure for a Non-Terminal</a:t>
            </a:r>
            <a:endParaRPr dirty="0"/>
          </a:p>
        </p:txBody>
      </p:sp>
      <p:pic>
        <p:nvPicPr>
          <p:cNvPr id="661" name="Google Shape;661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8435" y="2452319"/>
            <a:ext cx="7536665" cy="3173171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0"/>
          <p:cNvSpPr txBox="1">
            <a:spLocks noGrp="1"/>
          </p:cNvSpPr>
          <p:nvPr>
            <p:ph type="sldNum" idx="12"/>
          </p:nvPr>
        </p:nvSpPr>
        <p:spPr>
          <a:xfrm>
            <a:off x="9893808" y="6396228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51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7439762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Recursive Descent Parsing</a:t>
            </a:r>
            <a:endParaRPr dirty="0"/>
          </a:p>
        </p:txBody>
      </p:sp>
      <p:sp>
        <p:nvSpPr>
          <p:cNvPr id="668" name="Google Shape;668;p51"/>
          <p:cNvSpPr txBox="1"/>
          <p:nvPr/>
        </p:nvSpPr>
        <p:spPr>
          <a:xfrm>
            <a:off x="707542" y="1793493"/>
            <a:ext cx="11332058" cy="2374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0" anchor="t" anchorCtr="0">
            <a:spAutoFit/>
          </a:bodyPr>
          <a:lstStyle/>
          <a:p>
            <a:pPr marL="241300" marR="5080" lvl="0" indent="-228600" algn="l" rtl="0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the Recursive Descent Parser, we will write one program for every variable.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4885690" lvl="0" indent="-177800" algn="l" rtl="0">
              <a:lnSpc>
                <a:spcPct val="143571"/>
              </a:lnSpc>
              <a:spcBef>
                <a:spcPts val="7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 Grammar: 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4885690" lvl="0" indent="0" algn="l" rtl="0">
              <a:lnSpc>
                <a:spcPct val="143571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--&gt;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E'  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4885690" lvl="0" indent="0" algn="l" rtl="0">
              <a:lnSpc>
                <a:spcPct val="143571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E' --&gt; +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E' | e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51"/>
          <p:cNvSpPr txBox="1">
            <a:spLocks noGrp="1"/>
          </p:cNvSpPr>
          <p:nvPr>
            <p:ph type="sldNum" idx="12"/>
          </p:nvPr>
        </p:nvSpPr>
        <p:spPr>
          <a:xfrm>
            <a:off x="9936480" y="6359652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52"/>
          <p:cNvSpPr txBox="1"/>
          <p:nvPr/>
        </p:nvSpPr>
        <p:spPr>
          <a:xfrm>
            <a:off x="173532" y="68072"/>
            <a:ext cx="2583180" cy="483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8200"/>
                </a:solidFill>
                <a:latin typeface="Consolas"/>
                <a:ea typeface="Consolas"/>
                <a:cs typeface="Consolas"/>
                <a:sym typeface="Consolas"/>
              </a:rPr>
              <a:t>// E is a start symbol.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05765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D75B6"/>
                </a:solidFill>
                <a:latin typeface="Consolas"/>
                <a:ea typeface="Consolas"/>
                <a:cs typeface="Consolas"/>
                <a:sym typeface="Consolas"/>
              </a:rPr>
              <a:t>E();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5" name="Google Shape;675;p52"/>
          <p:cNvSpPr txBox="1"/>
          <p:nvPr/>
        </p:nvSpPr>
        <p:spPr>
          <a:xfrm>
            <a:off x="566724" y="738886"/>
            <a:ext cx="5535295" cy="879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D75B6"/>
                </a:solidFill>
                <a:latin typeface="Consolas"/>
                <a:ea typeface="Consolas"/>
                <a:cs typeface="Consolas"/>
                <a:sym typeface="Consolas"/>
              </a:rPr>
              <a:t>// if lookahead = $, it represents the end of the string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2700" marR="3251834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D75B6"/>
                </a:solidFill>
                <a:latin typeface="Consolas"/>
                <a:ea typeface="Consolas"/>
                <a:cs typeface="Consolas"/>
                <a:sym typeface="Consolas"/>
              </a:rPr>
              <a:t>// Here l is lookahead.  if (l == '$')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0576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D75B6"/>
                </a:solidFill>
                <a:latin typeface="Consolas"/>
                <a:ea typeface="Consolas"/>
                <a:cs typeface="Consolas"/>
                <a:sym typeface="Consolas"/>
              </a:rPr>
              <a:t>printf("Parsing Successful");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6" name="Google Shape;676;p52"/>
          <p:cNvSpPr txBox="1"/>
          <p:nvPr/>
        </p:nvSpPr>
        <p:spPr>
          <a:xfrm>
            <a:off x="173532" y="1592326"/>
            <a:ext cx="123825" cy="239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D75B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7" name="Google Shape;677;p52"/>
          <p:cNvSpPr txBox="1"/>
          <p:nvPr/>
        </p:nvSpPr>
        <p:spPr>
          <a:xfrm>
            <a:off x="173532" y="2019426"/>
            <a:ext cx="5250815" cy="4751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60579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D75B6"/>
                </a:solidFill>
                <a:latin typeface="Consolas"/>
                <a:ea typeface="Consolas"/>
                <a:cs typeface="Consolas"/>
                <a:sym typeface="Consolas"/>
              </a:rPr>
              <a:t>// Definition of E, as per the given production  E()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D75B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336042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D75B6"/>
                </a:solidFill>
                <a:latin typeface="Consolas"/>
                <a:ea typeface="Consolas"/>
                <a:cs typeface="Consolas"/>
                <a:sym typeface="Consolas"/>
              </a:rPr>
              <a:t>if (l == 'i') {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336042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match</a:t>
            </a:r>
            <a:r>
              <a:rPr lang="en-US" sz="1400">
                <a:solidFill>
                  <a:srgbClr val="2D75B6"/>
                </a:solidFill>
                <a:latin typeface="Consolas"/>
                <a:ea typeface="Consolas"/>
                <a:cs typeface="Consolas"/>
                <a:sym typeface="Consolas"/>
              </a:rPr>
              <a:t>('i');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79883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D75B6"/>
                </a:solidFill>
                <a:latin typeface="Consolas"/>
                <a:ea typeface="Consolas"/>
                <a:cs typeface="Consolas"/>
                <a:sym typeface="Consolas"/>
              </a:rPr>
              <a:t>E'();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0576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D75B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2700" marR="0" lvl="0" indent="0" algn="l" rtl="0">
              <a:lnSpc>
                <a:spcPct val="119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D75B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2700" marR="0" lvl="0" indent="0" algn="l" rtl="0">
              <a:lnSpc>
                <a:spcPct val="119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8200"/>
                </a:solidFill>
                <a:latin typeface="Consolas"/>
                <a:ea typeface="Consolas"/>
                <a:cs typeface="Consolas"/>
                <a:sym typeface="Consolas"/>
              </a:rPr>
              <a:t>// Definition of E' as per the given production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C55A11"/>
                </a:solidFill>
                <a:latin typeface="Consolas"/>
                <a:ea typeface="Consolas"/>
                <a:cs typeface="Consolas"/>
                <a:sym typeface="Consolas"/>
              </a:rPr>
              <a:t>E'()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C55A1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3361054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C55A11"/>
                </a:solidFill>
                <a:latin typeface="Consolas"/>
                <a:ea typeface="Consolas"/>
                <a:cs typeface="Consolas"/>
                <a:sym typeface="Consolas"/>
              </a:rPr>
              <a:t>if (l == '+') {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336042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match</a:t>
            </a:r>
            <a:r>
              <a:rPr lang="en-US" sz="1400">
                <a:solidFill>
                  <a:srgbClr val="C55A11"/>
                </a:solidFill>
                <a:latin typeface="Consolas"/>
                <a:ea typeface="Consolas"/>
                <a:cs typeface="Consolas"/>
                <a:sym typeface="Consolas"/>
              </a:rPr>
              <a:t>('+');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336042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match</a:t>
            </a:r>
            <a:r>
              <a:rPr lang="en-US" sz="1400">
                <a:solidFill>
                  <a:srgbClr val="C55A11"/>
                </a:solidFill>
                <a:latin typeface="Consolas"/>
                <a:ea typeface="Consolas"/>
                <a:cs typeface="Consolas"/>
                <a:sym typeface="Consolas"/>
              </a:rPr>
              <a:t>('i');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79883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C55A11"/>
                </a:solidFill>
                <a:latin typeface="Consolas"/>
                <a:ea typeface="Consolas"/>
                <a:cs typeface="Consolas"/>
                <a:sym typeface="Consolas"/>
              </a:rPr>
              <a:t>E'();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05765" marR="1983739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C55A11"/>
                </a:solidFill>
                <a:latin typeface="Consolas"/>
                <a:ea typeface="Consolas"/>
                <a:cs typeface="Consolas"/>
                <a:sym typeface="Consolas"/>
              </a:rPr>
              <a:t>}//The second condition of E'  else if ( l == 'e' )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0576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C55A1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0198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match</a:t>
            </a:r>
            <a:r>
              <a:rPr lang="en-US" sz="1400">
                <a:solidFill>
                  <a:srgbClr val="C55A11"/>
                </a:solidFill>
                <a:latin typeface="Consolas"/>
                <a:ea typeface="Consolas"/>
                <a:cs typeface="Consolas"/>
                <a:sym typeface="Consolas"/>
              </a:rPr>
              <a:t>('e');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0576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C55A1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79883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C55A11"/>
                </a:solidFill>
                <a:latin typeface="Consolas"/>
                <a:ea typeface="Consolas"/>
                <a:cs typeface="Consolas"/>
                <a:sym typeface="Consolas"/>
              </a:rPr>
              <a:t>return ();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C55A1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8" name="Google Shape;678;p52"/>
          <p:cNvSpPr txBox="1"/>
          <p:nvPr/>
        </p:nvSpPr>
        <p:spPr>
          <a:xfrm>
            <a:off x="7146035" y="420623"/>
            <a:ext cx="1640205" cy="646430"/>
          </a:xfrm>
          <a:prstGeom prst="rect">
            <a:avLst/>
          </a:prstGeom>
          <a:noFill/>
          <a:ln w="9525" cap="flat" cmpd="sng">
            <a:solidFill>
              <a:srgbClr val="4471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0475" rIns="0" bIns="0" anchor="t" anchorCtr="0">
            <a:spAutoFit/>
          </a:bodyPr>
          <a:lstStyle/>
          <a:p>
            <a:pPr marL="9271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--&gt; i E'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71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E' --&gt; + i E' | 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52"/>
          <p:cNvSpPr txBox="1"/>
          <p:nvPr/>
        </p:nvSpPr>
        <p:spPr>
          <a:xfrm>
            <a:off x="5902197" y="2927730"/>
            <a:ext cx="2694305" cy="221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78359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8200"/>
                </a:solidFill>
                <a:latin typeface="Consolas"/>
                <a:ea typeface="Consolas"/>
                <a:cs typeface="Consolas"/>
                <a:sym typeface="Consolas"/>
              </a:rPr>
              <a:t>// Match function  </a:t>
            </a: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match(</a:t>
            </a:r>
            <a:r>
              <a:rPr lang="en-US" sz="1600" b="1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char </a:t>
            </a: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6699"/>
                </a:solidFill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(l == t)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0233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 = </a:t>
            </a:r>
            <a:r>
              <a:rPr lang="en-US" sz="1600" b="1">
                <a:solidFill>
                  <a:srgbClr val="FF1392"/>
                </a:solidFill>
                <a:latin typeface="Consolas"/>
                <a:ea typeface="Consolas"/>
                <a:cs typeface="Consolas"/>
                <a:sym typeface="Consolas"/>
              </a:rPr>
              <a:t>getchar</a:t>
            </a: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6699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0233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1392"/>
                </a:solidFill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"Error"</a:t>
            </a: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0" name="Google Shape;680;p52"/>
          <p:cNvSpPr txBox="1">
            <a:spLocks noGrp="1"/>
          </p:cNvSpPr>
          <p:nvPr>
            <p:ph type="sldNum" idx="12"/>
          </p:nvPr>
        </p:nvSpPr>
        <p:spPr>
          <a:xfrm>
            <a:off x="9915348" y="6428231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281fbcb6519_0_0"/>
          <p:cNvSpPr txBox="1">
            <a:spLocks noGrp="1"/>
          </p:cNvSpPr>
          <p:nvPr>
            <p:ph type="title"/>
          </p:nvPr>
        </p:nvSpPr>
        <p:spPr>
          <a:xfrm>
            <a:off x="707553" y="325000"/>
            <a:ext cx="11057700" cy="6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Recursive v/s Non Recursive Predictive Parsing</a:t>
            </a:r>
            <a:endParaRPr/>
          </a:p>
        </p:txBody>
      </p:sp>
      <p:sp>
        <p:nvSpPr>
          <p:cNvPr id="552" name="Google Shape;552;g281fbcb6519_0_0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  <p:graphicFrame>
        <p:nvGraphicFramePr>
          <p:cNvPr id="553" name="Google Shape;553;g281fbcb6519_0_0"/>
          <p:cNvGraphicFramePr/>
          <p:nvPr/>
        </p:nvGraphicFramePr>
        <p:xfrm>
          <a:off x="483125" y="1423225"/>
          <a:ext cx="11057700" cy="4513198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{A3C948D4-A14A-4904-86D5-7FD2ECAA087F}</a:tableStyleId>
              </a:tblPr>
              <a:tblGrid>
                <a:gridCol w="544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22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800" b="1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Recursive Predictive Descent Parser</a:t>
                      </a:r>
                      <a:endParaRPr sz="1800" b="1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38100" marR="38100" marT="95250" marB="95250" anchor="ctr">
                    <a:lnL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800" b="1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Non-Recursive Predictive Descent Parser</a:t>
                      </a:r>
                      <a:endParaRPr sz="1800" b="1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5250" marR="95250" marT="95250" marB="95250" anchor="ctr">
                    <a:lnL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It is a technique which </a:t>
                      </a:r>
                      <a:r>
                        <a:rPr lang="en-US" sz="1650" u="sng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may or may not require</a:t>
                      </a:r>
                      <a:r>
                        <a:rPr lang="en-US" sz="1650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 backtracking process.</a:t>
                      </a:r>
                      <a:endParaRPr sz="1650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5250" marR="95250" marT="133350" marB="133350" anchor="ctr">
                    <a:lnL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It is a technique that </a:t>
                      </a:r>
                      <a:r>
                        <a:rPr lang="en-US" sz="1650" u="sng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does not require</a:t>
                      </a:r>
                      <a:r>
                        <a:rPr lang="en-US" sz="1650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 any kind of backtracking.</a:t>
                      </a:r>
                      <a:endParaRPr sz="1650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5250" marR="95250" marT="133350" marB="133350" anchor="ctr">
                    <a:lnL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It uses </a:t>
                      </a:r>
                      <a:r>
                        <a:rPr lang="en-US" sz="1650" u="sng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procedures for every non-terminal </a:t>
                      </a:r>
                      <a:r>
                        <a:rPr lang="en-US" sz="1650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entity to parse strings.</a:t>
                      </a:r>
                      <a:endParaRPr sz="1650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5250" marR="95250" marT="133350" marB="133350" anchor="ctr">
                    <a:lnL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It </a:t>
                      </a:r>
                      <a:r>
                        <a:rPr lang="en-US" sz="1650" u="sng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finds out productions to use </a:t>
                      </a:r>
                      <a:r>
                        <a:rPr lang="en-US" sz="1650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by replacing input string.</a:t>
                      </a:r>
                      <a:endParaRPr sz="1650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5250" marR="95250" marT="133350" marB="133350" anchor="ctr">
                    <a:lnL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43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It </a:t>
                      </a:r>
                      <a:r>
                        <a:rPr lang="en-US" sz="1650" u="sng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contains several small functions one for each non- terminals </a:t>
                      </a:r>
                      <a:r>
                        <a:rPr lang="en-US" sz="1650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in grammar.</a:t>
                      </a:r>
                      <a:endParaRPr sz="1650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5250" marR="95250" marT="133350" marB="133350" anchor="ctr">
                    <a:lnL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The predictive parser uses a </a:t>
                      </a:r>
                      <a:r>
                        <a:rPr lang="en-US" sz="1650" u="sng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look ahead pointer</a:t>
                      </a:r>
                      <a:r>
                        <a:rPr lang="en-US" sz="1650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 which points to next input symbols to make it parser back tracking free, predictive parser puts some constraints on grammar.</a:t>
                      </a:r>
                      <a:endParaRPr sz="1650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5250" marR="95250" marT="133350" marB="133350" anchor="ctr">
                    <a:lnL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It accepts </a:t>
                      </a:r>
                      <a:r>
                        <a:rPr lang="en-US" sz="1650" u="sng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all kinds of grammars</a:t>
                      </a:r>
                      <a:r>
                        <a:rPr lang="en-US" sz="1650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.</a:t>
                      </a:r>
                      <a:endParaRPr sz="1650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5250" marR="95250" marT="133350" marB="133350" anchor="ctr">
                    <a:lnL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It accepts only a class of grammar known as </a:t>
                      </a:r>
                      <a:r>
                        <a:rPr lang="en-US" sz="1650" u="sng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LL(k) grammar</a:t>
                      </a:r>
                      <a:r>
                        <a:rPr lang="en-US" sz="1650">
                          <a:solidFill>
                            <a:srgbClr val="273239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.</a:t>
                      </a:r>
                      <a:endParaRPr sz="1650">
                        <a:solidFill>
                          <a:srgbClr val="273239"/>
                        </a:solidFill>
                        <a:highlight>
                          <a:srgbClr val="FFFFFF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5250" marR="95250" marT="133350" marB="133350" anchor="ctr">
                    <a:lnL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DF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4C1A3E1-6F76-D031-4C1E-FD981399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542" y="324993"/>
            <a:ext cx="7728915" cy="677108"/>
          </a:xfrm>
        </p:spPr>
        <p:txBody>
          <a:bodyPr/>
          <a:lstStyle/>
          <a:p>
            <a:r>
              <a:rPr lang="en-US" dirty="0"/>
              <a:t>Brute Force Parsing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D7FB1-D292-7F68-BE7F-4D66297B84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54</a:t>
            </a:fld>
            <a:endParaRPr lang="en-US" sz="18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D37D94-C014-86AA-9EE5-977F8DF99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152" y="1786249"/>
            <a:ext cx="8211696" cy="459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4642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53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5290922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FIRST and FOLLOW</a:t>
            </a:r>
            <a:endParaRPr dirty="0"/>
          </a:p>
        </p:txBody>
      </p:sp>
      <p:sp>
        <p:nvSpPr>
          <p:cNvPr id="686" name="Google Shape;686;p53"/>
          <p:cNvSpPr txBox="1"/>
          <p:nvPr/>
        </p:nvSpPr>
        <p:spPr>
          <a:xfrm>
            <a:off x="707542" y="1793493"/>
            <a:ext cx="9222842" cy="3228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0" anchor="t" anchorCtr="0">
            <a:spAutoFit/>
          </a:bodyPr>
          <a:lstStyle/>
          <a:p>
            <a:pPr marL="241300" marR="177800" lvl="0" indent="-228600" algn="l" rtl="0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Construction of both top-down and bottom-up  parsers is aided by two function: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7865" marR="0" lvl="1" indent="-228600" algn="l" rtl="0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7865" marR="0" lvl="1" indent="-22860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FOLLOW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chemeClr val="dk1"/>
              </a:buClr>
              <a:buSzPts val="3350"/>
              <a:buFont typeface="Arial"/>
              <a:buNone/>
            </a:pPr>
            <a:endParaRPr sz="3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5080" lvl="0" indent="-228600" algn="l" rtl="0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top-down: FIRST and FOLLOW used to choose  which production to apply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53"/>
          <p:cNvSpPr txBox="1">
            <a:spLocks noGrp="1"/>
          </p:cNvSpPr>
          <p:nvPr>
            <p:ph type="sldNum" idx="12"/>
          </p:nvPr>
        </p:nvSpPr>
        <p:spPr>
          <a:xfrm>
            <a:off x="9930384" y="642366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55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7493634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Rules to find FIRST set</a:t>
            </a:r>
            <a:endParaRPr dirty="0"/>
          </a:p>
        </p:txBody>
      </p:sp>
      <p:sp>
        <p:nvSpPr>
          <p:cNvPr id="703" name="Google Shape;703;p55"/>
          <p:cNvSpPr txBox="1"/>
          <p:nvPr/>
        </p:nvSpPr>
        <p:spPr>
          <a:xfrm>
            <a:off x="669442" y="1316253"/>
            <a:ext cx="7531734" cy="497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2050" rIns="0" bIns="0" anchor="t" anchorCtr="0">
            <a:spAutoFit/>
          </a:bodyPr>
          <a:lstStyle/>
          <a:p>
            <a:pPr marL="2794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Rule-01:</a:t>
            </a:r>
            <a:endParaRPr sz="1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0800" marR="0" lvl="0" indent="0" algn="l" rtl="0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 production rule X → </a:t>
            </a:r>
            <a:r>
              <a:rPr lang="en-US" sz="19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∈</a:t>
            </a: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sz="1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235960" marR="0" lvl="0" indent="0" algn="l" rtl="0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First(X) = { </a:t>
            </a:r>
            <a:r>
              <a:rPr lang="en-US" sz="19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∈ </a:t>
            </a: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79400" marR="0" lvl="0" indent="-228600" algn="l" rtl="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Rule-02:</a:t>
            </a:r>
            <a:endParaRPr sz="1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0800" marR="0" lvl="0" indent="0" algn="l" rtl="0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any terminal symbol ‘a’,</a:t>
            </a:r>
            <a:endParaRPr sz="1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258820" marR="0" lvl="0" indent="0" algn="l" rtl="0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First(a) = { a }</a:t>
            </a:r>
            <a:endParaRPr sz="1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79400" marR="0" lvl="0" indent="-228600" algn="l" rtl="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Rule-03:</a:t>
            </a:r>
            <a:endParaRPr sz="1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0800" marR="0" lvl="0" indent="0" algn="l" rtl="0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 production rule X → Y</a:t>
            </a:r>
            <a:r>
              <a:rPr lang="en-US" sz="1875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1875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1875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sz="1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0800" marR="0" lvl="0" indent="0" algn="l" rtl="0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None/>
            </a:pPr>
            <a:r>
              <a:rPr lang="en-US" sz="19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Calculating First(X)</a:t>
            </a:r>
            <a:endParaRPr sz="1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79400" marR="0" lvl="0" indent="-228600" algn="l" rtl="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lang="en-US" sz="19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∈ ∉ </a:t>
            </a: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First(Y</a:t>
            </a:r>
            <a:r>
              <a:rPr lang="en-US" sz="1875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then First(X) = First(Y</a:t>
            </a:r>
            <a:r>
              <a:rPr lang="en-US" sz="1875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79400" marR="0" lvl="0" indent="-228600" algn="l" rtl="0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lang="en-US" sz="19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∈ ∈ </a:t>
            </a: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First(Y</a:t>
            </a:r>
            <a:r>
              <a:rPr lang="en-US" sz="1875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then First(X) = { First(Y</a:t>
            </a:r>
            <a:r>
              <a:rPr lang="en-US" sz="1875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– </a:t>
            </a:r>
            <a:r>
              <a:rPr lang="en-US" sz="19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∈ </a:t>
            </a: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</a:t>
            </a:r>
            <a:r>
              <a:rPr lang="en-US" sz="19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𝖴 </a:t>
            </a: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First(Y</a:t>
            </a:r>
            <a:r>
              <a:rPr lang="en-US" sz="1875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1875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0800" marR="0" lvl="0" indent="0" algn="l" rtl="0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None/>
            </a:pPr>
            <a:r>
              <a:rPr lang="en-US" sz="19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Calculating First(Y</a:t>
            </a:r>
            <a:r>
              <a:rPr lang="en-US" sz="1875" b="1" u="sng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9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1875" b="1" u="sng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9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79400" marR="0" lvl="0" indent="-228600" algn="l" rtl="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lang="en-US" sz="19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∈ ∉ </a:t>
            </a: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First(Y</a:t>
            </a:r>
            <a:r>
              <a:rPr lang="en-US" sz="1875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then First(Y</a:t>
            </a:r>
            <a:r>
              <a:rPr lang="en-US" sz="1875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1875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= First(Y</a:t>
            </a:r>
            <a:r>
              <a:rPr lang="en-US" sz="1875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79400" marR="0" lvl="0" indent="-228600" algn="l" rtl="0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lang="en-US" sz="19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∈ ∈ </a:t>
            </a: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First(Y</a:t>
            </a:r>
            <a:r>
              <a:rPr lang="en-US" sz="1875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then First(Y</a:t>
            </a:r>
            <a:r>
              <a:rPr lang="en-US" sz="1875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1875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= { First(Y</a:t>
            </a:r>
            <a:r>
              <a:rPr lang="en-US" sz="1875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– </a:t>
            </a:r>
            <a:r>
              <a:rPr lang="en-US" sz="19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∈ </a:t>
            </a: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</a:t>
            </a:r>
            <a:r>
              <a:rPr lang="en-US" sz="19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𝖴 </a:t>
            </a: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First(Y</a:t>
            </a:r>
            <a:r>
              <a:rPr lang="en-US" sz="1875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79400" marR="0" lvl="0" indent="-228600" algn="l" rtl="0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Similarly, we can make expansion for any production rule X → Y</a:t>
            </a:r>
            <a:r>
              <a:rPr lang="en-US" sz="1875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1875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1875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…..Y</a:t>
            </a:r>
            <a:r>
              <a:rPr lang="en-US" sz="1875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55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  <p:pic>
        <p:nvPicPr>
          <p:cNvPr id="696" name="Google Shape;696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68387" y="2207778"/>
            <a:ext cx="3257877" cy="1634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56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3041498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FOLLOW</a:t>
            </a:r>
            <a:endParaRPr dirty="0"/>
          </a:p>
        </p:txBody>
      </p:sp>
      <p:sp>
        <p:nvSpPr>
          <p:cNvPr id="710" name="Google Shape;710;p56"/>
          <p:cNvSpPr txBox="1"/>
          <p:nvPr/>
        </p:nvSpPr>
        <p:spPr>
          <a:xfrm>
            <a:off x="707542" y="1759966"/>
            <a:ext cx="7719695" cy="113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7150" rIns="0" bIns="0" anchor="t" anchorCtr="0">
            <a:spAutoFit/>
          </a:bodyPr>
          <a:lstStyle/>
          <a:p>
            <a:pPr marL="241300" marR="508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FOLLOW(A), for non-terminal A, is set of terminals a  that can appear immediately to the right of A in  some sentential form.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56"/>
          <p:cNvSpPr txBox="1"/>
          <p:nvPr/>
        </p:nvSpPr>
        <p:spPr>
          <a:xfrm>
            <a:off x="1560957" y="4680584"/>
            <a:ext cx="15113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∗</a:t>
            </a:r>
            <a:endParaRPr sz="205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712" name="Google Shape;712;p56"/>
          <p:cNvSpPr txBox="1"/>
          <p:nvPr/>
        </p:nvSpPr>
        <p:spPr>
          <a:xfrm>
            <a:off x="707542" y="4812884"/>
            <a:ext cx="7689215" cy="97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0" anchor="t" anchorCtr="0">
            <a:spAutoFit/>
          </a:bodyPr>
          <a:lstStyle/>
          <a:p>
            <a:pPr marL="2413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lang="en-US" sz="2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S ֜ 𝛼𝐴𝑎𝛽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then </a:t>
            </a:r>
            <a:r>
              <a:rPr lang="en-US" sz="2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in the FOLLOW(</a:t>
            </a:r>
            <a:r>
              <a:rPr lang="en-US" sz="2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 is the rightmost symbol, then $ is in FOLLOW(</a:t>
            </a:r>
            <a:r>
              <a:rPr lang="en-US" sz="2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3" name="Google Shape;713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72155" y="2880360"/>
            <a:ext cx="3599688" cy="2040636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56"/>
          <p:cNvSpPr/>
          <p:nvPr/>
        </p:nvSpPr>
        <p:spPr>
          <a:xfrm>
            <a:off x="5998083" y="5811888"/>
            <a:ext cx="478790" cy="311785"/>
          </a:xfrm>
          <a:custGeom>
            <a:avLst/>
            <a:gdLst/>
            <a:ahLst/>
            <a:cxnLst/>
            <a:rect l="l" t="t" r="r" b="b"/>
            <a:pathLst>
              <a:path w="478789" h="311785" extrusionOk="0">
                <a:moveTo>
                  <a:pt x="478663" y="311353"/>
                </a:move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rgbClr val="2E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56"/>
          <p:cNvSpPr txBox="1"/>
          <p:nvPr/>
        </p:nvSpPr>
        <p:spPr>
          <a:xfrm>
            <a:off x="6601968" y="6038088"/>
            <a:ext cx="1503045" cy="454659"/>
          </a:xfrm>
          <a:prstGeom prst="rect">
            <a:avLst/>
          </a:prstGeom>
          <a:solidFill>
            <a:srgbClr val="4471C4"/>
          </a:solidFill>
          <a:ln w="12700" cap="flat" cmpd="sng">
            <a:solidFill>
              <a:srgbClr val="2E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75550" rIns="0" bIns="0" anchor="t" anchorCtr="0">
            <a:spAutoFit/>
          </a:bodyPr>
          <a:lstStyle/>
          <a:p>
            <a:pPr marL="2095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End-marker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56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57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6991706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Rules to Find Follow set</a:t>
            </a:r>
            <a:endParaRPr dirty="0"/>
          </a:p>
        </p:txBody>
      </p:sp>
      <p:sp>
        <p:nvSpPr>
          <p:cNvPr id="722" name="Google Shape;722;p57"/>
          <p:cNvSpPr txBox="1"/>
          <p:nvPr/>
        </p:nvSpPr>
        <p:spPr>
          <a:xfrm>
            <a:off x="707542" y="1746250"/>
            <a:ext cx="7320280" cy="422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413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Rule-01: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645" marR="0" lvl="0" indent="0" algn="l" rtl="0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the start symbol S, place $ in Follow(S).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Rule-02: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any production rule A → αB,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64460" marR="0" lvl="1" indent="-229235" algn="l" rtl="0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Follow(B) = Follow(A)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Arial"/>
              <a:buNone/>
            </a:pP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Rule-03: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any production rule A → αBβ,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lang="en-US" sz="24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∈ ∉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First(β), then Follow(B) = First(β)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lang="en-US" sz="24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∈ ∈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First(β), then Follow(B) = { First(β) – </a:t>
            </a:r>
            <a:r>
              <a:rPr lang="en-US" sz="24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∈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</a:t>
            </a:r>
            <a:r>
              <a:rPr lang="en-US" sz="24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𝖴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Follow(A)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57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8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7064858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Finding FIRST and FOLLOW</a:t>
            </a:r>
            <a:endParaRPr dirty="0"/>
          </a:p>
        </p:txBody>
      </p:sp>
      <p:pic>
        <p:nvPicPr>
          <p:cNvPr id="729" name="Google Shape;729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7953" y="1798046"/>
            <a:ext cx="2386127" cy="1487045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58"/>
          <p:cNvSpPr txBox="1"/>
          <p:nvPr/>
        </p:nvSpPr>
        <p:spPr>
          <a:xfrm>
            <a:off x="6671817" y="2307590"/>
            <a:ext cx="3773804" cy="224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41300" marR="0" lvl="0" indent="-228600" algn="l" rtl="0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FOLLOW(E)=FOLLOW(E’)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0" algn="l" rtl="0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={),$}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13928"/>
              </a:lnSpc>
              <a:spcBef>
                <a:spcPts val="67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FOLLOW(T)=FOLLOW(T’)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0" algn="l" rtl="0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={+,$,)}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FOLLOW(F)={+,$,),*}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8"/>
          <p:cNvSpPr txBox="1"/>
          <p:nvPr/>
        </p:nvSpPr>
        <p:spPr>
          <a:xfrm>
            <a:off x="1191564" y="3572910"/>
            <a:ext cx="4091940" cy="1858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41300" marR="0" lvl="0" indent="-228600" algn="l" rtl="0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FIRST(E)=FIRST(T)=FIRST(F)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0" algn="l" rtl="0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={(,id}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FIRST(E’)={+,ε}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FIRST(T’)={*, ε}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58"/>
          <p:cNvSpPr/>
          <p:nvPr/>
        </p:nvSpPr>
        <p:spPr>
          <a:xfrm>
            <a:off x="1775714" y="1787270"/>
            <a:ext cx="353695" cy="76200"/>
          </a:xfrm>
          <a:custGeom>
            <a:avLst/>
            <a:gdLst/>
            <a:ahLst/>
            <a:cxnLst/>
            <a:rect l="l" t="t" r="r" b="b"/>
            <a:pathLst>
              <a:path w="353694" h="76200" extrusionOk="0">
                <a:moveTo>
                  <a:pt x="0" y="0"/>
                </a:moveTo>
                <a:lnTo>
                  <a:pt x="353313" y="75691"/>
                </a:lnTo>
              </a:path>
            </a:pathLst>
          </a:custGeom>
          <a:noFill/>
          <a:ln w="12675" cap="flat" cmpd="sng">
            <a:solidFill>
              <a:srgbClr val="2E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58"/>
          <p:cNvSpPr txBox="1"/>
          <p:nvPr/>
        </p:nvSpPr>
        <p:spPr>
          <a:xfrm>
            <a:off x="300227" y="1690116"/>
            <a:ext cx="1278890" cy="690880"/>
          </a:xfrm>
          <a:prstGeom prst="rect">
            <a:avLst/>
          </a:prstGeom>
          <a:solidFill>
            <a:srgbClr val="4471C4"/>
          </a:solidFill>
          <a:ln w="12700" cap="flat" cmpd="sng">
            <a:solidFill>
              <a:srgbClr val="2E52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5875" rIns="0" bIns="0" anchor="t" anchorCtr="0">
            <a:spAutoFit/>
          </a:bodyPr>
          <a:lstStyle/>
          <a:p>
            <a:pPr marL="218440" marR="21209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Non-left-  recursive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58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59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59"/>
          <p:cNvSpPr txBox="1">
            <a:spLocks noGrp="1"/>
          </p:cNvSpPr>
          <p:nvPr>
            <p:ph type="title"/>
          </p:nvPr>
        </p:nvSpPr>
        <p:spPr>
          <a:xfrm>
            <a:off x="707542" y="308228"/>
            <a:ext cx="9680042" cy="821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12700" marR="5080" lvl="0" indent="0" algn="l" rtl="0">
              <a:lnSpc>
                <a:spcPct val="107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Requirement of FIRST and  FOLLOW</a:t>
            </a:r>
            <a:endParaRPr dirty="0"/>
          </a:p>
        </p:txBody>
      </p:sp>
      <p:pic>
        <p:nvPicPr>
          <p:cNvPr id="740" name="Google Shape;740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1747" y="3048000"/>
            <a:ext cx="276606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" name="Google Shape;741;p5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025139"/>
            <a:ext cx="4114800" cy="807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2" name="Google Shape;742;p5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79491" y="4462271"/>
            <a:ext cx="3101340" cy="1409699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5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60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60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5702402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LL(1) Grammars</a:t>
            </a:r>
            <a:endParaRPr dirty="0"/>
          </a:p>
        </p:txBody>
      </p:sp>
      <p:sp>
        <p:nvSpPr>
          <p:cNvPr id="749" name="Google Shape;749;p60"/>
          <p:cNvSpPr/>
          <p:nvPr/>
        </p:nvSpPr>
        <p:spPr>
          <a:xfrm>
            <a:off x="1725802" y="4387215"/>
            <a:ext cx="5269865" cy="784225"/>
          </a:xfrm>
          <a:custGeom>
            <a:avLst/>
            <a:gdLst/>
            <a:ahLst/>
            <a:cxnLst/>
            <a:rect l="l" t="t" r="r" b="b"/>
            <a:pathLst>
              <a:path w="5269865" h="784225" extrusionOk="0">
                <a:moveTo>
                  <a:pt x="2827909" y="180212"/>
                </a:moveTo>
                <a:lnTo>
                  <a:pt x="2827909" y="392049"/>
                </a:lnTo>
                <a:lnTo>
                  <a:pt x="5269483" y="392049"/>
                </a:lnTo>
                <a:lnTo>
                  <a:pt x="5269483" y="604012"/>
                </a:lnTo>
              </a:path>
              <a:path w="5269865" h="784225" extrusionOk="0">
                <a:moveTo>
                  <a:pt x="2827909" y="180212"/>
                </a:moveTo>
                <a:lnTo>
                  <a:pt x="2827909" y="604012"/>
                </a:lnTo>
              </a:path>
              <a:path w="5269865" h="784225" extrusionOk="0">
                <a:moveTo>
                  <a:pt x="2828036" y="180212"/>
                </a:moveTo>
                <a:lnTo>
                  <a:pt x="2828036" y="392049"/>
                </a:lnTo>
                <a:lnTo>
                  <a:pt x="386461" y="392049"/>
                </a:lnTo>
                <a:lnTo>
                  <a:pt x="386461" y="604012"/>
                </a:lnTo>
              </a:path>
              <a:path w="5269865" h="784225" extrusionOk="0">
                <a:moveTo>
                  <a:pt x="3214370" y="0"/>
                </a:moveTo>
                <a:lnTo>
                  <a:pt x="3181374" y="35742"/>
                </a:lnTo>
                <a:lnTo>
                  <a:pt x="3145786" y="67604"/>
                </a:lnTo>
                <a:lnTo>
                  <a:pt x="3107905" y="95559"/>
                </a:lnTo>
                <a:lnTo>
                  <a:pt x="3068028" y="119581"/>
                </a:lnTo>
                <a:lnTo>
                  <a:pt x="3026454" y="139645"/>
                </a:lnTo>
                <a:lnTo>
                  <a:pt x="2983481" y="155725"/>
                </a:lnTo>
                <a:lnTo>
                  <a:pt x="2939407" y="167795"/>
                </a:lnTo>
                <a:lnTo>
                  <a:pt x="2894529" y="175828"/>
                </a:lnTo>
                <a:lnTo>
                  <a:pt x="2849146" y="179800"/>
                </a:lnTo>
                <a:lnTo>
                  <a:pt x="2803557" y="179683"/>
                </a:lnTo>
                <a:lnTo>
                  <a:pt x="2758059" y="175453"/>
                </a:lnTo>
                <a:lnTo>
                  <a:pt x="2712950" y="167083"/>
                </a:lnTo>
                <a:lnTo>
                  <a:pt x="2668528" y="154547"/>
                </a:lnTo>
                <a:lnTo>
                  <a:pt x="2625092" y="137820"/>
                </a:lnTo>
                <a:lnTo>
                  <a:pt x="2582939" y="116875"/>
                </a:lnTo>
                <a:lnTo>
                  <a:pt x="2542369" y="91687"/>
                </a:lnTo>
                <a:lnTo>
                  <a:pt x="2503678" y="62230"/>
                </a:lnTo>
                <a:lnTo>
                  <a:pt x="2471229" y="32448"/>
                </a:lnTo>
                <a:lnTo>
                  <a:pt x="2455993" y="16545"/>
                </a:lnTo>
                <a:lnTo>
                  <a:pt x="2441448" y="0"/>
                </a:lnTo>
              </a:path>
              <a:path w="5269865" h="784225" extrusionOk="0">
                <a:moveTo>
                  <a:pt x="0" y="784098"/>
                </a:moveTo>
                <a:lnTo>
                  <a:pt x="32995" y="748355"/>
                </a:lnTo>
                <a:lnTo>
                  <a:pt x="68583" y="716493"/>
                </a:lnTo>
                <a:lnTo>
                  <a:pt x="106464" y="688538"/>
                </a:lnTo>
                <a:lnTo>
                  <a:pt x="146341" y="664516"/>
                </a:lnTo>
                <a:lnTo>
                  <a:pt x="187915" y="644452"/>
                </a:lnTo>
                <a:lnTo>
                  <a:pt x="230888" y="628372"/>
                </a:lnTo>
                <a:lnTo>
                  <a:pt x="274962" y="616302"/>
                </a:lnTo>
                <a:lnTo>
                  <a:pt x="319840" y="608269"/>
                </a:lnTo>
                <a:lnTo>
                  <a:pt x="365223" y="604297"/>
                </a:lnTo>
                <a:lnTo>
                  <a:pt x="410812" y="604414"/>
                </a:lnTo>
                <a:lnTo>
                  <a:pt x="456310" y="608644"/>
                </a:lnTo>
                <a:lnTo>
                  <a:pt x="501419" y="617014"/>
                </a:lnTo>
                <a:lnTo>
                  <a:pt x="545841" y="629550"/>
                </a:lnTo>
                <a:lnTo>
                  <a:pt x="589277" y="646277"/>
                </a:lnTo>
                <a:lnTo>
                  <a:pt x="631430" y="667222"/>
                </a:lnTo>
                <a:lnTo>
                  <a:pt x="672000" y="692410"/>
                </a:lnTo>
                <a:lnTo>
                  <a:pt x="710692" y="721868"/>
                </a:lnTo>
                <a:lnTo>
                  <a:pt x="743140" y="751649"/>
                </a:lnTo>
                <a:lnTo>
                  <a:pt x="758376" y="767552"/>
                </a:lnTo>
                <a:lnTo>
                  <a:pt x="772922" y="784098"/>
                </a:lnTo>
              </a:path>
            </a:pathLst>
          </a:custGeom>
          <a:noFill/>
          <a:ln w="12700" cap="flat" cmpd="sng">
            <a:solidFill>
              <a:srgbClr val="3458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60"/>
          <p:cNvSpPr/>
          <p:nvPr/>
        </p:nvSpPr>
        <p:spPr>
          <a:xfrm>
            <a:off x="4167251" y="3558952"/>
            <a:ext cx="773430" cy="180340"/>
          </a:xfrm>
          <a:custGeom>
            <a:avLst/>
            <a:gdLst/>
            <a:ahLst/>
            <a:cxnLst/>
            <a:rect l="l" t="t" r="r" b="b"/>
            <a:pathLst>
              <a:path w="773429" h="180339" extrusionOk="0">
                <a:moveTo>
                  <a:pt x="0" y="179800"/>
                </a:moveTo>
                <a:lnTo>
                  <a:pt x="32995" y="144057"/>
                </a:lnTo>
                <a:lnTo>
                  <a:pt x="68583" y="112196"/>
                </a:lnTo>
                <a:lnTo>
                  <a:pt x="106464" y="84240"/>
                </a:lnTo>
                <a:lnTo>
                  <a:pt x="146341" y="60218"/>
                </a:lnTo>
                <a:lnTo>
                  <a:pt x="187915" y="40154"/>
                </a:lnTo>
                <a:lnTo>
                  <a:pt x="230888" y="24074"/>
                </a:lnTo>
                <a:lnTo>
                  <a:pt x="274962" y="12004"/>
                </a:lnTo>
                <a:lnTo>
                  <a:pt x="319840" y="3971"/>
                </a:lnTo>
                <a:lnTo>
                  <a:pt x="365223" y="0"/>
                </a:lnTo>
                <a:lnTo>
                  <a:pt x="410812" y="116"/>
                </a:lnTo>
                <a:lnTo>
                  <a:pt x="456310" y="4346"/>
                </a:lnTo>
                <a:lnTo>
                  <a:pt x="501419" y="12717"/>
                </a:lnTo>
                <a:lnTo>
                  <a:pt x="545841" y="25252"/>
                </a:lnTo>
                <a:lnTo>
                  <a:pt x="589277" y="41980"/>
                </a:lnTo>
                <a:lnTo>
                  <a:pt x="631430" y="62924"/>
                </a:lnTo>
                <a:lnTo>
                  <a:pt x="672000" y="88112"/>
                </a:lnTo>
                <a:lnTo>
                  <a:pt x="710691" y="117570"/>
                </a:lnTo>
                <a:lnTo>
                  <a:pt x="743140" y="147351"/>
                </a:lnTo>
                <a:lnTo>
                  <a:pt x="758376" y="163254"/>
                </a:lnTo>
                <a:lnTo>
                  <a:pt x="772922" y="179800"/>
                </a:lnTo>
              </a:path>
            </a:pathLst>
          </a:custGeom>
          <a:noFill/>
          <a:ln w="12700" cap="flat" cmpd="sng">
            <a:solidFill>
              <a:srgbClr val="3458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60"/>
          <p:cNvSpPr txBox="1"/>
          <p:nvPr/>
        </p:nvSpPr>
        <p:spPr>
          <a:xfrm>
            <a:off x="4268851" y="3849751"/>
            <a:ext cx="570230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LL(1)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60"/>
          <p:cNvSpPr txBox="1"/>
          <p:nvPr/>
        </p:nvSpPr>
        <p:spPr>
          <a:xfrm>
            <a:off x="707542" y="1793493"/>
            <a:ext cx="10841330" cy="1488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pPr marL="241300" marR="508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Predictive parsers, i.e. recursive descent parsers  needing no backtracking can be constructed for a  class of grammars called LL(1)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385435" marR="605155" lvl="1" indent="-228600" algn="l" rtl="0">
              <a:lnSpc>
                <a:spcPct val="96071"/>
              </a:lnSpc>
              <a:spcBef>
                <a:spcPts val="1939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left  recursion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60"/>
          <p:cNvSpPr/>
          <p:nvPr/>
        </p:nvSpPr>
        <p:spPr>
          <a:xfrm>
            <a:off x="1725802" y="5819787"/>
            <a:ext cx="773430" cy="180340"/>
          </a:xfrm>
          <a:custGeom>
            <a:avLst/>
            <a:gdLst/>
            <a:ahLst/>
            <a:cxnLst/>
            <a:rect l="l" t="t" r="r" b="b"/>
            <a:pathLst>
              <a:path w="773430" h="180339" extrusionOk="0">
                <a:moveTo>
                  <a:pt x="772922" y="0"/>
                </a:moveTo>
                <a:lnTo>
                  <a:pt x="739926" y="35732"/>
                </a:lnTo>
                <a:lnTo>
                  <a:pt x="704338" y="67585"/>
                </a:lnTo>
                <a:lnTo>
                  <a:pt x="666457" y="95533"/>
                </a:lnTo>
                <a:lnTo>
                  <a:pt x="626580" y="119550"/>
                </a:lnTo>
                <a:lnTo>
                  <a:pt x="585006" y="139609"/>
                </a:lnTo>
                <a:lnTo>
                  <a:pt x="542033" y="155686"/>
                </a:lnTo>
                <a:lnTo>
                  <a:pt x="497959" y="167753"/>
                </a:lnTo>
                <a:lnTo>
                  <a:pt x="453081" y="175784"/>
                </a:lnTo>
                <a:lnTo>
                  <a:pt x="407698" y="179755"/>
                </a:lnTo>
                <a:lnTo>
                  <a:pt x="362109" y="179638"/>
                </a:lnTo>
                <a:lnTo>
                  <a:pt x="316611" y="175407"/>
                </a:lnTo>
                <a:lnTo>
                  <a:pt x="271502" y="167036"/>
                </a:lnTo>
                <a:lnTo>
                  <a:pt x="227080" y="154500"/>
                </a:lnTo>
                <a:lnTo>
                  <a:pt x="183644" y="137773"/>
                </a:lnTo>
                <a:lnTo>
                  <a:pt x="141491" y="116827"/>
                </a:lnTo>
                <a:lnTo>
                  <a:pt x="100921" y="91638"/>
                </a:lnTo>
                <a:lnTo>
                  <a:pt x="62230" y="62179"/>
                </a:lnTo>
                <a:lnTo>
                  <a:pt x="29781" y="32451"/>
                </a:lnTo>
                <a:lnTo>
                  <a:pt x="14545" y="16555"/>
                </a:ln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rgbClr val="3458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60"/>
          <p:cNvSpPr txBox="1"/>
          <p:nvPr/>
        </p:nvSpPr>
        <p:spPr>
          <a:xfrm>
            <a:off x="1262888" y="5129276"/>
            <a:ext cx="1700530" cy="668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Scanning input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017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sz="2200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left to right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60"/>
          <p:cNvSpPr/>
          <p:nvPr/>
        </p:nvSpPr>
        <p:spPr>
          <a:xfrm>
            <a:off x="4167251" y="4991512"/>
            <a:ext cx="773430" cy="180340"/>
          </a:xfrm>
          <a:custGeom>
            <a:avLst/>
            <a:gdLst/>
            <a:ahLst/>
            <a:cxnLst/>
            <a:rect l="l" t="t" r="r" b="b"/>
            <a:pathLst>
              <a:path w="773429" h="180339" extrusionOk="0">
                <a:moveTo>
                  <a:pt x="0" y="179800"/>
                </a:moveTo>
                <a:lnTo>
                  <a:pt x="32995" y="144057"/>
                </a:lnTo>
                <a:lnTo>
                  <a:pt x="68583" y="112196"/>
                </a:lnTo>
                <a:lnTo>
                  <a:pt x="106464" y="84240"/>
                </a:lnTo>
                <a:lnTo>
                  <a:pt x="146341" y="60218"/>
                </a:lnTo>
                <a:lnTo>
                  <a:pt x="187915" y="40154"/>
                </a:lnTo>
                <a:lnTo>
                  <a:pt x="230888" y="24074"/>
                </a:lnTo>
                <a:lnTo>
                  <a:pt x="274962" y="12004"/>
                </a:lnTo>
                <a:lnTo>
                  <a:pt x="319840" y="3971"/>
                </a:lnTo>
                <a:lnTo>
                  <a:pt x="365223" y="0"/>
                </a:lnTo>
                <a:lnTo>
                  <a:pt x="410812" y="116"/>
                </a:lnTo>
                <a:lnTo>
                  <a:pt x="456310" y="4346"/>
                </a:lnTo>
                <a:lnTo>
                  <a:pt x="501419" y="12717"/>
                </a:lnTo>
                <a:lnTo>
                  <a:pt x="545841" y="25252"/>
                </a:lnTo>
                <a:lnTo>
                  <a:pt x="589277" y="41980"/>
                </a:lnTo>
                <a:lnTo>
                  <a:pt x="631430" y="62924"/>
                </a:lnTo>
                <a:lnTo>
                  <a:pt x="672000" y="88112"/>
                </a:lnTo>
                <a:lnTo>
                  <a:pt x="710691" y="117570"/>
                </a:lnTo>
                <a:lnTo>
                  <a:pt x="743140" y="147351"/>
                </a:lnTo>
                <a:lnTo>
                  <a:pt x="758376" y="163254"/>
                </a:lnTo>
                <a:lnTo>
                  <a:pt x="772922" y="179800"/>
                </a:lnTo>
              </a:path>
            </a:pathLst>
          </a:custGeom>
          <a:noFill/>
          <a:ln w="12700" cap="flat" cmpd="sng">
            <a:solidFill>
              <a:srgbClr val="3458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60"/>
          <p:cNvSpPr/>
          <p:nvPr/>
        </p:nvSpPr>
        <p:spPr>
          <a:xfrm>
            <a:off x="4167251" y="5819787"/>
            <a:ext cx="773430" cy="180340"/>
          </a:xfrm>
          <a:custGeom>
            <a:avLst/>
            <a:gdLst/>
            <a:ahLst/>
            <a:cxnLst/>
            <a:rect l="l" t="t" r="r" b="b"/>
            <a:pathLst>
              <a:path w="773429" h="180339" extrusionOk="0">
                <a:moveTo>
                  <a:pt x="772922" y="0"/>
                </a:moveTo>
                <a:lnTo>
                  <a:pt x="739926" y="35732"/>
                </a:lnTo>
                <a:lnTo>
                  <a:pt x="704338" y="67585"/>
                </a:lnTo>
                <a:lnTo>
                  <a:pt x="666457" y="95533"/>
                </a:lnTo>
                <a:lnTo>
                  <a:pt x="626580" y="119550"/>
                </a:lnTo>
                <a:lnTo>
                  <a:pt x="585006" y="139609"/>
                </a:lnTo>
                <a:lnTo>
                  <a:pt x="542033" y="155686"/>
                </a:lnTo>
                <a:lnTo>
                  <a:pt x="497959" y="167753"/>
                </a:lnTo>
                <a:lnTo>
                  <a:pt x="453081" y="175784"/>
                </a:lnTo>
                <a:lnTo>
                  <a:pt x="407698" y="179755"/>
                </a:lnTo>
                <a:lnTo>
                  <a:pt x="362109" y="179638"/>
                </a:lnTo>
                <a:lnTo>
                  <a:pt x="316611" y="175407"/>
                </a:lnTo>
                <a:lnTo>
                  <a:pt x="271502" y="167036"/>
                </a:lnTo>
                <a:lnTo>
                  <a:pt x="227080" y="154500"/>
                </a:lnTo>
                <a:lnTo>
                  <a:pt x="183644" y="137773"/>
                </a:lnTo>
                <a:lnTo>
                  <a:pt x="141491" y="116827"/>
                </a:lnTo>
                <a:lnTo>
                  <a:pt x="100921" y="91638"/>
                </a:lnTo>
                <a:lnTo>
                  <a:pt x="62229" y="62179"/>
                </a:lnTo>
                <a:lnTo>
                  <a:pt x="29781" y="32451"/>
                </a:lnTo>
                <a:lnTo>
                  <a:pt x="14545" y="16555"/>
                </a:ln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rgbClr val="3458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60"/>
          <p:cNvSpPr txBox="1"/>
          <p:nvPr/>
        </p:nvSpPr>
        <p:spPr>
          <a:xfrm>
            <a:off x="3965575" y="5129276"/>
            <a:ext cx="1175385" cy="668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spAutoFit/>
          </a:bodyPr>
          <a:lstStyle/>
          <a:p>
            <a:pPr marL="12700" marR="5080" lvl="0" indent="7429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Leftmost 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derivation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60"/>
          <p:cNvSpPr/>
          <p:nvPr/>
        </p:nvSpPr>
        <p:spPr>
          <a:xfrm>
            <a:off x="6608698" y="4991512"/>
            <a:ext cx="773430" cy="180340"/>
          </a:xfrm>
          <a:custGeom>
            <a:avLst/>
            <a:gdLst/>
            <a:ahLst/>
            <a:cxnLst/>
            <a:rect l="l" t="t" r="r" b="b"/>
            <a:pathLst>
              <a:path w="773429" h="180339" extrusionOk="0">
                <a:moveTo>
                  <a:pt x="0" y="179800"/>
                </a:moveTo>
                <a:lnTo>
                  <a:pt x="32995" y="144057"/>
                </a:lnTo>
                <a:lnTo>
                  <a:pt x="68583" y="112196"/>
                </a:lnTo>
                <a:lnTo>
                  <a:pt x="106464" y="84240"/>
                </a:lnTo>
                <a:lnTo>
                  <a:pt x="146341" y="60218"/>
                </a:lnTo>
                <a:lnTo>
                  <a:pt x="187915" y="40154"/>
                </a:lnTo>
                <a:lnTo>
                  <a:pt x="230888" y="24074"/>
                </a:lnTo>
                <a:lnTo>
                  <a:pt x="274962" y="12004"/>
                </a:lnTo>
                <a:lnTo>
                  <a:pt x="319840" y="3971"/>
                </a:lnTo>
                <a:lnTo>
                  <a:pt x="365223" y="0"/>
                </a:lnTo>
                <a:lnTo>
                  <a:pt x="410812" y="116"/>
                </a:lnTo>
                <a:lnTo>
                  <a:pt x="456310" y="4346"/>
                </a:lnTo>
                <a:lnTo>
                  <a:pt x="501419" y="12717"/>
                </a:lnTo>
                <a:lnTo>
                  <a:pt x="545841" y="25252"/>
                </a:lnTo>
                <a:lnTo>
                  <a:pt x="589277" y="41980"/>
                </a:lnTo>
                <a:lnTo>
                  <a:pt x="631430" y="62924"/>
                </a:lnTo>
                <a:lnTo>
                  <a:pt x="672000" y="88112"/>
                </a:lnTo>
                <a:lnTo>
                  <a:pt x="710692" y="117570"/>
                </a:lnTo>
                <a:lnTo>
                  <a:pt x="743140" y="147351"/>
                </a:lnTo>
                <a:lnTo>
                  <a:pt x="758376" y="163254"/>
                </a:lnTo>
                <a:lnTo>
                  <a:pt x="772922" y="179800"/>
                </a:lnTo>
              </a:path>
            </a:pathLst>
          </a:custGeom>
          <a:noFill/>
          <a:ln w="12700" cap="flat" cmpd="sng">
            <a:solidFill>
              <a:srgbClr val="3458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60"/>
          <p:cNvSpPr/>
          <p:nvPr/>
        </p:nvSpPr>
        <p:spPr>
          <a:xfrm>
            <a:off x="6608698" y="5819787"/>
            <a:ext cx="773430" cy="180340"/>
          </a:xfrm>
          <a:custGeom>
            <a:avLst/>
            <a:gdLst/>
            <a:ahLst/>
            <a:cxnLst/>
            <a:rect l="l" t="t" r="r" b="b"/>
            <a:pathLst>
              <a:path w="773429" h="180339" extrusionOk="0">
                <a:moveTo>
                  <a:pt x="772922" y="0"/>
                </a:moveTo>
                <a:lnTo>
                  <a:pt x="739926" y="35732"/>
                </a:lnTo>
                <a:lnTo>
                  <a:pt x="704338" y="67585"/>
                </a:lnTo>
                <a:lnTo>
                  <a:pt x="666457" y="95533"/>
                </a:lnTo>
                <a:lnTo>
                  <a:pt x="626580" y="119550"/>
                </a:lnTo>
                <a:lnTo>
                  <a:pt x="585006" y="139609"/>
                </a:lnTo>
                <a:lnTo>
                  <a:pt x="542033" y="155686"/>
                </a:lnTo>
                <a:lnTo>
                  <a:pt x="497959" y="167753"/>
                </a:lnTo>
                <a:lnTo>
                  <a:pt x="453081" y="175784"/>
                </a:lnTo>
                <a:lnTo>
                  <a:pt x="407698" y="179755"/>
                </a:lnTo>
                <a:lnTo>
                  <a:pt x="362109" y="179638"/>
                </a:lnTo>
                <a:lnTo>
                  <a:pt x="316611" y="175407"/>
                </a:lnTo>
                <a:lnTo>
                  <a:pt x="271502" y="167036"/>
                </a:lnTo>
                <a:lnTo>
                  <a:pt x="227080" y="154500"/>
                </a:lnTo>
                <a:lnTo>
                  <a:pt x="183644" y="137773"/>
                </a:lnTo>
                <a:lnTo>
                  <a:pt x="141491" y="116827"/>
                </a:lnTo>
                <a:lnTo>
                  <a:pt x="100921" y="91638"/>
                </a:lnTo>
                <a:lnTo>
                  <a:pt x="62229" y="62179"/>
                </a:lnTo>
                <a:lnTo>
                  <a:pt x="29781" y="32451"/>
                </a:lnTo>
                <a:lnTo>
                  <a:pt x="14545" y="16555"/>
                </a:ln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rgbClr val="3458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60"/>
          <p:cNvSpPr txBox="1"/>
          <p:nvPr/>
        </p:nvSpPr>
        <p:spPr>
          <a:xfrm>
            <a:off x="6125336" y="5129276"/>
            <a:ext cx="1742439" cy="668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spAutoFit/>
          </a:bodyPr>
          <a:lstStyle/>
          <a:p>
            <a:pPr marL="463550" marR="5080" lvl="0" indent="-451484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One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lookahead  symbol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60"/>
          <p:cNvSpPr txBox="1"/>
          <p:nvPr/>
        </p:nvSpPr>
        <p:spPr>
          <a:xfrm>
            <a:off x="5833998" y="3304010"/>
            <a:ext cx="2188845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413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ambiguity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60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61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61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5388458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LL(1) Grammars</a:t>
            </a:r>
            <a:endParaRPr dirty="0"/>
          </a:p>
        </p:txBody>
      </p:sp>
      <p:pic>
        <p:nvPicPr>
          <p:cNvPr id="768" name="Google Shape;768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2150" y="2414015"/>
            <a:ext cx="8967699" cy="3021733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6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62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62"/>
          <p:cNvSpPr txBox="1">
            <a:spLocks noGrp="1"/>
          </p:cNvSpPr>
          <p:nvPr>
            <p:ph type="title"/>
          </p:nvPr>
        </p:nvSpPr>
        <p:spPr>
          <a:xfrm>
            <a:off x="753262" y="792002"/>
            <a:ext cx="9817202" cy="821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12700" marR="5080" lvl="0" indent="0" algn="l" rtl="0">
              <a:lnSpc>
                <a:spcPct val="107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Construction of Predictive Parsing  Table</a:t>
            </a:r>
            <a:endParaRPr dirty="0"/>
          </a:p>
        </p:txBody>
      </p:sp>
      <p:pic>
        <p:nvPicPr>
          <p:cNvPr id="775" name="Google Shape;775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2600" y="2433773"/>
            <a:ext cx="8392108" cy="3123802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6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63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3"/>
          <p:cNvSpPr txBox="1">
            <a:spLocks noGrp="1"/>
          </p:cNvSpPr>
          <p:nvPr>
            <p:ph type="title"/>
          </p:nvPr>
        </p:nvSpPr>
        <p:spPr>
          <a:xfrm>
            <a:off x="707542" y="119888"/>
            <a:ext cx="10503002" cy="1552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12700" marR="5080" lvl="0" indent="0" algn="l" rtl="0">
              <a:lnSpc>
                <a:spcPct val="107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EXAMPLE 1: Construction of  predictive parsing table</a:t>
            </a:r>
            <a:endParaRPr dirty="0"/>
          </a:p>
        </p:txBody>
      </p:sp>
      <p:graphicFrame>
        <p:nvGraphicFramePr>
          <p:cNvPr id="782" name="Google Shape;782;p63"/>
          <p:cNvGraphicFramePr/>
          <p:nvPr/>
        </p:nvGraphicFramePr>
        <p:xfrm>
          <a:off x="381279" y="3733546"/>
          <a:ext cx="8530025" cy="2658875"/>
        </p:xfrm>
        <a:graphic>
          <a:graphicData uri="http://schemas.openxmlformats.org/drawingml/2006/table">
            <a:tbl>
              <a:tblPr firstRow="1" bandRow="1">
                <a:noFill/>
                <a:tableStyleId>{CCB95BF2-E5D9-4F2F-9DCB-0AEB0D049F9D}</a:tableStyleId>
              </a:tblPr>
              <a:tblGrid>
                <a:gridCol w="1218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8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8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8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8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8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3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100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225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E’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100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175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T’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3175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7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83" name="Google Shape;783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9019" y="2072492"/>
            <a:ext cx="1983986" cy="1236815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63"/>
          <p:cNvSpPr txBox="1"/>
          <p:nvPr/>
        </p:nvSpPr>
        <p:spPr>
          <a:xfrm>
            <a:off x="3248405" y="1436395"/>
            <a:ext cx="5340985" cy="2011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925" rIns="0" bIns="0" anchor="t" anchorCtr="0">
            <a:spAutoFit/>
          </a:bodyPr>
          <a:lstStyle/>
          <a:p>
            <a:pPr marL="2413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FIRST(E)=FIRST(T)=FIRST(F)={(,id}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FIRST(E’)={+,ε}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FIRST(T’)={*, ε}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047365" marR="0" lvl="1" indent="-229235" algn="l" rtl="0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FOLLOW(E)=FOLLOW(E’)={),$}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047365" marR="0" lvl="1" indent="-2292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FOLLOW(T)=FOLLOW(T’)={+,$,)}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047365" marR="0" lvl="1" indent="-229235" algn="l" rtl="0">
              <a:lnSpc>
                <a:spcPct val="100000"/>
              </a:lnSpc>
              <a:spcBef>
                <a:spcPts val="83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FOLLOW(F)={+,$,),*}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5" name="Google Shape;785;p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0220" y="4276344"/>
            <a:ext cx="891540" cy="213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8571" y="4276344"/>
            <a:ext cx="891539" cy="213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p6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92551" y="4738115"/>
            <a:ext cx="1112520" cy="243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788" name="Google Shape;788;p6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52900" y="5640323"/>
            <a:ext cx="99822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6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37604" y="4728971"/>
            <a:ext cx="662940" cy="274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0" name="Google Shape;790;p6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67471" y="4701540"/>
            <a:ext cx="662940" cy="274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1" name="Google Shape;791;p6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035807" y="5622035"/>
            <a:ext cx="685799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2" name="Google Shape;792;p6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997952" y="5622035"/>
            <a:ext cx="685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3" name="Google Shape;793;p6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49795" y="5602223"/>
            <a:ext cx="685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4" name="Google Shape;794;p6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760220" y="6030467"/>
            <a:ext cx="800100" cy="283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95" name="Google Shape;795;p6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454396" y="6038088"/>
            <a:ext cx="807720" cy="275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6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722120" y="5138928"/>
            <a:ext cx="929640" cy="243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6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393435" y="5138928"/>
            <a:ext cx="929639" cy="243839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63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64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64"/>
          <p:cNvSpPr txBox="1">
            <a:spLocks noGrp="1"/>
          </p:cNvSpPr>
          <p:nvPr>
            <p:ph type="title"/>
          </p:nvPr>
        </p:nvSpPr>
        <p:spPr>
          <a:xfrm>
            <a:off x="707542" y="324993"/>
            <a:ext cx="10603586" cy="1552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12700" marR="5080" lvl="0" indent="0" algn="l" rtl="0">
              <a:lnSpc>
                <a:spcPct val="107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EXAMPLE 2: Construction of  predictive parsing table</a:t>
            </a:r>
            <a:endParaRPr dirty="0"/>
          </a:p>
        </p:txBody>
      </p:sp>
      <p:pic>
        <p:nvPicPr>
          <p:cNvPr id="804" name="Google Shape;804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5632" y="1955292"/>
            <a:ext cx="1729739" cy="70103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05" name="Google Shape;805;p64"/>
          <p:cNvGraphicFramePr/>
          <p:nvPr/>
        </p:nvGraphicFramePr>
        <p:xfrm>
          <a:off x="844689" y="3539744"/>
          <a:ext cx="7441000" cy="2415200"/>
        </p:xfrm>
        <a:graphic>
          <a:graphicData uri="http://schemas.openxmlformats.org/drawingml/2006/table">
            <a:tbl>
              <a:tblPr firstRow="1" bandRow="1">
                <a:noFill/>
                <a:tableStyleId>{CCB95BF2-E5D9-4F2F-9DCB-0AEB0D049F9D}</a:tableStyleId>
              </a:tblPr>
              <a:tblGrid>
                <a:gridCol w="106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03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750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750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S’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7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825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7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06" name="Google Shape;806;p64"/>
          <p:cNvSpPr txBox="1"/>
          <p:nvPr/>
        </p:nvSpPr>
        <p:spPr>
          <a:xfrm>
            <a:off x="3239516" y="1814601"/>
            <a:ext cx="1485900" cy="1064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925" rIns="0" bIns="0" anchor="t" anchorCtr="0">
            <a:spAutoFit/>
          </a:bodyPr>
          <a:lstStyle/>
          <a:p>
            <a:pPr marL="2413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FIRST(S)={ i, a}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FIRST(S’)={e, ε}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FIRST(E)={b}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64"/>
          <p:cNvSpPr txBox="1"/>
          <p:nvPr/>
        </p:nvSpPr>
        <p:spPr>
          <a:xfrm>
            <a:off x="5636514" y="2108024"/>
            <a:ext cx="1526540" cy="98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8725" rIns="0" bIns="0" anchor="t" anchorCtr="0">
            <a:spAutoFit/>
          </a:bodyPr>
          <a:lstStyle/>
          <a:p>
            <a:pPr marL="2413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FOLLOW(S)={e,$}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FOLLOW(S’)={e,$}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83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FOLLOW(E)={t}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8" name="Google Shape;808;p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0" y="3318256"/>
            <a:ext cx="9143999" cy="2747772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6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65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65"/>
          <p:cNvSpPr txBox="1">
            <a:spLocks noGrp="1"/>
          </p:cNvSpPr>
          <p:nvPr>
            <p:ph type="title"/>
          </p:nvPr>
        </p:nvSpPr>
        <p:spPr>
          <a:xfrm>
            <a:off x="707542" y="324993"/>
            <a:ext cx="5998210" cy="1288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8425" rIns="0" bIns="0" anchor="t" anchorCtr="0">
            <a:spAutoFit/>
          </a:bodyPr>
          <a:lstStyle/>
          <a:p>
            <a:pPr marL="12700" marR="5080" lvl="0" indent="0" algn="l" rtl="0">
              <a:lnSpc>
                <a:spcPct val="1059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(Non-recursive) Predictive  Parsing</a:t>
            </a:r>
            <a:endParaRPr/>
          </a:p>
        </p:txBody>
      </p:sp>
      <p:pic>
        <p:nvPicPr>
          <p:cNvPr id="815" name="Google Shape;815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4557" y="2072268"/>
            <a:ext cx="6902646" cy="3993570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65"/>
          <p:cNvSpPr txBox="1"/>
          <p:nvPr/>
        </p:nvSpPr>
        <p:spPr>
          <a:xfrm>
            <a:off x="5466715" y="4441697"/>
            <a:ext cx="2941955" cy="1671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Non-recursive predictive parser  maintains an explicit stack.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8636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the stack was implicit in  recursive descent parser using  recursive calls.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65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66</a:t>
            </a:fld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66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6663055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Table-driven Predictive Parser</a:t>
            </a:r>
            <a:endParaRPr/>
          </a:p>
        </p:txBody>
      </p:sp>
      <p:pic>
        <p:nvPicPr>
          <p:cNvPr id="823" name="Google Shape;823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1060" y="1463097"/>
            <a:ext cx="7793733" cy="132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5486" y="3062726"/>
            <a:ext cx="6937442" cy="3560396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66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67</a:t>
            </a:fld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67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5738978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Left Most Derivation</a:t>
            </a:r>
            <a:endParaRPr dirty="0"/>
          </a:p>
        </p:txBody>
      </p:sp>
      <p:pic>
        <p:nvPicPr>
          <p:cNvPr id="831" name="Google Shape;831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4024" y="1984248"/>
            <a:ext cx="1516380" cy="944880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p67"/>
          <p:cNvSpPr txBox="1"/>
          <p:nvPr/>
        </p:nvSpPr>
        <p:spPr>
          <a:xfrm>
            <a:off x="1162608" y="3263010"/>
            <a:ext cx="99758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 + id * id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67"/>
          <p:cNvSpPr/>
          <p:nvPr/>
        </p:nvSpPr>
        <p:spPr>
          <a:xfrm>
            <a:off x="8530590" y="1866264"/>
            <a:ext cx="24765" cy="24765"/>
          </a:xfrm>
          <a:custGeom>
            <a:avLst/>
            <a:gdLst/>
            <a:ahLst/>
            <a:cxnLst/>
            <a:rect l="l" t="t" r="r" b="b"/>
            <a:pathLst>
              <a:path w="24765" h="24764" extrusionOk="0">
                <a:moveTo>
                  <a:pt x="19303" y="0"/>
                </a:moveTo>
                <a:lnTo>
                  <a:pt x="5587" y="0"/>
                </a:lnTo>
                <a:lnTo>
                  <a:pt x="0" y="5587"/>
                </a:lnTo>
                <a:lnTo>
                  <a:pt x="0" y="19304"/>
                </a:lnTo>
                <a:lnTo>
                  <a:pt x="5587" y="24764"/>
                </a:lnTo>
                <a:lnTo>
                  <a:pt x="19303" y="24764"/>
                </a:lnTo>
                <a:lnTo>
                  <a:pt x="24764" y="19304"/>
                </a:lnTo>
                <a:lnTo>
                  <a:pt x="24764" y="12446"/>
                </a:lnTo>
                <a:lnTo>
                  <a:pt x="24764" y="5587"/>
                </a:lnTo>
                <a:lnTo>
                  <a:pt x="1930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67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68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68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7759802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Top-down Parse of id + id * id</a:t>
            </a:r>
            <a:endParaRPr dirty="0"/>
          </a:p>
        </p:txBody>
      </p:sp>
      <p:pic>
        <p:nvPicPr>
          <p:cNvPr id="840" name="Google Shape;840;p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47309" y="1471253"/>
            <a:ext cx="5684598" cy="5112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6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7284" y="2991611"/>
            <a:ext cx="2430779" cy="15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68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69</a:t>
            </a:fld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69"/>
          <p:cNvSpPr txBox="1">
            <a:spLocks noGrp="1"/>
          </p:cNvSpPr>
          <p:nvPr>
            <p:ph type="title"/>
          </p:nvPr>
        </p:nvSpPr>
        <p:spPr>
          <a:xfrm>
            <a:off x="707542" y="119888"/>
            <a:ext cx="10932770" cy="1552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12700" marR="5080" lvl="0" indent="0" algn="l" rtl="0">
              <a:lnSpc>
                <a:spcPct val="107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EXAMPLE 1: Construction of  predictive parsing table</a:t>
            </a:r>
            <a:endParaRPr dirty="0"/>
          </a:p>
        </p:txBody>
      </p:sp>
      <p:graphicFrame>
        <p:nvGraphicFramePr>
          <p:cNvPr id="848" name="Google Shape;848;p69"/>
          <p:cNvGraphicFramePr/>
          <p:nvPr/>
        </p:nvGraphicFramePr>
        <p:xfrm>
          <a:off x="381279" y="3733546"/>
          <a:ext cx="8530025" cy="2658875"/>
        </p:xfrm>
        <a:graphic>
          <a:graphicData uri="http://schemas.openxmlformats.org/drawingml/2006/table">
            <a:tbl>
              <a:tblPr firstRow="1" bandRow="1">
                <a:noFill/>
                <a:tableStyleId>{CCB95BF2-E5D9-4F2F-9DCB-0AEB0D049F9D}</a:tableStyleId>
              </a:tblPr>
              <a:tblGrid>
                <a:gridCol w="1218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8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8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8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8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8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3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100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225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E’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100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175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T’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3175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7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849" name="Google Shape;849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9019" y="2072492"/>
            <a:ext cx="1983986" cy="1236815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69"/>
          <p:cNvSpPr txBox="1"/>
          <p:nvPr/>
        </p:nvSpPr>
        <p:spPr>
          <a:xfrm>
            <a:off x="3248405" y="1436395"/>
            <a:ext cx="5340985" cy="2011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925" rIns="0" bIns="0" anchor="t" anchorCtr="0">
            <a:spAutoFit/>
          </a:bodyPr>
          <a:lstStyle/>
          <a:p>
            <a:pPr marL="2413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FIRST(E)=FIRST(T)=FIRST(F)={(,id}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FIRST(E’)={+,ε}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FIRST(T’)={*, ε}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047365" marR="0" lvl="1" indent="-229235" algn="l" rtl="0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FOLLOW(E)=FOLLOW(E’)={),$}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047365" marR="0" lvl="1" indent="-2292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FOLLOW(T)=FOLLOW(T’)={+,$,)}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047365" marR="0" lvl="1" indent="-229235" algn="l" rtl="0">
              <a:lnSpc>
                <a:spcPct val="100000"/>
              </a:lnSpc>
              <a:spcBef>
                <a:spcPts val="83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FOLLOW(F)={+,$,),*}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1" name="Google Shape;851;p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0220" y="4276344"/>
            <a:ext cx="891540" cy="213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2" name="Google Shape;852;p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8571" y="4276344"/>
            <a:ext cx="891539" cy="213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6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92551" y="4738115"/>
            <a:ext cx="1112520" cy="243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6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52900" y="5640323"/>
            <a:ext cx="99822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5" name="Google Shape;855;p6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37604" y="4728971"/>
            <a:ext cx="662940" cy="274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6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67471" y="4701540"/>
            <a:ext cx="662940" cy="274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" name="Google Shape;857;p6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035807" y="5622035"/>
            <a:ext cx="685799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8" name="Google Shape;858;p6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997952" y="5622035"/>
            <a:ext cx="685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6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49795" y="5602223"/>
            <a:ext cx="685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6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760220" y="6030467"/>
            <a:ext cx="800100" cy="283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6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454396" y="6038088"/>
            <a:ext cx="807720" cy="275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2" name="Google Shape;862;p6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722120" y="5138928"/>
            <a:ext cx="929640" cy="243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3" name="Google Shape;863;p6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393435" y="5138928"/>
            <a:ext cx="929639" cy="243839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6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70</a:t>
            </a:fld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9" name="Google Shape;869;p70"/>
          <p:cNvGraphicFramePr/>
          <p:nvPr/>
        </p:nvGraphicFramePr>
        <p:xfrm>
          <a:off x="2428748" y="85089"/>
          <a:ext cx="6149300" cy="6675300"/>
        </p:xfrm>
        <a:graphic>
          <a:graphicData uri="http://schemas.openxmlformats.org/drawingml/2006/table">
            <a:tbl>
              <a:tblPr firstRow="1" bandRow="1">
                <a:noFill/>
                <a:tableStyleId>{CCB95BF2-E5D9-4F2F-9DCB-0AEB0D049F9D}</a:tableStyleId>
              </a:tblPr>
              <a:tblGrid>
                <a:gridCol w="1537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7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7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7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2946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MATCHED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04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477519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STACK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04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4718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04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4019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04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E$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04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 + id * id $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04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pic>
        <p:nvPicPr>
          <p:cNvPr id="870" name="Google Shape;870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694" y="89768"/>
            <a:ext cx="1985322" cy="1236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7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5225" y="1615439"/>
            <a:ext cx="1464514" cy="318459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70"/>
          <p:cNvSpPr/>
          <p:nvPr/>
        </p:nvSpPr>
        <p:spPr>
          <a:xfrm>
            <a:off x="8388350" y="1089660"/>
            <a:ext cx="47625" cy="15875"/>
          </a:xfrm>
          <a:custGeom>
            <a:avLst/>
            <a:gdLst/>
            <a:ahLst/>
            <a:cxnLst/>
            <a:rect l="l" t="t" r="r" b="b"/>
            <a:pathLst>
              <a:path w="47625" h="15875" extrusionOk="0">
                <a:moveTo>
                  <a:pt x="3936" y="0"/>
                </a:moveTo>
                <a:lnTo>
                  <a:pt x="2794" y="0"/>
                </a:lnTo>
                <a:lnTo>
                  <a:pt x="761" y="1015"/>
                </a:lnTo>
                <a:lnTo>
                  <a:pt x="126" y="2031"/>
                </a:lnTo>
                <a:lnTo>
                  <a:pt x="0" y="4317"/>
                </a:lnTo>
                <a:lnTo>
                  <a:pt x="507" y="5334"/>
                </a:lnTo>
                <a:lnTo>
                  <a:pt x="12319" y="12700"/>
                </a:lnTo>
                <a:lnTo>
                  <a:pt x="13334" y="13080"/>
                </a:lnTo>
                <a:lnTo>
                  <a:pt x="24129" y="15493"/>
                </a:lnTo>
                <a:lnTo>
                  <a:pt x="35686" y="15366"/>
                </a:lnTo>
                <a:lnTo>
                  <a:pt x="44703" y="15112"/>
                </a:lnTo>
                <a:lnTo>
                  <a:pt x="45974" y="15112"/>
                </a:lnTo>
                <a:lnTo>
                  <a:pt x="47117" y="13969"/>
                </a:lnTo>
                <a:lnTo>
                  <a:pt x="47117" y="11175"/>
                </a:lnTo>
                <a:lnTo>
                  <a:pt x="45974" y="10160"/>
                </a:lnTo>
                <a:lnTo>
                  <a:pt x="44703" y="10032"/>
                </a:lnTo>
                <a:lnTo>
                  <a:pt x="24765" y="9778"/>
                </a:lnTo>
                <a:lnTo>
                  <a:pt x="25526" y="9778"/>
                </a:lnTo>
                <a:lnTo>
                  <a:pt x="16274" y="7492"/>
                </a:lnTo>
                <a:lnTo>
                  <a:pt x="15621" y="7492"/>
                </a:lnTo>
                <a:lnTo>
                  <a:pt x="14731" y="7112"/>
                </a:lnTo>
                <a:lnTo>
                  <a:pt x="15028" y="7112"/>
                </a:lnTo>
                <a:lnTo>
                  <a:pt x="4952" y="635"/>
                </a:lnTo>
                <a:lnTo>
                  <a:pt x="3936" y="0"/>
                </a:lnTo>
                <a:close/>
              </a:path>
              <a:path w="47625" h="15875" extrusionOk="0">
                <a:moveTo>
                  <a:pt x="14731" y="7112"/>
                </a:moveTo>
                <a:lnTo>
                  <a:pt x="15621" y="7492"/>
                </a:lnTo>
                <a:lnTo>
                  <a:pt x="15213" y="7230"/>
                </a:lnTo>
                <a:lnTo>
                  <a:pt x="14731" y="7112"/>
                </a:lnTo>
                <a:close/>
              </a:path>
              <a:path w="47625" h="15875" extrusionOk="0">
                <a:moveTo>
                  <a:pt x="15213" y="7230"/>
                </a:moveTo>
                <a:lnTo>
                  <a:pt x="15621" y="7492"/>
                </a:lnTo>
                <a:lnTo>
                  <a:pt x="16274" y="7492"/>
                </a:lnTo>
                <a:lnTo>
                  <a:pt x="15213" y="7230"/>
                </a:lnTo>
                <a:close/>
              </a:path>
              <a:path w="47625" h="15875" extrusionOk="0">
                <a:moveTo>
                  <a:pt x="15028" y="7112"/>
                </a:moveTo>
                <a:lnTo>
                  <a:pt x="14731" y="7112"/>
                </a:lnTo>
                <a:lnTo>
                  <a:pt x="15213" y="7230"/>
                </a:lnTo>
                <a:lnTo>
                  <a:pt x="15028" y="71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70"/>
          <p:cNvSpPr/>
          <p:nvPr/>
        </p:nvSpPr>
        <p:spPr>
          <a:xfrm>
            <a:off x="7306221" y="1782317"/>
            <a:ext cx="12700" cy="20955"/>
          </a:xfrm>
          <a:custGeom>
            <a:avLst/>
            <a:gdLst/>
            <a:ahLst/>
            <a:cxnLst/>
            <a:rect l="l" t="t" r="r" b="b"/>
            <a:pathLst>
              <a:path w="12700" h="20955" extrusionOk="0">
                <a:moveTo>
                  <a:pt x="12534" y="16256"/>
                </a:moveTo>
                <a:lnTo>
                  <a:pt x="12280" y="13589"/>
                </a:lnTo>
                <a:lnTo>
                  <a:pt x="11264" y="5588"/>
                </a:lnTo>
                <a:lnTo>
                  <a:pt x="11137" y="4572"/>
                </a:lnTo>
                <a:lnTo>
                  <a:pt x="11010" y="2921"/>
                </a:lnTo>
                <a:lnTo>
                  <a:pt x="9867" y="1397"/>
                </a:lnTo>
                <a:lnTo>
                  <a:pt x="8343" y="762"/>
                </a:lnTo>
                <a:lnTo>
                  <a:pt x="6692" y="0"/>
                </a:lnTo>
                <a:lnTo>
                  <a:pt x="4914" y="254"/>
                </a:lnTo>
                <a:lnTo>
                  <a:pt x="4229" y="749"/>
                </a:lnTo>
                <a:lnTo>
                  <a:pt x="4089" y="850"/>
                </a:lnTo>
                <a:lnTo>
                  <a:pt x="2120" y="2286"/>
                </a:lnTo>
                <a:lnTo>
                  <a:pt x="1625" y="3670"/>
                </a:lnTo>
                <a:lnTo>
                  <a:pt x="1104" y="4191"/>
                </a:lnTo>
                <a:lnTo>
                  <a:pt x="1104" y="6616"/>
                </a:lnTo>
                <a:lnTo>
                  <a:pt x="1104" y="6870"/>
                </a:lnTo>
                <a:lnTo>
                  <a:pt x="977" y="6985"/>
                </a:lnTo>
                <a:lnTo>
                  <a:pt x="1104" y="6616"/>
                </a:lnTo>
                <a:lnTo>
                  <a:pt x="1104" y="4191"/>
                </a:lnTo>
                <a:lnTo>
                  <a:pt x="812" y="4483"/>
                </a:lnTo>
                <a:lnTo>
                  <a:pt x="812" y="12484"/>
                </a:lnTo>
                <a:lnTo>
                  <a:pt x="749" y="12306"/>
                </a:lnTo>
                <a:lnTo>
                  <a:pt x="723" y="11836"/>
                </a:lnTo>
                <a:lnTo>
                  <a:pt x="723" y="11557"/>
                </a:lnTo>
                <a:lnTo>
                  <a:pt x="749" y="11925"/>
                </a:lnTo>
                <a:lnTo>
                  <a:pt x="812" y="12484"/>
                </a:lnTo>
                <a:lnTo>
                  <a:pt x="812" y="4483"/>
                </a:lnTo>
                <a:lnTo>
                  <a:pt x="800" y="5588"/>
                </a:lnTo>
                <a:lnTo>
                  <a:pt x="723" y="6553"/>
                </a:lnTo>
                <a:lnTo>
                  <a:pt x="723" y="7086"/>
                </a:lnTo>
                <a:lnTo>
                  <a:pt x="800" y="6883"/>
                </a:lnTo>
                <a:lnTo>
                  <a:pt x="723" y="7239"/>
                </a:lnTo>
                <a:lnTo>
                  <a:pt x="723" y="7086"/>
                </a:lnTo>
                <a:lnTo>
                  <a:pt x="660" y="7239"/>
                </a:lnTo>
                <a:lnTo>
                  <a:pt x="723" y="6553"/>
                </a:lnTo>
                <a:lnTo>
                  <a:pt x="800" y="5588"/>
                </a:lnTo>
                <a:lnTo>
                  <a:pt x="800" y="4495"/>
                </a:lnTo>
                <a:lnTo>
                  <a:pt x="533" y="4762"/>
                </a:lnTo>
                <a:lnTo>
                  <a:pt x="533" y="7518"/>
                </a:lnTo>
                <a:lnTo>
                  <a:pt x="419" y="9740"/>
                </a:lnTo>
                <a:lnTo>
                  <a:pt x="355" y="7962"/>
                </a:lnTo>
                <a:lnTo>
                  <a:pt x="533" y="7518"/>
                </a:lnTo>
                <a:lnTo>
                  <a:pt x="533" y="4762"/>
                </a:lnTo>
                <a:lnTo>
                  <a:pt x="342" y="4953"/>
                </a:lnTo>
                <a:lnTo>
                  <a:pt x="342" y="7467"/>
                </a:lnTo>
                <a:lnTo>
                  <a:pt x="419" y="7264"/>
                </a:lnTo>
                <a:lnTo>
                  <a:pt x="355" y="7886"/>
                </a:lnTo>
                <a:lnTo>
                  <a:pt x="342" y="7467"/>
                </a:lnTo>
                <a:lnTo>
                  <a:pt x="114" y="8001"/>
                </a:lnTo>
                <a:lnTo>
                  <a:pt x="0" y="10655"/>
                </a:lnTo>
                <a:lnTo>
                  <a:pt x="762" y="12496"/>
                </a:lnTo>
                <a:lnTo>
                  <a:pt x="850" y="13335"/>
                </a:lnTo>
                <a:lnTo>
                  <a:pt x="2755" y="19177"/>
                </a:lnTo>
                <a:lnTo>
                  <a:pt x="4025" y="20193"/>
                </a:lnTo>
                <a:lnTo>
                  <a:pt x="5549" y="20574"/>
                </a:lnTo>
                <a:lnTo>
                  <a:pt x="7073" y="20828"/>
                </a:lnTo>
                <a:lnTo>
                  <a:pt x="8597" y="20320"/>
                </a:lnTo>
                <a:lnTo>
                  <a:pt x="10083" y="18643"/>
                </a:lnTo>
                <a:lnTo>
                  <a:pt x="10756" y="18542"/>
                </a:lnTo>
                <a:lnTo>
                  <a:pt x="12534" y="1625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70"/>
          <p:cNvSpPr/>
          <p:nvPr/>
        </p:nvSpPr>
        <p:spPr>
          <a:xfrm>
            <a:off x="6675246" y="3114929"/>
            <a:ext cx="22860" cy="61594"/>
          </a:xfrm>
          <a:custGeom>
            <a:avLst/>
            <a:gdLst/>
            <a:ahLst/>
            <a:cxnLst/>
            <a:rect l="l" t="t" r="r" b="b"/>
            <a:pathLst>
              <a:path w="22859" h="61594" extrusionOk="0">
                <a:moveTo>
                  <a:pt x="13768" y="52578"/>
                </a:moveTo>
                <a:lnTo>
                  <a:pt x="13588" y="52578"/>
                </a:lnTo>
                <a:lnTo>
                  <a:pt x="12064" y="57150"/>
                </a:lnTo>
                <a:lnTo>
                  <a:pt x="11683" y="58547"/>
                </a:lnTo>
                <a:lnTo>
                  <a:pt x="12319" y="60071"/>
                </a:lnTo>
                <a:lnTo>
                  <a:pt x="13588" y="60833"/>
                </a:lnTo>
                <a:lnTo>
                  <a:pt x="14985" y="61468"/>
                </a:lnTo>
                <a:lnTo>
                  <a:pt x="16509" y="61087"/>
                </a:lnTo>
                <a:lnTo>
                  <a:pt x="17399" y="59817"/>
                </a:lnTo>
                <a:lnTo>
                  <a:pt x="20193" y="56007"/>
                </a:lnTo>
                <a:lnTo>
                  <a:pt x="20555" y="55372"/>
                </a:lnTo>
                <a:lnTo>
                  <a:pt x="19938" y="55372"/>
                </a:lnTo>
                <a:lnTo>
                  <a:pt x="21126" y="53212"/>
                </a:lnTo>
                <a:lnTo>
                  <a:pt x="13716" y="53212"/>
                </a:lnTo>
                <a:lnTo>
                  <a:pt x="13768" y="52578"/>
                </a:lnTo>
                <a:close/>
              </a:path>
              <a:path w="22859" h="61594" extrusionOk="0">
                <a:moveTo>
                  <a:pt x="21335" y="52832"/>
                </a:moveTo>
                <a:lnTo>
                  <a:pt x="19938" y="55372"/>
                </a:lnTo>
                <a:lnTo>
                  <a:pt x="20320" y="54991"/>
                </a:lnTo>
                <a:lnTo>
                  <a:pt x="21163" y="53534"/>
                </a:lnTo>
                <a:lnTo>
                  <a:pt x="21208" y="53212"/>
                </a:lnTo>
                <a:lnTo>
                  <a:pt x="21335" y="52832"/>
                </a:lnTo>
                <a:close/>
              </a:path>
              <a:path w="22859" h="61594" extrusionOk="0">
                <a:moveTo>
                  <a:pt x="21163" y="53534"/>
                </a:moveTo>
                <a:lnTo>
                  <a:pt x="20320" y="54991"/>
                </a:lnTo>
                <a:lnTo>
                  <a:pt x="19938" y="55372"/>
                </a:lnTo>
                <a:lnTo>
                  <a:pt x="20555" y="55372"/>
                </a:lnTo>
                <a:lnTo>
                  <a:pt x="20700" y="55118"/>
                </a:lnTo>
                <a:lnTo>
                  <a:pt x="21081" y="54101"/>
                </a:lnTo>
                <a:lnTo>
                  <a:pt x="21163" y="53534"/>
                </a:lnTo>
                <a:close/>
              </a:path>
              <a:path w="22859" h="61594" extrusionOk="0">
                <a:moveTo>
                  <a:pt x="21569" y="52832"/>
                </a:moveTo>
                <a:lnTo>
                  <a:pt x="21335" y="52832"/>
                </a:lnTo>
                <a:lnTo>
                  <a:pt x="21208" y="53212"/>
                </a:lnTo>
                <a:lnTo>
                  <a:pt x="21163" y="53534"/>
                </a:lnTo>
                <a:lnTo>
                  <a:pt x="21569" y="52832"/>
                </a:lnTo>
                <a:close/>
              </a:path>
              <a:path w="22859" h="61594" extrusionOk="0">
                <a:moveTo>
                  <a:pt x="13911" y="52080"/>
                </a:moveTo>
                <a:lnTo>
                  <a:pt x="13782" y="52578"/>
                </a:lnTo>
                <a:lnTo>
                  <a:pt x="13716" y="53212"/>
                </a:lnTo>
                <a:lnTo>
                  <a:pt x="21126" y="53212"/>
                </a:lnTo>
                <a:lnTo>
                  <a:pt x="21335" y="52832"/>
                </a:lnTo>
                <a:lnTo>
                  <a:pt x="21569" y="52832"/>
                </a:lnTo>
                <a:lnTo>
                  <a:pt x="21717" y="52578"/>
                </a:lnTo>
                <a:lnTo>
                  <a:pt x="13970" y="52578"/>
                </a:lnTo>
                <a:lnTo>
                  <a:pt x="13911" y="52080"/>
                </a:lnTo>
                <a:close/>
              </a:path>
              <a:path w="22859" h="61594" extrusionOk="0">
                <a:moveTo>
                  <a:pt x="13843" y="51688"/>
                </a:moveTo>
                <a:lnTo>
                  <a:pt x="13461" y="52705"/>
                </a:lnTo>
                <a:lnTo>
                  <a:pt x="13768" y="52578"/>
                </a:lnTo>
                <a:lnTo>
                  <a:pt x="13843" y="51688"/>
                </a:lnTo>
                <a:close/>
              </a:path>
              <a:path w="22859" h="61594" extrusionOk="0">
                <a:moveTo>
                  <a:pt x="14477" y="49911"/>
                </a:moveTo>
                <a:lnTo>
                  <a:pt x="14080" y="51435"/>
                </a:lnTo>
                <a:lnTo>
                  <a:pt x="13970" y="52578"/>
                </a:lnTo>
                <a:lnTo>
                  <a:pt x="14599" y="50419"/>
                </a:lnTo>
                <a:lnTo>
                  <a:pt x="14477" y="49911"/>
                </a:lnTo>
                <a:close/>
              </a:path>
              <a:path w="22859" h="61594" extrusionOk="0">
                <a:moveTo>
                  <a:pt x="22098" y="49530"/>
                </a:moveTo>
                <a:lnTo>
                  <a:pt x="14858" y="49530"/>
                </a:lnTo>
                <a:lnTo>
                  <a:pt x="14760" y="50037"/>
                </a:lnTo>
                <a:lnTo>
                  <a:pt x="14985" y="50419"/>
                </a:lnTo>
                <a:lnTo>
                  <a:pt x="14599" y="50419"/>
                </a:lnTo>
                <a:lnTo>
                  <a:pt x="13970" y="52578"/>
                </a:lnTo>
                <a:lnTo>
                  <a:pt x="21717" y="52578"/>
                </a:lnTo>
                <a:lnTo>
                  <a:pt x="21844" y="51054"/>
                </a:lnTo>
                <a:lnTo>
                  <a:pt x="21971" y="50419"/>
                </a:lnTo>
                <a:lnTo>
                  <a:pt x="14985" y="50419"/>
                </a:lnTo>
                <a:lnTo>
                  <a:pt x="14662" y="50203"/>
                </a:lnTo>
                <a:lnTo>
                  <a:pt x="22042" y="50203"/>
                </a:lnTo>
                <a:lnTo>
                  <a:pt x="22098" y="49530"/>
                </a:lnTo>
                <a:close/>
              </a:path>
              <a:path w="22859" h="61594" extrusionOk="0">
                <a:moveTo>
                  <a:pt x="13335" y="47625"/>
                </a:moveTo>
                <a:lnTo>
                  <a:pt x="13461" y="48260"/>
                </a:lnTo>
                <a:lnTo>
                  <a:pt x="13630" y="49780"/>
                </a:lnTo>
                <a:lnTo>
                  <a:pt x="13716" y="50037"/>
                </a:lnTo>
                <a:lnTo>
                  <a:pt x="13843" y="51054"/>
                </a:lnTo>
                <a:lnTo>
                  <a:pt x="13911" y="52080"/>
                </a:lnTo>
                <a:lnTo>
                  <a:pt x="14459" y="49981"/>
                </a:lnTo>
                <a:lnTo>
                  <a:pt x="14350" y="49657"/>
                </a:lnTo>
                <a:lnTo>
                  <a:pt x="13335" y="47625"/>
                </a:lnTo>
                <a:close/>
              </a:path>
              <a:path w="22859" h="61594" extrusionOk="0">
                <a:moveTo>
                  <a:pt x="14727" y="49981"/>
                </a:moveTo>
                <a:lnTo>
                  <a:pt x="14662" y="50203"/>
                </a:lnTo>
                <a:lnTo>
                  <a:pt x="14985" y="50419"/>
                </a:lnTo>
                <a:lnTo>
                  <a:pt x="14727" y="49981"/>
                </a:lnTo>
                <a:close/>
              </a:path>
              <a:path w="22859" h="61594" extrusionOk="0">
                <a:moveTo>
                  <a:pt x="14608" y="49780"/>
                </a:moveTo>
                <a:lnTo>
                  <a:pt x="14541" y="50037"/>
                </a:lnTo>
                <a:lnTo>
                  <a:pt x="14662" y="50203"/>
                </a:lnTo>
                <a:lnTo>
                  <a:pt x="14608" y="49780"/>
                </a:lnTo>
                <a:close/>
              </a:path>
              <a:path w="22859" h="61594" extrusionOk="0">
                <a:moveTo>
                  <a:pt x="14858" y="49530"/>
                </a:moveTo>
                <a:lnTo>
                  <a:pt x="14727" y="49981"/>
                </a:lnTo>
                <a:lnTo>
                  <a:pt x="14858" y="49530"/>
                </a:lnTo>
                <a:close/>
              </a:path>
              <a:path w="22859" h="61594" extrusionOk="0">
                <a:moveTo>
                  <a:pt x="13335" y="47625"/>
                </a:moveTo>
                <a:lnTo>
                  <a:pt x="14477" y="49911"/>
                </a:lnTo>
                <a:lnTo>
                  <a:pt x="14385" y="49403"/>
                </a:lnTo>
                <a:lnTo>
                  <a:pt x="13335" y="47625"/>
                </a:lnTo>
                <a:close/>
              </a:path>
              <a:path w="22859" h="61594" extrusionOk="0">
                <a:moveTo>
                  <a:pt x="21285" y="44323"/>
                </a:moveTo>
                <a:lnTo>
                  <a:pt x="12700" y="44323"/>
                </a:lnTo>
                <a:lnTo>
                  <a:pt x="12826" y="44957"/>
                </a:lnTo>
                <a:lnTo>
                  <a:pt x="12953" y="45338"/>
                </a:lnTo>
                <a:lnTo>
                  <a:pt x="12953" y="46862"/>
                </a:lnTo>
                <a:lnTo>
                  <a:pt x="13335" y="47625"/>
                </a:lnTo>
                <a:lnTo>
                  <a:pt x="14608" y="49780"/>
                </a:lnTo>
                <a:lnTo>
                  <a:pt x="14858" y="49530"/>
                </a:lnTo>
                <a:lnTo>
                  <a:pt x="22098" y="49530"/>
                </a:lnTo>
                <a:lnTo>
                  <a:pt x="22225" y="48260"/>
                </a:lnTo>
                <a:lnTo>
                  <a:pt x="22351" y="47625"/>
                </a:lnTo>
                <a:lnTo>
                  <a:pt x="22134" y="46862"/>
                </a:lnTo>
                <a:lnTo>
                  <a:pt x="21285" y="44323"/>
                </a:lnTo>
                <a:close/>
              </a:path>
              <a:path w="22859" h="61594" extrusionOk="0">
                <a:moveTo>
                  <a:pt x="21081" y="43687"/>
                </a:moveTo>
                <a:lnTo>
                  <a:pt x="22098" y="46862"/>
                </a:lnTo>
                <a:lnTo>
                  <a:pt x="21335" y="44069"/>
                </a:lnTo>
                <a:lnTo>
                  <a:pt x="21081" y="43687"/>
                </a:lnTo>
                <a:close/>
              </a:path>
              <a:path w="22859" h="61594" extrusionOk="0">
                <a:moveTo>
                  <a:pt x="22098" y="46736"/>
                </a:moveTo>
                <a:close/>
              </a:path>
              <a:path w="22859" h="61594" extrusionOk="0">
                <a:moveTo>
                  <a:pt x="22127" y="43687"/>
                </a:moveTo>
                <a:lnTo>
                  <a:pt x="21081" y="43687"/>
                </a:lnTo>
                <a:lnTo>
                  <a:pt x="21335" y="44069"/>
                </a:lnTo>
                <a:lnTo>
                  <a:pt x="22098" y="46736"/>
                </a:lnTo>
                <a:lnTo>
                  <a:pt x="22127" y="43687"/>
                </a:lnTo>
                <a:close/>
              </a:path>
              <a:path w="22859" h="61594" extrusionOk="0">
                <a:moveTo>
                  <a:pt x="12780" y="45131"/>
                </a:moveTo>
                <a:lnTo>
                  <a:pt x="12826" y="45593"/>
                </a:lnTo>
                <a:lnTo>
                  <a:pt x="12780" y="45131"/>
                </a:lnTo>
                <a:close/>
              </a:path>
              <a:path w="22859" h="61594" extrusionOk="0">
                <a:moveTo>
                  <a:pt x="12770" y="45023"/>
                </a:moveTo>
                <a:lnTo>
                  <a:pt x="12953" y="45593"/>
                </a:lnTo>
                <a:lnTo>
                  <a:pt x="12832" y="45131"/>
                </a:lnTo>
                <a:close/>
              </a:path>
              <a:path w="22859" h="61594" extrusionOk="0">
                <a:moveTo>
                  <a:pt x="12876" y="45206"/>
                </a:moveTo>
                <a:lnTo>
                  <a:pt x="12903" y="45338"/>
                </a:lnTo>
                <a:lnTo>
                  <a:pt x="12876" y="45206"/>
                </a:lnTo>
                <a:close/>
              </a:path>
              <a:path w="22859" h="61594" extrusionOk="0">
                <a:moveTo>
                  <a:pt x="12700" y="44323"/>
                </a:moveTo>
                <a:lnTo>
                  <a:pt x="12755" y="44879"/>
                </a:lnTo>
                <a:lnTo>
                  <a:pt x="12869" y="45169"/>
                </a:lnTo>
                <a:lnTo>
                  <a:pt x="12700" y="44323"/>
                </a:lnTo>
                <a:close/>
              </a:path>
              <a:path w="22859" h="61594" extrusionOk="0">
                <a:moveTo>
                  <a:pt x="12573" y="44576"/>
                </a:moveTo>
                <a:lnTo>
                  <a:pt x="12686" y="44879"/>
                </a:lnTo>
                <a:lnTo>
                  <a:pt x="12770" y="45023"/>
                </a:lnTo>
                <a:lnTo>
                  <a:pt x="12724" y="44879"/>
                </a:lnTo>
                <a:lnTo>
                  <a:pt x="12573" y="44576"/>
                </a:lnTo>
                <a:close/>
              </a:path>
              <a:path w="22859" h="61594" extrusionOk="0">
                <a:moveTo>
                  <a:pt x="12725" y="44576"/>
                </a:moveTo>
                <a:lnTo>
                  <a:pt x="12573" y="44576"/>
                </a:lnTo>
                <a:lnTo>
                  <a:pt x="12763" y="44957"/>
                </a:lnTo>
                <a:lnTo>
                  <a:pt x="12725" y="44576"/>
                </a:lnTo>
                <a:close/>
              </a:path>
              <a:path w="22859" h="61594" extrusionOk="0">
                <a:moveTo>
                  <a:pt x="9862" y="21215"/>
                </a:moveTo>
                <a:lnTo>
                  <a:pt x="6857" y="27686"/>
                </a:lnTo>
                <a:lnTo>
                  <a:pt x="5969" y="29463"/>
                </a:lnTo>
                <a:lnTo>
                  <a:pt x="6223" y="33782"/>
                </a:lnTo>
                <a:lnTo>
                  <a:pt x="12686" y="44879"/>
                </a:lnTo>
                <a:lnTo>
                  <a:pt x="12573" y="44576"/>
                </a:lnTo>
                <a:lnTo>
                  <a:pt x="12725" y="44576"/>
                </a:lnTo>
                <a:lnTo>
                  <a:pt x="12700" y="44323"/>
                </a:lnTo>
                <a:lnTo>
                  <a:pt x="21285" y="44323"/>
                </a:lnTo>
                <a:lnTo>
                  <a:pt x="21081" y="43687"/>
                </a:lnTo>
                <a:lnTo>
                  <a:pt x="22127" y="43687"/>
                </a:lnTo>
                <a:lnTo>
                  <a:pt x="21971" y="42672"/>
                </a:lnTo>
                <a:lnTo>
                  <a:pt x="21717" y="41529"/>
                </a:lnTo>
                <a:lnTo>
                  <a:pt x="21208" y="40512"/>
                </a:lnTo>
                <a:lnTo>
                  <a:pt x="16680" y="33020"/>
                </a:lnTo>
                <a:lnTo>
                  <a:pt x="14731" y="33020"/>
                </a:lnTo>
                <a:lnTo>
                  <a:pt x="14224" y="28956"/>
                </a:lnTo>
                <a:lnTo>
                  <a:pt x="16354" y="28956"/>
                </a:lnTo>
                <a:lnTo>
                  <a:pt x="18359" y="24384"/>
                </a:lnTo>
                <a:lnTo>
                  <a:pt x="19050" y="22860"/>
                </a:lnTo>
                <a:lnTo>
                  <a:pt x="10922" y="22860"/>
                </a:lnTo>
                <a:lnTo>
                  <a:pt x="10302" y="21542"/>
                </a:lnTo>
                <a:lnTo>
                  <a:pt x="9862" y="21215"/>
                </a:lnTo>
                <a:close/>
              </a:path>
              <a:path w="22859" h="61594" extrusionOk="0">
                <a:moveTo>
                  <a:pt x="14224" y="28956"/>
                </a:moveTo>
                <a:lnTo>
                  <a:pt x="14731" y="33020"/>
                </a:lnTo>
                <a:lnTo>
                  <a:pt x="15367" y="31115"/>
                </a:lnTo>
                <a:lnTo>
                  <a:pt x="14224" y="28956"/>
                </a:lnTo>
                <a:close/>
              </a:path>
              <a:path w="22859" h="61594" extrusionOk="0">
                <a:moveTo>
                  <a:pt x="15458" y="30998"/>
                </a:moveTo>
                <a:lnTo>
                  <a:pt x="15240" y="31496"/>
                </a:lnTo>
                <a:lnTo>
                  <a:pt x="14731" y="33020"/>
                </a:lnTo>
                <a:lnTo>
                  <a:pt x="16680" y="33020"/>
                </a:lnTo>
                <a:lnTo>
                  <a:pt x="15458" y="30998"/>
                </a:lnTo>
                <a:close/>
              </a:path>
              <a:path w="22859" h="61594" extrusionOk="0">
                <a:moveTo>
                  <a:pt x="15407" y="31115"/>
                </a:moveTo>
                <a:lnTo>
                  <a:pt x="15240" y="31496"/>
                </a:lnTo>
                <a:lnTo>
                  <a:pt x="15407" y="31115"/>
                </a:lnTo>
                <a:close/>
              </a:path>
              <a:path w="22859" h="61594" extrusionOk="0">
                <a:moveTo>
                  <a:pt x="16354" y="28956"/>
                </a:moveTo>
                <a:lnTo>
                  <a:pt x="14224" y="28956"/>
                </a:lnTo>
                <a:lnTo>
                  <a:pt x="15458" y="30998"/>
                </a:lnTo>
                <a:lnTo>
                  <a:pt x="16354" y="28956"/>
                </a:lnTo>
                <a:close/>
              </a:path>
              <a:path w="22859" h="61594" extrusionOk="0">
                <a:moveTo>
                  <a:pt x="18467" y="24257"/>
                </a:moveTo>
                <a:close/>
              </a:path>
              <a:path w="22859" h="61594" extrusionOk="0">
                <a:moveTo>
                  <a:pt x="10302" y="21542"/>
                </a:moveTo>
                <a:lnTo>
                  <a:pt x="10922" y="22860"/>
                </a:lnTo>
                <a:lnTo>
                  <a:pt x="10885" y="21976"/>
                </a:lnTo>
                <a:lnTo>
                  <a:pt x="10302" y="21542"/>
                </a:lnTo>
                <a:close/>
              </a:path>
              <a:path w="22859" h="61594" extrusionOk="0">
                <a:moveTo>
                  <a:pt x="18965" y="18796"/>
                </a:moveTo>
                <a:lnTo>
                  <a:pt x="11049" y="18796"/>
                </a:lnTo>
                <a:lnTo>
                  <a:pt x="11049" y="22098"/>
                </a:lnTo>
                <a:lnTo>
                  <a:pt x="10922" y="22860"/>
                </a:lnTo>
                <a:lnTo>
                  <a:pt x="19050" y="22860"/>
                </a:lnTo>
                <a:lnTo>
                  <a:pt x="19430" y="22098"/>
                </a:lnTo>
                <a:lnTo>
                  <a:pt x="19557" y="20574"/>
                </a:lnTo>
                <a:lnTo>
                  <a:pt x="18965" y="18796"/>
                </a:lnTo>
                <a:close/>
              </a:path>
              <a:path w="22859" h="61594" extrusionOk="0">
                <a:moveTo>
                  <a:pt x="10948" y="22023"/>
                </a:moveTo>
                <a:close/>
              </a:path>
              <a:path w="22859" h="61594" extrusionOk="0">
                <a:moveTo>
                  <a:pt x="10030" y="20853"/>
                </a:moveTo>
                <a:lnTo>
                  <a:pt x="10302" y="21542"/>
                </a:lnTo>
                <a:lnTo>
                  <a:pt x="10948" y="22023"/>
                </a:lnTo>
                <a:lnTo>
                  <a:pt x="10841" y="21844"/>
                </a:lnTo>
                <a:lnTo>
                  <a:pt x="10030" y="20853"/>
                </a:lnTo>
                <a:close/>
              </a:path>
              <a:path w="22859" h="61594" extrusionOk="0">
                <a:moveTo>
                  <a:pt x="11049" y="18796"/>
                </a:moveTo>
                <a:lnTo>
                  <a:pt x="10159" y="20574"/>
                </a:lnTo>
                <a:lnTo>
                  <a:pt x="10076" y="20909"/>
                </a:lnTo>
                <a:lnTo>
                  <a:pt x="10949" y="21976"/>
                </a:lnTo>
                <a:lnTo>
                  <a:pt x="11049" y="18796"/>
                </a:lnTo>
                <a:close/>
              </a:path>
              <a:path w="22859" h="61594" extrusionOk="0">
                <a:moveTo>
                  <a:pt x="10004" y="20909"/>
                </a:moveTo>
                <a:lnTo>
                  <a:pt x="9862" y="21215"/>
                </a:lnTo>
                <a:lnTo>
                  <a:pt x="10302" y="21542"/>
                </a:lnTo>
                <a:lnTo>
                  <a:pt x="10004" y="20909"/>
                </a:lnTo>
                <a:close/>
              </a:path>
              <a:path w="22859" h="61594" extrusionOk="0">
                <a:moveTo>
                  <a:pt x="4825" y="0"/>
                </a:moveTo>
                <a:lnTo>
                  <a:pt x="3428" y="888"/>
                </a:lnTo>
                <a:lnTo>
                  <a:pt x="2667" y="3683"/>
                </a:lnTo>
                <a:lnTo>
                  <a:pt x="0" y="10795"/>
                </a:lnTo>
                <a:lnTo>
                  <a:pt x="1143" y="14732"/>
                </a:lnTo>
                <a:lnTo>
                  <a:pt x="9862" y="21215"/>
                </a:lnTo>
                <a:lnTo>
                  <a:pt x="9905" y="20700"/>
                </a:lnTo>
                <a:lnTo>
                  <a:pt x="10101" y="20700"/>
                </a:lnTo>
                <a:lnTo>
                  <a:pt x="11049" y="18796"/>
                </a:lnTo>
                <a:lnTo>
                  <a:pt x="18965" y="18796"/>
                </a:lnTo>
                <a:lnTo>
                  <a:pt x="18796" y="18287"/>
                </a:lnTo>
                <a:lnTo>
                  <a:pt x="17906" y="17399"/>
                </a:lnTo>
                <a:lnTo>
                  <a:pt x="16763" y="16891"/>
                </a:lnTo>
                <a:lnTo>
                  <a:pt x="15414" y="16256"/>
                </a:lnTo>
                <a:lnTo>
                  <a:pt x="15239" y="16256"/>
                </a:lnTo>
                <a:lnTo>
                  <a:pt x="14604" y="15875"/>
                </a:lnTo>
                <a:lnTo>
                  <a:pt x="10148" y="12700"/>
                </a:lnTo>
                <a:lnTo>
                  <a:pt x="6350" y="12700"/>
                </a:lnTo>
                <a:lnTo>
                  <a:pt x="4825" y="9144"/>
                </a:lnTo>
                <a:lnTo>
                  <a:pt x="7049" y="9144"/>
                </a:lnTo>
                <a:lnTo>
                  <a:pt x="7849" y="5080"/>
                </a:lnTo>
                <a:lnTo>
                  <a:pt x="8278" y="3429"/>
                </a:lnTo>
                <a:lnTo>
                  <a:pt x="8508" y="2159"/>
                </a:lnTo>
                <a:lnTo>
                  <a:pt x="7620" y="762"/>
                </a:lnTo>
                <a:lnTo>
                  <a:pt x="4825" y="0"/>
                </a:lnTo>
                <a:close/>
              </a:path>
              <a:path w="22859" h="61594" extrusionOk="0">
                <a:moveTo>
                  <a:pt x="10101" y="20700"/>
                </a:moveTo>
                <a:lnTo>
                  <a:pt x="9905" y="20700"/>
                </a:lnTo>
                <a:lnTo>
                  <a:pt x="10030" y="20853"/>
                </a:lnTo>
                <a:lnTo>
                  <a:pt x="10101" y="20700"/>
                </a:lnTo>
                <a:close/>
              </a:path>
              <a:path w="22859" h="61594" extrusionOk="0">
                <a:moveTo>
                  <a:pt x="14604" y="15875"/>
                </a:moveTo>
                <a:lnTo>
                  <a:pt x="15239" y="16256"/>
                </a:lnTo>
                <a:lnTo>
                  <a:pt x="14879" y="16004"/>
                </a:lnTo>
                <a:lnTo>
                  <a:pt x="14604" y="15875"/>
                </a:lnTo>
                <a:close/>
              </a:path>
              <a:path w="22859" h="61594" extrusionOk="0">
                <a:moveTo>
                  <a:pt x="14879" y="16004"/>
                </a:moveTo>
                <a:lnTo>
                  <a:pt x="15239" y="16256"/>
                </a:lnTo>
                <a:lnTo>
                  <a:pt x="15414" y="16256"/>
                </a:lnTo>
                <a:lnTo>
                  <a:pt x="14879" y="16004"/>
                </a:lnTo>
                <a:close/>
              </a:path>
              <a:path w="22859" h="61594" extrusionOk="0">
                <a:moveTo>
                  <a:pt x="14694" y="15875"/>
                </a:moveTo>
                <a:lnTo>
                  <a:pt x="14879" y="16004"/>
                </a:lnTo>
                <a:lnTo>
                  <a:pt x="14694" y="15875"/>
                </a:lnTo>
                <a:close/>
              </a:path>
              <a:path w="22859" h="61594" extrusionOk="0">
                <a:moveTo>
                  <a:pt x="4825" y="9144"/>
                </a:moveTo>
                <a:lnTo>
                  <a:pt x="6350" y="12700"/>
                </a:lnTo>
                <a:lnTo>
                  <a:pt x="6818" y="10316"/>
                </a:lnTo>
                <a:lnTo>
                  <a:pt x="4825" y="9144"/>
                </a:lnTo>
                <a:close/>
              </a:path>
              <a:path w="22859" h="61594" extrusionOk="0">
                <a:moveTo>
                  <a:pt x="6818" y="10316"/>
                </a:moveTo>
                <a:lnTo>
                  <a:pt x="6350" y="12700"/>
                </a:lnTo>
                <a:lnTo>
                  <a:pt x="10148" y="12700"/>
                </a:lnTo>
                <a:lnTo>
                  <a:pt x="7238" y="10668"/>
                </a:lnTo>
                <a:lnTo>
                  <a:pt x="6984" y="10413"/>
                </a:lnTo>
                <a:lnTo>
                  <a:pt x="6818" y="10316"/>
                </a:lnTo>
                <a:close/>
              </a:path>
              <a:path w="22859" h="61594" extrusionOk="0">
                <a:moveTo>
                  <a:pt x="7049" y="9144"/>
                </a:moveTo>
                <a:lnTo>
                  <a:pt x="4825" y="9144"/>
                </a:lnTo>
                <a:lnTo>
                  <a:pt x="6818" y="10316"/>
                </a:lnTo>
                <a:lnTo>
                  <a:pt x="7049" y="9144"/>
                </a:lnTo>
                <a:close/>
              </a:path>
              <a:path w="22859" h="61594" extrusionOk="0">
                <a:moveTo>
                  <a:pt x="7905" y="4953"/>
                </a:moveTo>
                <a:close/>
              </a:path>
              <a:path w="22859" h="61594" extrusionOk="0">
                <a:moveTo>
                  <a:pt x="2667" y="3429"/>
                </a:moveTo>
                <a:lnTo>
                  <a:pt x="2575" y="3683"/>
                </a:lnTo>
                <a:lnTo>
                  <a:pt x="2667" y="34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70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71</a:t>
            </a:fld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0" name="Google Shape;880;p71"/>
          <p:cNvGrpSpPr/>
          <p:nvPr/>
        </p:nvGrpSpPr>
        <p:grpSpPr>
          <a:xfrm>
            <a:off x="2327148" y="444693"/>
            <a:ext cx="7537704" cy="5968613"/>
            <a:chOff x="803148" y="521495"/>
            <a:chExt cx="7537704" cy="5968613"/>
          </a:xfrm>
        </p:grpSpPr>
        <p:pic>
          <p:nvPicPr>
            <p:cNvPr id="881" name="Google Shape;881;p7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03148" y="521495"/>
              <a:ext cx="7537704" cy="59686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2" name="Google Shape;882;p71"/>
            <p:cNvSpPr/>
            <p:nvPr/>
          </p:nvSpPr>
          <p:spPr>
            <a:xfrm>
              <a:off x="3456051" y="1346199"/>
              <a:ext cx="728980" cy="10795"/>
            </a:xfrm>
            <a:custGeom>
              <a:avLst/>
              <a:gdLst/>
              <a:ahLst/>
              <a:cxnLst/>
              <a:rect l="l" t="t" r="r" b="b"/>
              <a:pathLst>
                <a:path w="728979" h="10794" extrusionOk="0">
                  <a:moveTo>
                    <a:pt x="5334" y="6096"/>
                  </a:moveTo>
                  <a:lnTo>
                    <a:pt x="4191" y="4953"/>
                  </a:lnTo>
                  <a:lnTo>
                    <a:pt x="1270" y="4953"/>
                  </a:lnTo>
                  <a:lnTo>
                    <a:pt x="0" y="6096"/>
                  </a:lnTo>
                  <a:lnTo>
                    <a:pt x="0" y="9144"/>
                  </a:lnTo>
                  <a:lnTo>
                    <a:pt x="1270" y="10287"/>
                  </a:lnTo>
                  <a:lnTo>
                    <a:pt x="4191" y="10287"/>
                  </a:lnTo>
                  <a:lnTo>
                    <a:pt x="5334" y="9144"/>
                  </a:lnTo>
                  <a:lnTo>
                    <a:pt x="5334" y="7620"/>
                  </a:lnTo>
                  <a:lnTo>
                    <a:pt x="5334" y="6096"/>
                  </a:lnTo>
                  <a:close/>
                </a:path>
                <a:path w="728979" h="10794" extrusionOk="0">
                  <a:moveTo>
                    <a:pt x="728472" y="7747"/>
                  </a:moveTo>
                  <a:lnTo>
                    <a:pt x="728218" y="5842"/>
                  </a:lnTo>
                  <a:lnTo>
                    <a:pt x="727583" y="4953"/>
                  </a:lnTo>
                  <a:lnTo>
                    <a:pt x="726694" y="4699"/>
                  </a:lnTo>
                  <a:lnTo>
                    <a:pt x="724916" y="3937"/>
                  </a:lnTo>
                  <a:lnTo>
                    <a:pt x="725043" y="3937"/>
                  </a:lnTo>
                  <a:lnTo>
                    <a:pt x="718947" y="1143"/>
                  </a:lnTo>
                  <a:lnTo>
                    <a:pt x="717550" y="381"/>
                  </a:lnTo>
                  <a:lnTo>
                    <a:pt x="716661" y="0"/>
                  </a:lnTo>
                  <a:lnTo>
                    <a:pt x="715645" y="0"/>
                  </a:lnTo>
                  <a:lnTo>
                    <a:pt x="714756" y="635"/>
                  </a:lnTo>
                  <a:lnTo>
                    <a:pt x="713994" y="1143"/>
                  </a:lnTo>
                  <a:lnTo>
                    <a:pt x="713486" y="2032"/>
                  </a:lnTo>
                  <a:lnTo>
                    <a:pt x="713613" y="3937"/>
                  </a:lnTo>
                  <a:lnTo>
                    <a:pt x="714248" y="4826"/>
                  </a:lnTo>
                  <a:lnTo>
                    <a:pt x="715137" y="5334"/>
                  </a:lnTo>
                  <a:lnTo>
                    <a:pt x="716534" y="5969"/>
                  </a:lnTo>
                  <a:lnTo>
                    <a:pt x="722757" y="8890"/>
                  </a:lnTo>
                  <a:lnTo>
                    <a:pt x="722884" y="9017"/>
                  </a:lnTo>
                  <a:lnTo>
                    <a:pt x="724662" y="9652"/>
                  </a:lnTo>
                  <a:lnTo>
                    <a:pt x="725551" y="10033"/>
                  </a:lnTo>
                  <a:lnTo>
                    <a:pt x="726567" y="9906"/>
                  </a:lnTo>
                  <a:lnTo>
                    <a:pt x="727329" y="9271"/>
                  </a:lnTo>
                  <a:lnTo>
                    <a:pt x="728091" y="8763"/>
                  </a:lnTo>
                  <a:lnTo>
                    <a:pt x="728472" y="77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3" name="Google Shape;883;p7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72</a:t>
            </a:fld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72"/>
          <p:cNvSpPr txBox="1">
            <a:spLocks noGrp="1"/>
          </p:cNvSpPr>
          <p:nvPr>
            <p:ph type="title"/>
          </p:nvPr>
        </p:nvSpPr>
        <p:spPr>
          <a:xfrm>
            <a:off x="707542" y="614248"/>
            <a:ext cx="4360545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Bottom-Up parsing</a:t>
            </a:r>
            <a:endParaRPr/>
          </a:p>
        </p:txBody>
      </p:sp>
      <p:sp>
        <p:nvSpPr>
          <p:cNvPr id="889" name="Google Shape;889;p72"/>
          <p:cNvSpPr txBox="1"/>
          <p:nvPr/>
        </p:nvSpPr>
        <p:spPr>
          <a:xfrm>
            <a:off x="707542" y="1345818"/>
            <a:ext cx="7609840" cy="3142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975" rIns="0" bIns="0" anchor="t" anchorCtr="0">
            <a:spAutoFit/>
          </a:bodyPr>
          <a:lstStyle/>
          <a:p>
            <a:pPr marL="241300" marR="5080" lvl="0" indent="-228600" algn="l" rtl="0">
              <a:lnSpc>
                <a:spcPct val="960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 a parse tree for an input string beginning  at leaves and going towards root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979169" lvl="0" indent="-228600" algn="l" rtl="0">
              <a:lnSpc>
                <a:spcPct val="96071"/>
              </a:lnSpc>
              <a:spcBef>
                <a:spcPts val="994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 a string w of input to start symbol of  grammar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1875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a grammar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69900" marR="0" lvl="0" indent="0" algn="l" rtl="0">
              <a:lnSpc>
                <a:spcPct val="117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S→ aABe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69900" marR="0" lvl="0" indent="0" algn="l" rtl="0">
              <a:lnSpc>
                <a:spcPct val="117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A→ Abc | b	a b b c d 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69900" marR="0" lvl="0" indent="0" algn="l" rtl="0">
              <a:lnSpc>
                <a:spcPct val="1185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B→ 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72"/>
          <p:cNvSpPr txBox="1"/>
          <p:nvPr/>
        </p:nvSpPr>
        <p:spPr>
          <a:xfrm>
            <a:off x="1073302" y="5338063"/>
            <a:ext cx="10173818" cy="79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3800" rIns="0" bIns="0" anchor="t" anchorCtr="0">
            <a:spAutoFit/>
          </a:bodyPr>
          <a:lstStyle/>
          <a:p>
            <a:pPr marL="12700" marR="5080" lvl="0" indent="0" algn="l" rtl="0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**Choose the correct substring, choose the correct  production and (reverse) Right most derivation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7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73</a:t>
            </a:fld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73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7878674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Bottom-up parse for id * id</a:t>
            </a:r>
            <a:endParaRPr dirty="0"/>
          </a:p>
        </p:txBody>
      </p:sp>
      <p:grpSp>
        <p:nvGrpSpPr>
          <p:cNvPr id="897" name="Google Shape;897;p73"/>
          <p:cNvGrpSpPr/>
          <p:nvPr/>
        </p:nvGrpSpPr>
        <p:grpSpPr>
          <a:xfrm>
            <a:off x="1159825" y="3320241"/>
            <a:ext cx="8896992" cy="3400599"/>
            <a:chOff x="54864" y="3338527"/>
            <a:chExt cx="8896992" cy="3400599"/>
          </a:xfrm>
        </p:grpSpPr>
        <p:pic>
          <p:nvPicPr>
            <p:cNvPr id="898" name="Google Shape;898;p7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41390" y="3338527"/>
              <a:ext cx="8710466" cy="20624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9" name="Google Shape;899;p7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4864" y="5045964"/>
              <a:ext cx="6297168" cy="169316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00" name="Google Shape;900;p7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29186" y="1789176"/>
            <a:ext cx="3316119" cy="1158239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73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74</a:t>
            </a:fld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74"/>
          <p:cNvSpPr txBox="1">
            <a:spLocks noGrp="1"/>
          </p:cNvSpPr>
          <p:nvPr>
            <p:ph type="title"/>
          </p:nvPr>
        </p:nvSpPr>
        <p:spPr>
          <a:xfrm>
            <a:off x="707542" y="614248"/>
            <a:ext cx="5536565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(1) Shift Reduce Parsing</a:t>
            </a:r>
            <a:endParaRPr/>
          </a:p>
        </p:txBody>
      </p:sp>
      <p:sp>
        <p:nvSpPr>
          <p:cNvPr id="907" name="Google Shape;907;p74"/>
          <p:cNvSpPr txBox="1"/>
          <p:nvPr/>
        </p:nvSpPr>
        <p:spPr>
          <a:xfrm>
            <a:off x="707542" y="1510360"/>
            <a:ext cx="521462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413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 case of bottom up parsing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8" name="Google Shape;908;p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7906" y="2401992"/>
            <a:ext cx="2553809" cy="89292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09" name="Google Shape;909;p74"/>
          <p:cNvGraphicFramePr/>
          <p:nvPr/>
        </p:nvGraphicFramePr>
        <p:xfrm>
          <a:off x="3167507" y="2058035"/>
          <a:ext cx="5836950" cy="4647450"/>
        </p:xfrm>
        <a:graphic>
          <a:graphicData uri="http://schemas.openxmlformats.org/drawingml/2006/table">
            <a:tbl>
              <a:tblPr firstRow="1" bandRow="1">
                <a:noFill/>
                <a:tableStyleId>{CCB95BF2-E5D9-4F2F-9DCB-0AEB0D049F9D}</a:tableStyleId>
              </a:tblPr>
              <a:tblGrid>
                <a:gridCol w="194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5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4825"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STACK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051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700"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id1 * id2 $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4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4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4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4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10" name="Google Shape;910;p74"/>
          <p:cNvSpPr/>
          <p:nvPr/>
        </p:nvSpPr>
        <p:spPr>
          <a:xfrm>
            <a:off x="1548282" y="4420996"/>
            <a:ext cx="42545" cy="29845"/>
          </a:xfrm>
          <a:custGeom>
            <a:avLst/>
            <a:gdLst/>
            <a:ahLst/>
            <a:cxnLst/>
            <a:rect l="l" t="t" r="r" b="b"/>
            <a:pathLst>
              <a:path w="42544" h="29845" extrusionOk="0">
                <a:moveTo>
                  <a:pt x="26009" y="25018"/>
                </a:moveTo>
                <a:lnTo>
                  <a:pt x="32359" y="28828"/>
                </a:lnTo>
                <a:lnTo>
                  <a:pt x="33756" y="29590"/>
                </a:lnTo>
                <a:lnTo>
                  <a:pt x="35534" y="29336"/>
                </a:lnTo>
                <a:lnTo>
                  <a:pt x="36423" y="27939"/>
                </a:lnTo>
                <a:lnTo>
                  <a:pt x="37312" y="26669"/>
                </a:lnTo>
                <a:lnTo>
                  <a:pt x="37094" y="25145"/>
                </a:lnTo>
                <a:lnTo>
                  <a:pt x="26390" y="25145"/>
                </a:lnTo>
                <a:lnTo>
                  <a:pt x="26009" y="25018"/>
                </a:lnTo>
                <a:close/>
              </a:path>
              <a:path w="42544" h="29845" extrusionOk="0">
                <a:moveTo>
                  <a:pt x="9304" y="16232"/>
                </a:moveTo>
                <a:lnTo>
                  <a:pt x="11404" y="17779"/>
                </a:lnTo>
                <a:lnTo>
                  <a:pt x="18643" y="21970"/>
                </a:lnTo>
                <a:lnTo>
                  <a:pt x="19151" y="22225"/>
                </a:lnTo>
                <a:lnTo>
                  <a:pt x="26390" y="25145"/>
                </a:lnTo>
                <a:lnTo>
                  <a:pt x="37094" y="25145"/>
                </a:lnTo>
                <a:lnTo>
                  <a:pt x="37058" y="24891"/>
                </a:lnTo>
                <a:lnTo>
                  <a:pt x="35788" y="23875"/>
                </a:lnTo>
                <a:lnTo>
                  <a:pt x="30073" y="19176"/>
                </a:lnTo>
                <a:lnTo>
                  <a:pt x="29946" y="19050"/>
                </a:lnTo>
                <a:lnTo>
                  <a:pt x="26751" y="16636"/>
                </a:lnTo>
                <a:lnTo>
                  <a:pt x="11023" y="16636"/>
                </a:lnTo>
                <a:lnTo>
                  <a:pt x="10483" y="16509"/>
                </a:lnTo>
                <a:lnTo>
                  <a:pt x="9880" y="16509"/>
                </a:lnTo>
                <a:lnTo>
                  <a:pt x="9304" y="16232"/>
                </a:lnTo>
                <a:close/>
              </a:path>
              <a:path w="42544" h="29845" extrusionOk="0">
                <a:moveTo>
                  <a:pt x="9437" y="16199"/>
                </a:moveTo>
                <a:lnTo>
                  <a:pt x="9575" y="16296"/>
                </a:lnTo>
                <a:lnTo>
                  <a:pt x="11023" y="16636"/>
                </a:lnTo>
                <a:lnTo>
                  <a:pt x="11404" y="16636"/>
                </a:lnTo>
                <a:lnTo>
                  <a:pt x="9437" y="16199"/>
                </a:lnTo>
                <a:close/>
              </a:path>
              <a:path w="42544" h="29845" extrusionOk="0">
                <a:moveTo>
                  <a:pt x="16243" y="9605"/>
                </a:moveTo>
                <a:lnTo>
                  <a:pt x="14636" y="10202"/>
                </a:lnTo>
                <a:lnTo>
                  <a:pt x="13436" y="11048"/>
                </a:lnTo>
                <a:lnTo>
                  <a:pt x="12293" y="11683"/>
                </a:lnTo>
                <a:lnTo>
                  <a:pt x="11616" y="11937"/>
                </a:lnTo>
                <a:lnTo>
                  <a:pt x="11277" y="12191"/>
                </a:lnTo>
                <a:lnTo>
                  <a:pt x="11150" y="12318"/>
                </a:lnTo>
                <a:lnTo>
                  <a:pt x="9400" y="13631"/>
                </a:lnTo>
                <a:lnTo>
                  <a:pt x="9118" y="13969"/>
                </a:lnTo>
                <a:lnTo>
                  <a:pt x="8024" y="14985"/>
                </a:lnTo>
                <a:lnTo>
                  <a:pt x="7905" y="15143"/>
                </a:lnTo>
                <a:lnTo>
                  <a:pt x="9880" y="15875"/>
                </a:lnTo>
                <a:lnTo>
                  <a:pt x="8973" y="15875"/>
                </a:lnTo>
                <a:lnTo>
                  <a:pt x="9437" y="16199"/>
                </a:lnTo>
                <a:lnTo>
                  <a:pt x="11404" y="16636"/>
                </a:lnTo>
                <a:lnTo>
                  <a:pt x="26751" y="16636"/>
                </a:lnTo>
                <a:lnTo>
                  <a:pt x="25741" y="15875"/>
                </a:lnTo>
                <a:lnTo>
                  <a:pt x="9118" y="15875"/>
                </a:lnTo>
                <a:lnTo>
                  <a:pt x="8924" y="15840"/>
                </a:lnTo>
                <a:lnTo>
                  <a:pt x="25696" y="15840"/>
                </a:lnTo>
                <a:lnTo>
                  <a:pt x="23723" y="14350"/>
                </a:lnTo>
                <a:lnTo>
                  <a:pt x="16230" y="9651"/>
                </a:lnTo>
                <a:close/>
              </a:path>
              <a:path w="42544" h="29845" extrusionOk="0">
                <a:moveTo>
                  <a:pt x="9344" y="16241"/>
                </a:moveTo>
                <a:lnTo>
                  <a:pt x="9880" y="16509"/>
                </a:lnTo>
                <a:lnTo>
                  <a:pt x="9575" y="16296"/>
                </a:lnTo>
                <a:lnTo>
                  <a:pt x="9344" y="16241"/>
                </a:lnTo>
                <a:close/>
              </a:path>
              <a:path w="42544" h="29845" extrusionOk="0">
                <a:moveTo>
                  <a:pt x="9575" y="16296"/>
                </a:moveTo>
                <a:lnTo>
                  <a:pt x="9880" y="16509"/>
                </a:lnTo>
                <a:lnTo>
                  <a:pt x="10483" y="16509"/>
                </a:lnTo>
                <a:lnTo>
                  <a:pt x="9575" y="16296"/>
                </a:lnTo>
                <a:close/>
              </a:path>
              <a:path w="42544" h="29845" extrusionOk="0">
                <a:moveTo>
                  <a:pt x="9183" y="16143"/>
                </a:moveTo>
                <a:lnTo>
                  <a:pt x="9344" y="16241"/>
                </a:lnTo>
                <a:lnTo>
                  <a:pt x="9575" y="16296"/>
                </a:lnTo>
                <a:lnTo>
                  <a:pt x="9436" y="16199"/>
                </a:lnTo>
                <a:lnTo>
                  <a:pt x="9183" y="16143"/>
                </a:lnTo>
                <a:close/>
              </a:path>
              <a:path w="42544" h="29845" extrusionOk="0">
                <a:moveTo>
                  <a:pt x="7979" y="15673"/>
                </a:moveTo>
                <a:lnTo>
                  <a:pt x="8864" y="16128"/>
                </a:lnTo>
                <a:lnTo>
                  <a:pt x="9304" y="16232"/>
                </a:lnTo>
                <a:lnTo>
                  <a:pt x="9147" y="16143"/>
                </a:lnTo>
                <a:lnTo>
                  <a:pt x="8991" y="16001"/>
                </a:lnTo>
                <a:lnTo>
                  <a:pt x="8810" y="15820"/>
                </a:lnTo>
                <a:lnTo>
                  <a:pt x="7979" y="15673"/>
                </a:lnTo>
                <a:close/>
              </a:path>
              <a:path w="42544" h="29845" extrusionOk="0">
                <a:moveTo>
                  <a:pt x="8810" y="15820"/>
                </a:moveTo>
                <a:lnTo>
                  <a:pt x="8991" y="16001"/>
                </a:lnTo>
                <a:lnTo>
                  <a:pt x="9183" y="16143"/>
                </a:lnTo>
                <a:lnTo>
                  <a:pt x="9437" y="16199"/>
                </a:lnTo>
                <a:lnTo>
                  <a:pt x="8924" y="15840"/>
                </a:lnTo>
                <a:close/>
              </a:path>
              <a:path w="42544" h="29845" extrusionOk="0">
                <a:moveTo>
                  <a:pt x="9118" y="16128"/>
                </a:moveTo>
                <a:lnTo>
                  <a:pt x="9259" y="16199"/>
                </a:lnTo>
                <a:lnTo>
                  <a:pt x="9118" y="16128"/>
                </a:lnTo>
                <a:close/>
              </a:path>
              <a:path w="42544" h="29845" extrusionOk="0">
                <a:moveTo>
                  <a:pt x="9163" y="16128"/>
                </a:moveTo>
                <a:close/>
              </a:path>
              <a:path w="42544" h="29845" extrusionOk="0">
                <a:moveTo>
                  <a:pt x="6149" y="15340"/>
                </a:moveTo>
                <a:lnTo>
                  <a:pt x="4456" y="15739"/>
                </a:lnTo>
                <a:lnTo>
                  <a:pt x="4673" y="15875"/>
                </a:lnTo>
                <a:lnTo>
                  <a:pt x="7340" y="15620"/>
                </a:lnTo>
                <a:lnTo>
                  <a:pt x="6149" y="15340"/>
                </a:lnTo>
                <a:close/>
              </a:path>
              <a:path w="42544" h="29845" extrusionOk="0">
                <a:moveTo>
                  <a:pt x="7869" y="15130"/>
                </a:moveTo>
                <a:lnTo>
                  <a:pt x="7631" y="15420"/>
                </a:lnTo>
                <a:lnTo>
                  <a:pt x="8483" y="15620"/>
                </a:lnTo>
                <a:lnTo>
                  <a:pt x="8610" y="15620"/>
                </a:lnTo>
                <a:lnTo>
                  <a:pt x="8924" y="15840"/>
                </a:lnTo>
                <a:lnTo>
                  <a:pt x="9118" y="15875"/>
                </a:lnTo>
                <a:lnTo>
                  <a:pt x="9880" y="15875"/>
                </a:lnTo>
                <a:lnTo>
                  <a:pt x="7869" y="15130"/>
                </a:lnTo>
                <a:close/>
              </a:path>
              <a:path w="42544" h="29845" extrusionOk="0">
                <a:moveTo>
                  <a:pt x="8610" y="15620"/>
                </a:moveTo>
                <a:lnTo>
                  <a:pt x="8810" y="15820"/>
                </a:lnTo>
                <a:lnTo>
                  <a:pt x="8610" y="15620"/>
                </a:lnTo>
                <a:close/>
              </a:path>
              <a:path w="42544" h="29845" extrusionOk="0">
                <a:moveTo>
                  <a:pt x="7571" y="15406"/>
                </a:moveTo>
                <a:lnTo>
                  <a:pt x="7979" y="15673"/>
                </a:lnTo>
                <a:lnTo>
                  <a:pt x="8810" y="15820"/>
                </a:lnTo>
                <a:lnTo>
                  <a:pt x="8610" y="15620"/>
                </a:lnTo>
                <a:lnTo>
                  <a:pt x="8483" y="15620"/>
                </a:lnTo>
                <a:lnTo>
                  <a:pt x="7571" y="15406"/>
                </a:lnTo>
                <a:close/>
              </a:path>
              <a:path w="42544" h="29845" extrusionOk="0">
                <a:moveTo>
                  <a:pt x="1696" y="13911"/>
                </a:moveTo>
                <a:lnTo>
                  <a:pt x="2133" y="14731"/>
                </a:lnTo>
                <a:lnTo>
                  <a:pt x="4419" y="15747"/>
                </a:lnTo>
                <a:lnTo>
                  <a:pt x="2641" y="14604"/>
                </a:lnTo>
                <a:lnTo>
                  <a:pt x="1696" y="13911"/>
                </a:lnTo>
                <a:close/>
              </a:path>
              <a:path w="42544" h="29845" extrusionOk="0">
                <a:moveTo>
                  <a:pt x="4308" y="4957"/>
                </a:moveTo>
                <a:lnTo>
                  <a:pt x="3530" y="5460"/>
                </a:lnTo>
                <a:lnTo>
                  <a:pt x="2768" y="6095"/>
                </a:lnTo>
                <a:lnTo>
                  <a:pt x="2006" y="6857"/>
                </a:lnTo>
                <a:lnTo>
                  <a:pt x="1272" y="7535"/>
                </a:lnTo>
                <a:lnTo>
                  <a:pt x="814" y="8508"/>
                </a:lnTo>
                <a:lnTo>
                  <a:pt x="122" y="10286"/>
                </a:lnTo>
                <a:lnTo>
                  <a:pt x="12" y="10794"/>
                </a:lnTo>
                <a:lnTo>
                  <a:pt x="127" y="11175"/>
                </a:lnTo>
                <a:lnTo>
                  <a:pt x="1117" y="12826"/>
                </a:lnTo>
                <a:lnTo>
                  <a:pt x="1659" y="13842"/>
                </a:lnTo>
                <a:lnTo>
                  <a:pt x="1775" y="13969"/>
                </a:lnTo>
                <a:lnTo>
                  <a:pt x="2641" y="14604"/>
                </a:lnTo>
                <a:lnTo>
                  <a:pt x="4456" y="15739"/>
                </a:lnTo>
                <a:lnTo>
                  <a:pt x="6149" y="15340"/>
                </a:lnTo>
                <a:lnTo>
                  <a:pt x="5181" y="15112"/>
                </a:lnTo>
                <a:lnTo>
                  <a:pt x="4419" y="14731"/>
                </a:lnTo>
                <a:lnTo>
                  <a:pt x="6578" y="14731"/>
                </a:lnTo>
                <a:lnTo>
                  <a:pt x="6451" y="14604"/>
                </a:lnTo>
                <a:lnTo>
                  <a:pt x="8434" y="14604"/>
                </a:lnTo>
                <a:lnTo>
                  <a:pt x="9118" y="13969"/>
                </a:lnTo>
                <a:lnTo>
                  <a:pt x="9118" y="13842"/>
                </a:lnTo>
                <a:lnTo>
                  <a:pt x="9753" y="13207"/>
                </a:lnTo>
                <a:lnTo>
                  <a:pt x="9965" y="13207"/>
                </a:lnTo>
                <a:lnTo>
                  <a:pt x="11150" y="12318"/>
                </a:lnTo>
                <a:lnTo>
                  <a:pt x="11277" y="12191"/>
                </a:lnTo>
                <a:lnTo>
                  <a:pt x="11446" y="12064"/>
                </a:lnTo>
                <a:lnTo>
                  <a:pt x="11277" y="12064"/>
                </a:lnTo>
                <a:lnTo>
                  <a:pt x="12293" y="11429"/>
                </a:lnTo>
                <a:lnTo>
                  <a:pt x="12750" y="11429"/>
                </a:lnTo>
                <a:lnTo>
                  <a:pt x="13436" y="11048"/>
                </a:lnTo>
                <a:lnTo>
                  <a:pt x="13944" y="10667"/>
                </a:lnTo>
                <a:lnTo>
                  <a:pt x="14120" y="10508"/>
                </a:lnTo>
                <a:lnTo>
                  <a:pt x="14262" y="10414"/>
                </a:lnTo>
                <a:lnTo>
                  <a:pt x="14071" y="10414"/>
                </a:lnTo>
                <a:lnTo>
                  <a:pt x="14706" y="10159"/>
                </a:lnTo>
                <a:lnTo>
                  <a:pt x="16103" y="9651"/>
                </a:lnTo>
                <a:lnTo>
                  <a:pt x="15835" y="9270"/>
                </a:lnTo>
                <a:lnTo>
                  <a:pt x="15341" y="8889"/>
                </a:lnTo>
                <a:lnTo>
                  <a:pt x="14361" y="8127"/>
                </a:lnTo>
                <a:lnTo>
                  <a:pt x="13563" y="8127"/>
                </a:lnTo>
                <a:lnTo>
                  <a:pt x="12716" y="7535"/>
                </a:lnTo>
                <a:lnTo>
                  <a:pt x="11023" y="7111"/>
                </a:lnTo>
                <a:lnTo>
                  <a:pt x="11750" y="7111"/>
                </a:lnTo>
                <a:lnTo>
                  <a:pt x="10922" y="6774"/>
                </a:lnTo>
                <a:lnTo>
                  <a:pt x="9658" y="6476"/>
                </a:lnTo>
                <a:lnTo>
                  <a:pt x="9499" y="6476"/>
                </a:lnTo>
                <a:lnTo>
                  <a:pt x="7340" y="5968"/>
                </a:lnTo>
                <a:lnTo>
                  <a:pt x="8229" y="5968"/>
                </a:lnTo>
                <a:lnTo>
                  <a:pt x="7086" y="5683"/>
                </a:lnTo>
                <a:lnTo>
                  <a:pt x="6324" y="5587"/>
                </a:lnTo>
                <a:lnTo>
                  <a:pt x="6578" y="5587"/>
                </a:lnTo>
                <a:lnTo>
                  <a:pt x="4308" y="4957"/>
                </a:lnTo>
                <a:close/>
              </a:path>
              <a:path w="42544" h="29845" extrusionOk="0">
                <a:moveTo>
                  <a:pt x="7556" y="15420"/>
                </a:moveTo>
                <a:lnTo>
                  <a:pt x="7394" y="15570"/>
                </a:lnTo>
                <a:lnTo>
                  <a:pt x="7979" y="15673"/>
                </a:lnTo>
                <a:lnTo>
                  <a:pt x="7556" y="15420"/>
                </a:lnTo>
                <a:close/>
              </a:path>
              <a:path w="42544" h="29845" extrusionOk="0">
                <a:moveTo>
                  <a:pt x="6548" y="15247"/>
                </a:moveTo>
                <a:lnTo>
                  <a:pt x="6149" y="15340"/>
                </a:lnTo>
                <a:lnTo>
                  <a:pt x="7340" y="15620"/>
                </a:lnTo>
                <a:lnTo>
                  <a:pt x="6959" y="15493"/>
                </a:lnTo>
                <a:lnTo>
                  <a:pt x="6548" y="15247"/>
                </a:lnTo>
                <a:close/>
              </a:path>
              <a:path w="42544" h="29845" extrusionOk="0">
                <a:moveTo>
                  <a:pt x="7394" y="15570"/>
                </a:moveTo>
                <a:lnTo>
                  <a:pt x="7679" y="15620"/>
                </a:lnTo>
                <a:lnTo>
                  <a:pt x="7394" y="15570"/>
                </a:lnTo>
                <a:close/>
              </a:path>
              <a:path w="42544" h="29845" extrusionOk="0">
                <a:moveTo>
                  <a:pt x="6745" y="15212"/>
                </a:moveTo>
                <a:lnTo>
                  <a:pt x="6548" y="15247"/>
                </a:lnTo>
                <a:lnTo>
                  <a:pt x="6959" y="15493"/>
                </a:lnTo>
                <a:lnTo>
                  <a:pt x="7394" y="15570"/>
                </a:lnTo>
                <a:lnTo>
                  <a:pt x="7508" y="15391"/>
                </a:lnTo>
                <a:lnTo>
                  <a:pt x="6745" y="15212"/>
                </a:lnTo>
                <a:close/>
              </a:path>
              <a:path w="42544" h="29845" extrusionOk="0">
                <a:moveTo>
                  <a:pt x="7823" y="15112"/>
                </a:moveTo>
                <a:lnTo>
                  <a:pt x="7340" y="15112"/>
                </a:lnTo>
                <a:lnTo>
                  <a:pt x="7156" y="15180"/>
                </a:lnTo>
                <a:lnTo>
                  <a:pt x="7508" y="15391"/>
                </a:lnTo>
                <a:lnTo>
                  <a:pt x="7763" y="15227"/>
                </a:lnTo>
                <a:close/>
              </a:path>
              <a:path w="42544" h="29845" extrusionOk="0">
                <a:moveTo>
                  <a:pt x="7108" y="15151"/>
                </a:moveTo>
                <a:lnTo>
                  <a:pt x="6771" y="15218"/>
                </a:lnTo>
                <a:lnTo>
                  <a:pt x="7508" y="15391"/>
                </a:lnTo>
                <a:lnTo>
                  <a:pt x="7108" y="15151"/>
                </a:lnTo>
                <a:close/>
              </a:path>
              <a:path w="42544" h="29845" extrusionOk="0">
                <a:moveTo>
                  <a:pt x="4419" y="14731"/>
                </a:moveTo>
                <a:lnTo>
                  <a:pt x="5181" y="15112"/>
                </a:lnTo>
                <a:lnTo>
                  <a:pt x="6149" y="15340"/>
                </a:lnTo>
                <a:lnTo>
                  <a:pt x="6548" y="15247"/>
                </a:lnTo>
                <a:lnTo>
                  <a:pt x="6324" y="15239"/>
                </a:lnTo>
                <a:lnTo>
                  <a:pt x="4419" y="14731"/>
                </a:lnTo>
                <a:close/>
              </a:path>
              <a:path w="42544" h="29845" extrusionOk="0">
                <a:moveTo>
                  <a:pt x="6499" y="15218"/>
                </a:moveTo>
                <a:lnTo>
                  <a:pt x="6324" y="15239"/>
                </a:lnTo>
                <a:lnTo>
                  <a:pt x="6536" y="15239"/>
                </a:lnTo>
                <a:close/>
              </a:path>
              <a:path w="42544" h="29845" extrusionOk="0">
                <a:moveTo>
                  <a:pt x="6651" y="15227"/>
                </a:moveTo>
                <a:close/>
              </a:path>
              <a:path w="42544" h="29845" extrusionOk="0">
                <a:moveTo>
                  <a:pt x="7095" y="15143"/>
                </a:moveTo>
                <a:lnTo>
                  <a:pt x="6802" y="15180"/>
                </a:lnTo>
                <a:lnTo>
                  <a:pt x="7108" y="15151"/>
                </a:lnTo>
                <a:close/>
              </a:path>
              <a:path w="42544" h="29845" extrusionOk="0">
                <a:moveTo>
                  <a:pt x="7044" y="15112"/>
                </a:moveTo>
                <a:lnTo>
                  <a:pt x="6324" y="15112"/>
                </a:lnTo>
                <a:lnTo>
                  <a:pt x="6677" y="15195"/>
                </a:lnTo>
                <a:lnTo>
                  <a:pt x="7031" y="15151"/>
                </a:lnTo>
                <a:close/>
              </a:path>
              <a:path w="42544" h="29845" extrusionOk="0">
                <a:moveTo>
                  <a:pt x="6578" y="14731"/>
                </a:moveTo>
                <a:lnTo>
                  <a:pt x="4419" y="14731"/>
                </a:lnTo>
                <a:lnTo>
                  <a:pt x="6436" y="15180"/>
                </a:lnTo>
                <a:lnTo>
                  <a:pt x="7044" y="15112"/>
                </a:lnTo>
                <a:lnTo>
                  <a:pt x="6832" y="14985"/>
                </a:lnTo>
                <a:lnTo>
                  <a:pt x="6578" y="14731"/>
                </a:lnTo>
                <a:close/>
              </a:path>
              <a:path w="42544" h="29845" extrusionOk="0">
                <a:moveTo>
                  <a:pt x="6451" y="14604"/>
                </a:moveTo>
                <a:lnTo>
                  <a:pt x="6832" y="14985"/>
                </a:lnTo>
                <a:lnTo>
                  <a:pt x="7095" y="15143"/>
                </a:lnTo>
                <a:lnTo>
                  <a:pt x="7340" y="15112"/>
                </a:lnTo>
                <a:lnTo>
                  <a:pt x="7823" y="15112"/>
                </a:lnTo>
                <a:lnTo>
                  <a:pt x="6451" y="14604"/>
                </a:lnTo>
                <a:close/>
              </a:path>
              <a:path w="42544" h="29845" extrusionOk="0">
                <a:moveTo>
                  <a:pt x="8434" y="14604"/>
                </a:moveTo>
                <a:lnTo>
                  <a:pt x="6451" y="14604"/>
                </a:lnTo>
                <a:lnTo>
                  <a:pt x="7869" y="15130"/>
                </a:lnTo>
                <a:lnTo>
                  <a:pt x="8434" y="14604"/>
                </a:lnTo>
                <a:close/>
              </a:path>
              <a:path w="42544" h="29845" extrusionOk="0">
                <a:moveTo>
                  <a:pt x="127" y="11175"/>
                </a:moveTo>
                <a:lnTo>
                  <a:pt x="736" y="13207"/>
                </a:lnTo>
                <a:lnTo>
                  <a:pt x="1696" y="13911"/>
                </a:lnTo>
                <a:lnTo>
                  <a:pt x="1117" y="12826"/>
                </a:lnTo>
                <a:lnTo>
                  <a:pt x="127" y="11175"/>
                </a:lnTo>
                <a:close/>
              </a:path>
              <a:path w="42544" h="29845" extrusionOk="0">
                <a:moveTo>
                  <a:pt x="9753" y="13207"/>
                </a:moveTo>
                <a:lnTo>
                  <a:pt x="9118" y="13842"/>
                </a:lnTo>
                <a:lnTo>
                  <a:pt x="9400" y="13631"/>
                </a:lnTo>
                <a:lnTo>
                  <a:pt x="9753" y="13207"/>
                </a:lnTo>
                <a:close/>
              </a:path>
              <a:path w="42544" h="29845" extrusionOk="0">
                <a:moveTo>
                  <a:pt x="9400" y="13631"/>
                </a:moveTo>
                <a:lnTo>
                  <a:pt x="9118" y="13842"/>
                </a:lnTo>
                <a:lnTo>
                  <a:pt x="9400" y="13631"/>
                </a:lnTo>
                <a:close/>
              </a:path>
              <a:path w="42544" h="29845" extrusionOk="0">
                <a:moveTo>
                  <a:pt x="9965" y="13207"/>
                </a:moveTo>
                <a:lnTo>
                  <a:pt x="9753" y="13207"/>
                </a:lnTo>
                <a:lnTo>
                  <a:pt x="9400" y="13631"/>
                </a:lnTo>
                <a:lnTo>
                  <a:pt x="9965" y="13207"/>
                </a:lnTo>
                <a:close/>
              </a:path>
              <a:path w="42544" h="29845" extrusionOk="0">
                <a:moveTo>
                  <a:pt x="12293" y="11429"/>
                </a:moveTo>
                <a:lnTo>
                  <a:pt x="11277" y="12064"/>
                </a:lnTo>
                <a:lnTo>
                  <a:pt x="11616" y="11937"/>
                </a:lnTo>
                <a:lnTo>
                  <a:pt x="12293" y="11429"/>
                </a:lnTo>
                <a:close/>
              </a:path>
              <a:path w="42544" h="29845" extrusionOk="0">
                <a:moveTo>
                  <a:pt x="11616" y="11937"/>
                </a:moveTo>
                <a:lnTo>
                  <a:pt x="11277" y="12064"/>
                </a:lnTo>
                <a:lnTo>
                  <a:pt x="11446" y="12064"/>
                </a:lnTo>
                <a:lnTo>
                  <a:pt x="11616" y="11937"/>
                </a:lnTo>
                <a:close/>
              </a:path>
              <a:path w="42544" h="29845" extrusionOk="0">
                <a:moveTo>
                  <a:pt x="12750" y="11429"/>
                </a:moveTo>
                <a:lnTo>
                  <a:pt x="12293" y="11429"/>
                </a:lnTo>
                <a:lnTo>
                  <a:pt x="11616" y="11937"/>
                </a:lnTo>
                <a:lnTo>
                  <a:pt x="12293" y="11683"/>
                </a:lnTo>
                <a:lnTo>
                  <a:pt x="12750" y="11429"/>
                </a:lnTo>
                <a:close/>
              </a:path>
              <a:path w="42544" h="29845" extrusionOk="0">
                <a:moveTo>
                  <a:pt x="0" y="10752"/>
                </a:moveTo>
                <a:lnTo>
                  <a:pt x="50" y="11048"/>
                </a:lnTo>
                <a:lnTo>
                  <a:pt x="127" y="11175"/>
                </a:lnTo>
                <a:lnTo>
                  <a:pt x="0" y="10752"/>
                </a:lnTo>
                <a:close/>
              </a:path>
              <a:path w="42544" h="29845" extrusionOk="0">
                <a:moveTo>
                  <a:pt x="41059" y="9905"/>
                </a:moveTo>
                <a:lnTo>
                  <a:pt x="36296" y="9905"/>
                </a:lnTo>
                <a:lnTo>
                  <a:pt x="39725" y="10794"/>
                </a:lnTo>
                <a:lnTo>
                  <a:pt x="41059" y="9905"/>
                </a:lnTo>
                <a:close/>
              </a:path>
              <a:path w="42544" h="29845" extrusionOk="0">
                <a:moveTo>
                  <a:pt x="14283" y="10414"/>
                </a:moveTo>
                <a:lnTo>
                  <a:pt x="14071" y="10540"/>
                </a:lnTo>
                <a:lnTo>
                  <a:pt x="14283" y="10414"/>
                </a:lnTo>
                <a:close/>
              </a:path>
              <a:path w="42544" h="29845" extrusionOk="0">
                <a:moveTo>
                  <a:pt x="1253" y="7552"/>
                </a:moveTo>
                <a:lnTo>
                  <a:pt x="355" y="8381"/>
                </a:lnTo>
                <a:lnTo>
                  <a:pt x="36" y="10508"/>
                </a:lnTo>
                <a:lnTo>
                  <a:pt x="923" y="8254"/>
                </a:lnTo>
                <a:lnTo>
                  <a:pt x="1253" y="7552"/>
                </a:lnTo>
                <a:close/>
              </a:path>
              <a:path w="42544" h="29845" extrusionOk="0">
                <a:moveTo>
                  <a:pt x="14706" y="10159"/>
                </a:moveTo>
                <a:lnTo>
                  <a:pt x="14071" y="10414"/>
                </a:lnTo>
                <a:lnTo>
                  <a:pt x="14636" y="10202"/>
                </a:lnTo>
                <a:close/>
              </a:path>
              <a:path w="42544" h="29845" extrusionOk="0">
                <a:moveTo>
                  <a:pt x="14452" y="10286"/>
                </a:moveTo>
                <a:lnTo>
                  <a:pt x="14071" y="10414"/>
                </a:lnTo>
                <a:lnTo>
                  <a:pt x="14262" y="10414"/>
                </a:lnTo>
                <a:lnTo>
                  <a:pt x="14452" y="10286"/>
                </a:lnTo>
                <a:close/>
              </a:path>
              <a:path w="42544" h="29845" extrusionOk="0">
                <a:moveTo>
                  <a:pt x="14494" y="10286"/>
                </a:moveTo>
                <a:lnTo>
                  <a:pt x="14283" y="10414"/>
                </a:lnTo>
                <a:lnTo>
                  <a:pt x="14494" y="10286"/>
                </a:lnTo>
                <a:close/>
              </a:path>
              <a:path w="42544" h="29845" extrusionOk="0">
                <a:moveTo>
                  <a:pt x="14636" y="10202"/>
                </a:moveTo>
                <a:lnTo>
                  <a:pt x="14410" y="10286"/>
                </a:lnTo>
                <a:lnTo>
                  <a:pt x="14636" y="10202"/>
                </a:lnTo>
                <a:close/>
              </a:path>
              <a:path w="42544" h="29845" extrusionOk="0">
                <a:moveTo>
                  <a:pt x="14748" y="10159"/>
                </a:moveTo>
                <a:close/>
              </a:path>
              <a:path w="42544" h="29845" extrusionOk="0">
                <a:moveTo>
                  <a:pt x="41901" y="8508"/>
                </a:moveTo>
                <a:lnTo>
                  <a:pt x="28041" y="8508"/>
                </a:lnTo>
                <a:lnTo>
                  <a:pt x="27431" y="8576"/>
                </a:lnTo>
                <a:lnTo>
                  <a:pt x="28549" y="8762"/>
                </a:lnTo>
                <a:lnTo>
                  <a:pt x="28803" y="8762"/>
                </a:lnTo>
                <a:lnTo>
                  <a:pt x="30200" y="9016"/>
                </a:lnTo>
                <a:lnTo>
                  <a:pt x="30073" y="9016"/>
                </a:lnTo>
                <a:lnTo>
                  <a:pt x="36550" y="10032"/>
                </a:lnTo>
                <a:lnTo>
                  <a:pt x="36296" y="9905"/>
                </a:lnTo>
                <a:lnTo>
                  <a:pt x="41059" y="9905"/>
                </a:lnTo>
                <a:lnTo>
                  <a:pt x="41630" y="9525"/>
                </a:lnTo>
                <a:lnTo>
                  <a:pt x="41901" y="8508"/>
                </a:lnTo>
                <a:close/>
              </a:path>
              <a:path w="42544" h="29845" extrusionOk="0">
                <a:moveTo>
                  <a:pt x="16529" y="9838"/>
                </a:moveTo>
                <a:close/>
              </a:path>
              <a:path w="42544" h="29845" extrusionOk="0">
                <a:moveTo>
                  <a:pt x="16301" y="9651"/>
                </a:moveTo>
                <a:lnTo>
                  <a:pt x="16529" y="9838"/>
                </a:lnTo>
                <a:lnTo>
                  <a:pt x="16301" y="9651"/>
                </a:lnTo>
                <a:close/>
              </a:path>
              <a:path w="42544" h="29845" extrusionOk="0">
                <a:moveTo>
                  <a:pt x="18262" y="8762"/>
                </a:moveTo>
                <a:lnTo>
                  <a:pt x="15214" y="8762"/>
                </a:lnTo>
                <a:lnTo>
                  <a:pt x="16243" y="9605"/>
                </a:lnTo>
                <a:lnTo>
                  <a:pt x="17246" y="9270"/>
                </a:lnTo>
                <a:lnTo>
                  <a:pt x="17500" y="9143"/>
                </a:lnTo>
                <a:lnTo>
                  <a:pt x="16865" y="9143"/>
                </a:lnTo>
                <a:lnTo>
                  <a:pt x="18262" y="8762"/>
                </a:lnTo>
                <a:close/>
              </a:path>
              <a:path w="42544" h="29845" extrusionOk="0">
                <a:moveTo>
                  <a:pt x="15214" y="8762"/>
                </a:moveTo>
                <a:lnTo>
                  <a:pt x="15722" y="9270"/>
                </a:lnTo>
                <a:lnTo>
                  <a:pt x="15214" y="8762"/>
                </a:lnTo>
                <a:close/>
              </a:path>
              <a:path w="42544" h="29845" extrusionOk="0">
                <a:moveTo>
                  <a:pt x="18262" y="8762"/>
                </a:moveTo>
                <a:lnTo>
                  <a:pt x="16865" y="9143"/>
                </a:lnTo>
                <a:lnTo>
                  <a:pt x="17695" y="9046"/>
                </a:lnTo>
                <a:lnTo>
                  <a:pt x="18262" y="8762"/>
                </a:lnTo>
                <a:close/>
              </a:path>
              <a:path w="42544" h="29845" extrusionOk="0">
                <a:moveTo>
                  <a:pt x="17695" y="9046"/>
                </a:moveTo>
                <a:lnTo>
                  <a:pt x="16865" y="9143"/>
                </a:lnTo>
                <a:lnTo>
                  <a:pt x="17500" y="9143"/>
                </a:lnTo>
                <a:lnTo>
                  <a:pt x="17695" y="9046"/>
                </a:lnTo>
                <a:close/>
              </a:path>
              <a:path w="42544" h="29845" extrusionOk="0">
                <a:moveTo>
                  <a:pt x="19490" y="8762"/>
                </a:moveTo>
                <a:lnTo>
                  <a:pt x="18262" y="8762"/>
                </a:lnTo>
                <a:lnTo>
                  <a:pt x="17695" y="9046"/>
                </a:lnTo>
                <a:lnTo>
                  <a:pt x="19024" y="8889"/>
                </a:lnTo>
                <a:lnTo>
                  <a:pt x="19490" y="8762"/>
                </a:lnTo>
                <a:close/>
              </a:path>
              <a:path w="42544" h="29845" extrusionOk="0">
                <a:moveTo>
                  <a:pt x="42214" y="7238"/>
                </a:moveTo>
                <a:lnTo>
                  <a:pt x="12293" y="7238"/>
                </a:lnTo>
                <a:lnTo>
                  <a:pt x="12674" y="7429"/>
                </a:lnTo>
                <a:lnTo>
                  <a:pt x="13436" y="7619"/>
                </a:lnTo>
                <a:lnTo>
                  <a:pt x="14198" y="8000"/>
                </a:lnTo>
                <a:lnTo>
                  <a:pt x="15341" y="8889"/>
                </a:lnTo>
                <a:lnTo>
                  <a:pt x="15214" y="8762"/>
                </a:lnTo>
                <a:lnTo>
                  <a:pt x="19490" y="8762"/>
                </a:lnTo>
                <a:lnTo>
                  <a:pt x="19955" y="8635"/>
                </a:lnTo>
                <a:lnTo>
                  <a:pt x="19405" y="8635"/>
                </a:lnTo>
                <a:lnTo>
                  <a:pt x="20421" y="8508"/>
                </a:lnTo>
                <a:lnTo>
                  <a:pt x="22580" y="8508"/>
                </a:lnTo>
                <a:lnTo>
                  <a:pt x="23723" y="8381"/>
                </a:lnTo>
                <a:lnTo>
                  <a:pt x="24739" y="8381"/>
                </a:lnTo>
                <a:lnTo>
                  <a:pt x="25164" y="8334"/>
                </a:lnTo>
                <a:lnTo>
                  <a:pt x="24612" y="8127"/>
                </a:lnTo>
                <a:lnTo>
                  <a:pt x="42003" y="8127"/>
                </a:lnTo>
                <a:lnTo>
                  <a:pt x="42214" y="7238"/>
                </a:lnTo>
                <a:close/>
              </a:path>
              <a:path w="42544" h="29845" extrusionOk="0">
                <a:moveTo>
                  <a:pt x="20421" y="8508"/>
                </a:moveTo>
                <a:lnTo>
                  <a:pt x="19405" y="8635"/>
                </a:lnTo>
                <a:lnTo>
                  <a:pt x="19955" y="8635"/>
                </a:lnTo>
                <a:lnTo>
                  <a:pt x="20421" y="8508"/>
                </a:lnTo>
                <a:close/>
              </a:path>
              <a:path w="42544" h="29845" extrusionOk="0">
                <a:moveTo>
                  <a:pt x="21564" y="8508"/>
                </a:moveTo>
                <a:lnTo>
                  <a:pt x="20421" y="8508"/>
                </a:lnTo>
                <a:lnTo>
                  <a:pt x="19955" y="8635"/>
                </a:lnTo>
                <a:lnTo>
                  <a:pt x="20421" y="8635"/>
                </a:lnTo>
                <a:lnTo>
                  <a:pt x="21564" y="8508"/>
                </a:lnTo>
                <a:close/>
              </a:path>
              <a:path w="42544" h="29845" extrusionOk="0">
                <a:moveTo>
                  <a:pt x="42003" y="8127"/>
                </a:moveTo>
                <a:lnTo>
                  <a:pt x="24612" y="8127"/>
                </a:lnTo>
                <a:lnTo>
                  <a:pt x="25882" y="8254"/>
                </a:lnTo>
                <a:lnTo>
                  <a:pt x="25164" y="8334"/>
                </a:lnTo>
                <a:lnTo>
                  <a:pt x="25628" y="8508"/>
                </a:lnTo>
                <a:lnTo>
                  <a:pt x="26898" y="8635"/>
                </a:lnTo>
                <a:lnTo>
                  <a:pt x="27431" y="8576"/>
                </a:lnTo>
                <a:lnTo>
                  <a:pt x="27025" y="8508"/>
                </a:lnTo>
                <a:lnTo>
                  <a:pt x="41901" y="8508"/>
                </a:lnTo>
                <a:lnTo>
                  <a:pt x="42003" y="8127"/>
                </a:lnTo>
                <a:close/>
              </a:path>
              <a:path w="42544" h="29845" extrusionOk="0">
                <a:moveTo>
                  <a:pt x="28041" y="8508"/>
                </a:moveTo>
                <a:lnTo>
                  <a:pt x="27025" y="8508"/>
                </a:lnTo>
                <a:lnTo>
                  <a:pt x="27431" y="8576"/>
                </a:lnTo>
                <a:lnTo>
                  <a:pt x="28041" y="8508"/>
                </a:lnTo>
                <a:close/>
              </a:path>
              <a:path w="42544" h="29845" extrusionOk="0">
                <a:moveTo>
                  <a:pt x="24612" y="8127"/>
                </a:moveTo>
                <a:lnTo>
                  <a:pt x="25164" y="8334"/>
                </a:lnTo>
                <a:lnTo>
                  <a:pt x="25882" y="8254"/>
                </a:lnTo>
                <a:lnTo>
                  <a:pt x="24612" y="8127"/>
                </a:lnTo>
                <a:close/>
              </a:path>
              <a:path w="42544" h="29845" extrusionOk="0">
                <a:moveTo>
                  <a:pt x="12716" y="7535"/>
                </a:moveTo>
                <a:lnTo>
                  <a:pt x="13563" y="8127"/>
                </a:lnTo>
                <a:lnTo>
                  <a:pt x="13309" y="7746"/>
                </a:lnTo>
                <a:lnTo>
                  <a:pt x="12906" y="7582"/>
                </a:lnTo>
                <a:lnTo>
                  <a:pt x="12716" y="7535"/>
                </a:lnTo>
                <a:close/>
              </a:path>
              <a:path w="42544" h="29845" extrusionOk="0">
                <a:moveTo>
                  <a:pt x="12674" y="7429"/>
                </a:moveTo>
                <a:lnTo>
                  <a:pt x="13055" y="7619"/>
                </a:lnTo>
                <a:lnTo>
                  <a:pt x="13309" y="7746"/>
                </a:lnTo>
                <a:lnTo>
                  <a:pt x="13563" y="8127"/>
                </a:lnTo>
                <a:lnTo>
                  <a:pt x="14361" y="8127"/>
                </a:lnTo>
                <a:lnTo>
                  <a:pt x="14198" y="8000"/>
                </a:lnTo>
                <a:lnTo>
                  <a:pt x="13436" y="7619"/>
                </a:lnTo>
                <a:lnTo>
                  <a:pt x="12674" y="7429"/>
                </a:lnTo>
                <a:close/>
              </a:path>
              <a:path w="42544" h="29845" extrusionOk="0">
                <a:moveTo>
                  <a:pt x="12906" y="7582"/>
                </a:moveTo>
                <a:lnTo>
                  <a:pt x="13055" y="7619"/>
                </a:lnTo>
                <a:lnTo>
                  <a:pt x="12906" y="7582"/>
                </a:lnTo>
                <a:close/>
              </a:path>
              <a:path w="42544" h="29845" extrusionOk="0">
                <a:moveTo>
                  <a:pt x="12505" y="7387"/>
                </a:moveTo>
                <a:lnTo>
                  <a:pt x="12906" y="7582"/>
                </a:lnTo>
                <a:lnTo>
                  <a:pt x="13055" y="7619"/>
                </a:lnTo>
                <a:lnTo>
                  <a:pt x="12674" y="7429"/>
                </a:lnTo>
                <a:lnTo>
                  <a:pt x="12505" y="7387"/>
                </a:lnTo>
                <a:close/>
              </a:path>
              <a:path w="42544" h="29845" extrusionOk="0">
                <a:moveTo>
                  <a:pt x="12615" y="7464"/>
                </a:moveTo>
                <a:lnTo>
                  <a:pt x="12906" y="7582"/>
                </a:lnTo>
                <a:lnTo>
                  <a:pt x="12615" y="7464"/>
                </a:lnTo>
                <a:close/>
              </a:path>
              <a:path w="42544" h="29845" extrusionOk="0">
                <a:moveTo>
                  <a:pt x="4292" y="4952"/>
                </a:moveTo>
                <a:lnTo>
                  <a:pt x="1879" y="6222"/>
                </a:lnTo>
                <a:lnTo>
                  <a:pt x="1253" y="7552"/>
                </a:lnTo>
                <a:lnTo>
                  <a:pt x="2768" y="6095"/>
                </a:lnTo>
                <a:lnTo>
                  <a:pt x="3530" y="5460"/>
                </a:lnTo>
                <a:lnTo>
                  <a:pt x="4308" y="4957"/>
                </a:lnTo>
                <a:close/>
              </a:path>
              <a:path w="42544" h="29845" extrusionOk="0">
                <a:moveTo>
                  <a:pt x="11404" y="7111"/>
                </a:moveTo>
                <a:lnTo>
                  <a:pt x="11023" y="7111"/>
                </a:lnTo>
                <a:lnTo>
                  <a:pt x="12716" y="7535"/>
                </a:lnTo>
                <a:lnTo>
                  <a:pt x="12301" y="7336"/>
                </a:lnTo>
                <a:lnTo>
                  <a:pt x="11404" y="7111"/>
                </a:lnTo>
                <a:close/>
              </a:path>
              <a:path w="42544" h="29845" extrusionOk="0">
                <a:moveTo>
                  <a:pt x="12301" y="7336"/>
                </a:moveTo>
                <a:lnTo>
                  <a:pt x="12615" y="7464"/>
                </a:lnTo>
                <a:lnTo>
                  <a:pt x="12301" y="7336"/>
                </a:lnTo>
                <a:close/>
              </a:path>
              <a:path w="42544" h="29845" extrusionOk="0">
                <a:moveTo>
                  <a:pt x="12293" y="7238"/>
                </a:moveTo>
                <a:lnTo>
                  <a:pt x="12505" y="7387"/>
                </a:lnTo>
                <a:lnTo>
                  <a:pt x="12674" y="7429"/>
                </a:lnTo>
                <a:lnTo>
                  <a:pt x="12293" y="7238"/>
                </a:lnTo>
                <a:close/>
              </a:path>
              <a:path w="42544" h="29845" extrusionOk="0">
                <a:moveTo>
                  <a:pt x="10922" y="6774"/>
                </a:moveTo>
                <a:lnTo>
                  <a:pt x="12301" y="7336"/>
                </a:lnTo>
                <a:lnTo>
                  <a:pt x="12505" y="7387"/>
                </a:lnTo>
                <a:lnTo>
                  <a:pt x="12293" y="7238"/>
                </a:lnTo>
                <a:lnTo>
                  <a:pt x="42214" y="7238"/>
                </a:lnTo>
                <a:lnTo>
                  <a:pt x="42291" y="6857"/>
                </a:lnTo>
                <a:lnTo>
                  <a:pt x="11277" y="6857"/>
                </a:lnTo>
                <a:lnTo>
                  <a:pt x="10922" y="6774"/>
                </a:lnTo>
                <a:close/>
              </a:path>
              <a:path w="42544" h="29845" extrusionOk="0">
                <a:moveTo>
                  <a:pt x="11750" y="7111"/>
                </a:moveTo>
                <a:lnTo>
                  <a:pt x="11404" y="7111"/>
                </a:lnTo>
                <a:lnTo>
                  <a:pt x="12301" y="7336"/>
                </a:lnTo>
                <a:lnTo>
                  <a:pt x="11750" y="7111"/>
                </a:lnTo>
                <a:close/>
              </a:path>
              <a:path w="42544" h="29845" extrusionOk="0">
                <a:moveTo>
                  <a:pt x="10007" y="6350"/>
                </a:moveTo>
                <a:lnTo>
                  <a:pt x="9880" y="6350"/>
                </a:lnTo>
                <a:lnTo>
                  <a:pt x="10922" y="6774"/>
                </a:lnTo>
                <a:lnTo>
                  <a:pt x="11277" y="6857"/>
                </a:lnTo>
                <a:lnTo>
                  <a:pt x="10515" y="6476"/>
                </a:lnTo>
                <a:lnTo>
                  <a:pt x="10007" y="6350"/>
                </a:lnTo>
                <a:close/>
              </a:path>
              <a:path w="42544" h="29845" extrusionOk="0">
                <a:moveTo>
                  <a:pt x="42468" y="5968"/>
                </a:moveTo>
                <a:lnTo>
                  <a:pt x="8483" y="5968"/>
                </a:lnTo>
                <a:lnTo>
                  <a:pt x="10515" y="6476"/>
                </a:lnTo>
                <a:lnTo>
                  <a:pt x="11277" y="6857"/>
                </a:lnTo>
                <a:lnTo>
                  <a:pt x="42291" y="6857"/>
                </a:lnTo>
                <a:lnTo>
                  <a:pt x="42468" y="5968"/>
                </a:lnTo>
                <a:close/>
              </a:path>
              <a:path w="42544" h="29845" extrusionOk="0">
                <a:moveTo>
                  <a:pt x="42443" y="5587"/>
                </a:moveTo>
                <a:lnTo>
                  <a:pt x="6705" y="5587"/>
                </a:lnTo>
                <a:lnTo>
                  <a:pt x="7340" y="5714"/>
                </a:lnTo>
                <a:lnTo>
                  <a:pt x="7213" y="5714"/>
                </a:lnTo>
                <a:lnTo>
                  <a:pt x="8737" y="6095"/>
                </a:lnTo>
                <a:lnTo>
                  <a:pt x="9358" y="6406"/>
                </a:lnTo>
                <a:lnTo>
                  <a:pt x="10922" y="6774"/>
                </a:lnTo>
                <a:lnTo>
                  <a:pt x="9880" y="6350"/>
                </a:lnTo>
                <a:lnTo>
                  <a:pt x="10007" y="6350"/>
                </a:lnTo>
                <a:lnTo>
                  <a:pt x="8483" y="5968"/>
                </a:lnTo>
                <a:lnTo>
                  <a:pt x="42468" y="5968"/>
                </a:lnTo>
                <a:lnTo>
                  <a:pt x="42519" y="5714"/>
                </a:lnTo>
                <a:lnTo>
                  <a:pt x="7340" y="5714"/>
                </a:lnTo>
                <a:lnTo>
                  <a:pt x="7086" y="5683"/>
                </a:lnTo>
                <a:lnTo>
                  <a:pt x="42500" y="5683"/>
                </a:lnTo>
                <a:close/>
              </a:path>
              <a:path w="42544" h="29845" extrusionOk="0">
                <a:moveTo>
                  <a:pt x="8229" y="5968"/>
                </a:moveTo>
                <a:lnTo>
                  <a:pt x="7340" y="5968"/>
                </a:lnTo>
                <a:lnTo>
                  <a:pt x="9499" y="6476"/>
                </a:lnTo>
                <a:lnTo>
                  <a:pt x="9358" y="6406"/>
                </a:lnTo>
                <a:lnTo>
                  <a:pt x="9118" y="6350"/>
                </a:lnTo>
                <a:lnTo>
                  <a:pt x="9245" y="6350"/>
                </a:lnTo>
                <a:lnTo>
                  <a:pt x="8737" y="6095"/>
                </a:lnTo>
                <a:lnTo>
                  <a:pt x="8229" y="5968"/>
                </a:lnTo>
                <a:close/>
              </a:path>
              <a:path w="42544" h="29845" extrusionOk="0">
                <a:moveTo>
                  <a:pt x="9358" y="6406"/>
                </a:moveTo>
                <a:lnTo>
                  <a:pt x="9499" y="6476"/>
                </a:lnTo>
                <a:lnTo>
                  <a:pt x="9658" y="6476"/>
                </a:lnTo>
                <a:lnTo>
                  <a:pt x="9358" y="6406"/>
                </a:lnTo>
                <a:close/>
              </a:path>
              <a:path w="42544" h="29845" extrusionOk="0">
                <a:moveTo>
                  <a:pt x="9245" y="6350"/>
                </a:moveTo>
                <a:lnTo>
                  <a:pt x="9118" y="6350"/>
                </a:lnTo>
                <a:lnTo>
                  <a:pt x="9358" y="6406"/>
                </a:lnTo>
                <a:close/>
              </a:path>
              <a:path w="42544" h="29845" extrusionOk="0">
                <a:moveTo>
                  <a:pt x="6578" y="5587"/>
                </a:moveTo>
                <a:lnTo>
                  <a:pt x="6324" y="5587"/>
                </a:lnTo>
                <a:lnTo>
                  <a:pt x="7086" y="5683"/>
                </a:lnTo>
                <a:lnTo>
                  <a:pt x="6578" y="5587"/>
                </a:lnTo>
                <a:close/>
              </a:path>
              <a:path w="42544" h="29845" extrusionOk="0">
                <a:moveTo>
                  <a:pt x="8652" y="2671"/>
                </a:moveTo>
                <a:lnTo>
                  <a:pt x="8102" y="2793"/>
                </a:lnTo>
                <a:lnTo>
                  <a:pt x="6959" y="3301"/>
                </a:lnTo>
                <a:lnTo>
                  <a:pt x="5816" y="4063"/>
                </a:lnTo>
                <a:lnTo>
                  <a:pt x="5689" y="4063"/>
                </a:lnTo>
                <a:lnTo>
                  <a:pt x="4308" y="4957"/>
                </a:lnTo>
                <a:lnTo>
                  <a:pt x="6578" y="5587"/>
                </a:lnTo>
                <a:lnTo>
                  <a:pt x="6959" y="5651"/>
                </a:lnTo>
                <a:lnTo>
                  <a:pt x="6705" y="5587"/>
                </a:lnTo>
                <a:lnTo>
                  <a:pt x="42443" y="5587"/>
                </a:lnTo>
                <a:lnTo>
                  <a:pt x="41376" y="3809"/>
                </a:lnTo>
                <a:lnTo>
                  <a:pt x="38540" y="3047"/>
                </a:lnTo>
                <a:lnTo>
                  <a:pt x="7975" y="3047"/>
                </a:lnTo>
                <a:lnTo>
                  <a:pt x="8652" y="2671"/>
                </a:lnTo>
                <a:close/>
              </a:path>
              <a:path w="42544" h="29845" extrusionOk="0">
                <a:moveTo>
                  <a:pt x="9245" y="2539"/>
                </a:moveTo>
                <a:lnTo>
                  <a:pt x="8652" y="2671"/>
                </a:lnTo>
                <a:lnTo>
                  <a:pt x="7975" y="3047"/>
                </a:lnTo>
                <a:lnTo>
                  <a:pt x="9245" y="2539"/>
                </a:lnTo>
                <a:close/>
              </a:path>
              <a:path w="42544" h="29845" extrusionOk="0">
                <a:moveTo>
                  <a:pt x="35661" y="2539"/>
                </a:moveTo>
                <a:lnTo>
                  <a:pt x="9245" y="2539"/>
                </a:lnTo>
                <a:lnTo>
                  <a:pt x="7975" y="3047"/>
                </a:lnTo>
                <a:lnTo>
                  <a:pt x="38540" y="3047"/>
                </a:lnTo>
                <a:lnTo>
                  <a:pt x="38074" y="2920"/>
                </a:lnTo>
                <a:lnTo>
                  <a:pt x="37820" y="2920"/>
                </a:lnTo>
                <a:lnTo>
                  <a:pt x="35661" y="2539"/>
                </a:lnTo>
                <a:close/>
              </a:path>
              <a:path w="42544" h="29845" extrusionOk="0">
                <a:moveTo>
                  <a:pt x="16865" y="126"/>
                </a:moveTo>
                <a:lnTo>
                  <a:pt x="15468" y="380"/>
                </a:lnTo>
                <a:lnTo>
                  <a:pt x="14325" y="634"/>
                </a:lnTo>
                <a:lnTo>
                  <a:pt x="13309" y="888"/>
                </a:lnTo>
                <a:lnTo>
                  <a:pt x="12166" y="1269"/>
                </a:lnTo>
                <a:lnTo>
                  <a:pt x="11023" y="1523"/>
                </a:lnTo>
                <a:lnTo>
                  <a:pt x="10515" y="1777"/>
                </a:lnTo>
                <a:lnTo>
                  <a:pt x="9753" y="2031"/>
                </a:lnTo>
                <a:lnTo>
                  <a:pt x="8652" y="2671"/>
                </a:lnTo>
                <a:lnTo>
                  <a:pt x="9245" y="2539"/>
                </a:lnTo>
                <a:lnTo>
                  <a:pt x="35661" y="2539"/>
                </a:lnTo>
                <a:lnTo>
                  <a:pt x="32063" y="1904"/>
                </a:lnTo>
                <a:lnTo>
                  <a:pt x="31343" y="1777"/>
                </a:lnTo>
                <a:lnTo>
                  <a:pt x="31629" y="1777"/>
                </a:lnTo>
                <a:lnTo>
                  <a:pt x="30581" y="1396"/>
                </a:lnTo>
                <a:lnTo>
                  <a:pt x="30327" y="1396"/>
                </a:lnTo>
                <a:lnTo>
                  <a:pt x="29279" y="1015"/>
                </a:lnTo>
                <a:lnTo>
                  <a:pt x="28168" y="1015"/>
                </a:lnTo>
                <a:lnTo>
                  <a:pt x="26898" y="761"/>
                </a:lnTo>
                <a:lnTo>
                  <a:pt x="27660" y="761"/>
                </a:lnTo>
                <a:lnTo>
                  <a:pt x="27152" y="507"/>
                </a:lnTo>
                <a:lnTo>
                  <a:pt x="26517" y="380"/>
                </a:lnTo>
                <a:lnTo>
                  <a:pt x="16865" y="380"/>
                </a:lnTo>
                <a:lnTo>
                  <a:pt x="17527" y="200"/>
                </a:lnTo>
                <a:lnTo>
                  <a:pt x="16865" y="126"/>
                </a:lnTo>
                <a:close/>
              </a:path>
              <a:path w="42544" h="29845" extrusionOk="0">
                <a:moveTo>
                  <a:pt x="31343" y="1777"/>
                </a:moveTo>
                <a:lnTo>
                  <a:pt x="31978" y="1904"/>
                </a:lnTo>
                <a:lnTo>
                  <a:pt x="31343" y="1777"/>
                </a:lnTo>
                <a:close/>
              </a:path>
              <a:path w="42544" h="29845" extrusionOk="0">
                <a:moveTo>
                  <a:pt x="31898" y="1875"/>
                </a:moveTo>
                <a:lnTo>
                  <a:pt x="32063" y="1904"/>
                </a:lnTo>
                <a:lnTo>
                  <a:pt x="31898" y="1875"/>
                </a:lnTo>
                <a:close/>
              </a:path>
              <a:path w="42544" h="29845" extrusionOk="0">
                <a:moveTo>
                  <a:pt x="31629" y="1777"/>
                </a:moveTo>
                <a:lnTo>
                  <a:pt x="31343" y="1777"/>
                </a:lnTo>
                <a:lnTo>
                  <a:pt x="31898" y="1875"/>
                </a:lnTo>
                <a:lnTo>
                  <a:pt x="31629" y="1777"/>
                </a:lnTo>
                <a:close/>
              </a:path>
              <a:path w="42544" h="29845" extrusionOk="0">
                <a:moveTo>
                  <a:pt x="27660" y="761"/>
                </a:moveTo>
                <a:lnTo>
                  <a:pt x="26898" y="761"/>
                </a:lnTo>
                <a:lnTo>
                  <a:pt x="28168" y="1015"/>
                </a:lnTo>
                <a:lnTo>
                  <a:pt x="27660" y="761"/>
                </a:lnTo>
                <a:close/>
              </a:path>
              <a:path w="42544" h="29845" extrusionOk="0">
                <a:moveTo>
                  <a:pt x="28041" y="761"/>
                </a:moveTo>
                <a:lnTo>
                  <a:pt x="27660" y="761"/>
                </a:lnTo>
                <a:lnTo>
                  <a:pt x="28168" y="1015"/>
                </a:lnTo>
                <a:lnTo>
                  <a:pt x="29279" y="1015"/>
                </a:lnTo>
                <a:lnTo>
                  <a:pt x="28930" y="888"/>
                </a:lnTo>
                <a:lnTo>
                  <a:pt x="28041" y="761"/>
                </a:lnTo>
                <a:close/>
              </a:path>
              <a:path w="42544" h="29845" extrusionOk="0">
                <a:moveTo>
                  <a:pt x="17527" y="200"/>
                </a:moveTo>
                <a:lnTo>
                  <a:pt x="16865" y="380"/>
                </a:lnTo>
                <a:lnTo>
                  <a:pt x="18008" y="253"/>
                </a:lnTo>
                <a:lnTo>
                  <a:pt x="17527" y="200"/>
                </a:lnTo>
                <a:close/>
              </a:path>
              <a:path w="42544" h="29845" extrusionOk="0">
                <a:moveTo>
                  <a:pt x="21564" y="0"/>
                </a:moveTo>
                <a:lnTo>
                  <a:pt x="18262" y="0"/>
                </a:lnTo>
                <a:lnTo>
                  <a:pt x="17527" y="200"/>
                </a:lnTo>
                <a:lnTo>
                  <a:pt x="18008" y="253"/>
                </a:lnTo>
                <a:lnTo>
                  <a:pt x="16865" y="380"/>
                </a:lnTo>
                <a:lnTo>
                  <a:pt x="26517" y="380"/>
                </a:lnTo>
                <a:lnTo>
                  <a:pt x="25882" y="253"/>
                </a:lnTo>
                <a:lnTo>
                  <a:pt x="24739" y="253"/>
                </a:lnTo>
                <a:lnTo>
                  <a:pt x="23723" y="126"/>
                </a:lnTo>
                <a:lnTo>
                  <a:pt x="22580" y="126"/>
                </a:lnTo>
                <a:lnTo>
                  <a:pt x="2156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7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75</a:t>
            </a:fld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75"/>
          <p:cNvSpPr txBox="1">
            <a:spLocks noGrp="1"/>
          </p:cNvSpPr>
          <p:nvPr>
            <p:ph type="title"/>
          </p:nvPr>
        </p:nvSpPr>
        <p:spPr>
          <a:xfrm>
            <a:off x="707542" y="614248"/>
            <a:ext cx="5536565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(1) Shift Reduce Parsing</a:t>
            </a:r>
            <a:endParaRPr/>
          </a:p>
        </p:txBody>
      </p:sp>
      <p:sp>
        <p:nvSpPr>
          <p:cNvPr id="917" name="Google Shape;917;p75"/>
          <p:cNvSpPr txBox="1"/>
          <p:nvPr/>
        </p:nvSpPr>
        <p:spPr>
          <a:xfrm>
            <a:off x="707542" y="1510360"/>
            <a:ext cx="7668362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413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 case of bottom-up parsing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8" name="Google Shape;918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9994" y="2654950"/>
            <a:ext cx="2553809" cy="892922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75"/>
          <p:cNvSpPr/>
          <p:nvPr/>
        </p:nvSpPr>
        <p:spPr>
          <a:xfrm>
            <a:off x="1548282" y="4420996"/>
            <a:ext cx="42545" cy="29845"/>
          </a:xfrm>
          <a:custGeom>
            <a:avLst/>
            <a:gdLst/>
            <a:ahLst/>
            <a:cxnLst/>
            <a:rect l="l" t="t" r="r" b="b"/>
            <a:pathLst>
              <a:path w="42544" h="29845" extrusionOk="0">
                <a:moveTo>
                  <a:pt x="26009" y="25018"/>
                </a:moveTo>
                <a:lnTo>
                  <a:pt x="32359" y="28828"/>
                </a:lnTo>
                <a:lnTo>
                  <a:pt x="33756" y="29590"/>
                </a:lnTo>
                <a:lnTo>
                  <a:pt x="35534" y="29336"/>
                </a:lnTo>
                <a:lnTo>
                  <a:pt x="36423" y="27939"/>
                </a:lnTo>
                <a:lnTo>
                  <a:pt x="37312" y="26669"/>
                </a:lnTo>
                <a:lnTo>
                  <a:pt x="37094" y="25145"/>
                </a:lnTo>
                <a:lnTo>
                  <a:pt x="26390" y="25145"/>
                </a:lnTo>
                <a:lnTo>
                  <a:pt x="26009" y="25018"/>
                </a:lnTo>
                <a:close/>
              </a:path>
              <a:path w="42544" h="29845" extrusionOk="0">
                <a:moveTo>
                  <a:pt x="9304" y="16232"/>
                </a:moveTo>
                <a:lnTo>
                  <a:pt x="11404" y="17779"/>
                </a:lnTo>
                <a:lnTo>
                  <a:pt x="18643" y="21970"/>
                </a:lnTo>
                <a:lnTo>
                  <a:pt x="19151" y="22225"/>
                </a:lnTo>
                <a:lnTo>
                  <a:pt x="26390" y="25145"/>
                </a:lnTo>
                <a:lnTo>
                  <a:pt x="37094" y="25145"/>
                </a:lnTo>
                <a:lnTo>
                  <a:pt x="37058" y="24891"/>
                </a:lnTo>
                <a:lnTo>
                  <a:pt x="35788" y="23875"/>
                </a:lnTo>
                <a:lnTo>
                  <a:pt x="30073" y="19176"/>
                </a:lnTo>
                <a:lnTo>
                  <a:pt x="29946" y="19050"/>
                </a:lnTo>
                <a:lnTo>
                  <a:pt x="26751" y="16636"/>
                </a:lnTo>
                <a:lnTo>
                  <a:pt x="11023" y="16636"/>
                </a:lnTo>
                <a:lnTo>
                  <a:pt x="10483" y="16509"/>
                </a:lnTo>
                <a:lnTo>
                  <a:pt x="9880" y="16509"/>
                </a:lnTo>
                <a:lnTo>
                  <a:pt x="9304" y="16232"/>
                </a:lnTo>
                <a:close/>
              </a:path>
              <a:path w="42544" h="29845" extrusionOk="0">
                <a:moveTo>
                  <a:pt x="9437" y="16199"/>
                </a:moveTo>
                <a:lnTo>
                  <a:pt x="9575" y="16296"/>
                </a:lnTo>
                <a:lnTo>
                  <a:pt x="11023" y="16636"/>
                </a:lnTo>
                <a:lnTo>
                  <a:pt x="11404" y="16636"/>
                </a:lnTo>
                <a:lnTo>
                  <a:pt x="9437" y="16199"/>
                </a:lnTo>
                <a:close/>
              </a:path>
              <a:path w="42544" h="29845" extrusionOk="0">
                <a:moveTo>
                  <a:pt x="16243" y="9605"/>
                </a:moveTo>
                <a:lnTo>
                  <a:pt x="14636" y="10202"/>
                </a:lnTo>
                <a:lnTo>
                  <a:pt x="13436" y="11048"/>
                </a:lnTo>
                <a:lnTo>
                  <a:pt x="12293" y="11683"/>
                </a:lnTo>
                <a:lnTo>
                  <a:pt x="11616" y="11937"/>
                </a:lnTo>
                <a:lnTo>
                  <a:pt x="11277" y="12191"/>
                </a:lnTo>
                <a:lnTo>
                  <a:pt x="11150" y="12318"/>
                </a:lnTo>
                <a:lnTo>
                  <a:pt x="9400" y="13631"/>
                </a:lnTo>
                <a:lnTo>
                  <a:pt x="9118" y="13969"/>
                </a:lnTo>
                <a:lnTo>
                  <a:pt x="8024" y="14985"/>
                </a:lnTo>
                <a:lnTo>
                  <a:pt x="7905" y="15143"/>
                </a:lnTo>
                <a:lnTo>
                  <a:pt x="9880" y="15875"/>
                </a:lnTo>
                <a:lnTo>
                  <a:pt x="8973" y="15875"/>
                </a:lnTo>
                <a:lnTo>
                  <a:pt x="9437" y="16199"/>
                </a:lnTo>
                <a:lnTo>
                  <a:pt x="11404" y="16636"/>
                </a:lnTo>
                <a:lnTo>
                  <a:pt x="26751" y="16636"/>
                </a:lnTo>
                <a:lnTo>
                  <a:pt x="25741" y="15875"/>
                </a:lnTo>
                <a:lnTo>
                  <a:pt x="9118" y="15875"/>
                </a:lnTo>
                <a:lnTo>
                  <a:pt x="8924" y="15840"/>
                </a:lnTo>
                <a:lnTo>
                  <a:pt x="25696" y="15840"/>
                </a:lnTo>
                <a:lnTo>
                  <a:pt x="23723" y="14350"/>
                </a:lnTo>
                <a:lnTo>
                  <a:pt x="16230" y="9651"/>
                </a:lnTo>
                <a:close/>
              </a:path>
              <a:path w="42544" h="29845" extrusionOk="0">
                <a:moveTo>
                  <a:pt x="9344" y="16241"/>
                </a:moveTo>
                <a:lnTo>
                  <a:pt x="9880" y="16509"/>
                </a:lnTo>
                <a:lnTo>
                  <a:pt x="9575" y="16296"/>
                </a:lnTo>
                <a:lnTo>
                  <a:pt x="9344" y="16241"/>
                </a:lnTo>
                <a:close/>
              </a:path>
              <a:path w="42544" h="29845" extrusionOk="0">
                <a:moveTo>
                  <a:pt x="9575" y="16296"/>
                </a:moveTo>
                <a:lnTo>
                  <a:pt x="9880" y="16509"/>
                </a:lnTo>
                <a:lnTo>
                  <a:pt x="10483" y="16509"/>
                </a:lnTo>
                <a:lnTo>
                  <a:pt x="9575" y="16296"/>
                </a:lnTo>
                <a:close/>
              </a:path>
              <a:path w="42544" h="29845" extrusionOk="0">
                <a:moveTo>
                  <a:pt x="9183" y="16143"/>
                </a:moveTo>
                <a:lnTo>
                  <a:pt x="9344" y="16241"/>
                </a:lnTo>
                <a:lnTo>
                  <a:pt x="9575" y="16296"/>
                </a:lnTo>
                <a:lnTo>
                  <a:pt x="9436" y="16199"/>
                </a:lnTo>
                <a:lnTo>
                  <a:pt x="9183" y="16143"/>
                </a:lnTo>
                <a:close/>
              </a:path>
              <a:path w="42544" h="29845" extrusionOk="0">
                <a:moveTo>
                  <a:pt x="7979" y="15673"/>
                </a:moveTo>
                <a:lnTo>
                  <a:pt x="8864" y="16128"/>
                </a:lnTo>
                <a:lnTo>
                  <a:pt x="9304" y="16232"/>
                </a:lnTo>
                <a:lnTo>
                  <a:pt x="9147" y="16143"/>
                </a:lnTo>
                <a:lnTo>
                  <a:pt x="8991" y="16001"/>
                </a:lnTo>
                <a:lnTo>
                  <a:pt x="8810" y="15820"/>
                </a:lnTo>
                <a:lnTo>
                  <a:pt x="7979" y="15673"/>
                </a:lnTo>
                <a:close/>
              </a:path>
              <a:path w="42544" h="29845" extrusionOk="0">
                <a:moveTo>
                  <a:pt x="8810" y="15820"/>
                </a:moveTo>
                <a:lnTo>
                  <a:pt x="8991" y="16001"/>
                </a:lnTo>
                <a:lnTo>
                  <a:pt x="9183" y="16143"/>
                </a:lnTo>
                <a:lnTo>
                  <a:pt x="9437" y="16199"/>
                </a:lnTo>
                <a:lnTo>
                  <a:pt x="8924" y="15840"/>
                </a:lnTo>
                <a:close/>
              </a:path>
              <a:path w="42544" h="29845" extrusionOk="0">
                <a:moveTo>
                  <a:pt x="9118" y="16128"/>
                </a:moveTo>
                <a:lnTo>
                  <a:pt x="9259" y="16199"/>
                </a:lnTo>
                <a:lnTo>
                  <a:pt x="9118" y="16128"/>
                </a:lnTo>
                <a:close/>
              </a:path>
              <a:path w="42544" h="29845" extrusionOk="0">
                <a:moveTo>
                  <a:pt x="9163" y="16128"/>
                </a:moveTo>
                <a:close/>
              </a:path>
              <a:path w="42544" h="29845" extrusionOk="0">
                <a:moveTo>
                  <a:pt x="6149" y="15340"/>
                </a:moveTo>
                <a:lnTo>
                  <a:pt x="4456" y="15739"/>
                </a:lnTo>
                <a:lnTo>
                  <a:pt x="4673" y="15875"/>
                </a:lnTo>
                <a:lnTo>
                  <a:pt x="7340" y="15620"/>
                </a:lnTo>
                <a:lnTo>
                  <a:pt x="6149" y="15340"/>
                </a:lnTo>
                <a:close/>
              </a:path>
              <a:path w="42544" h="29845" extrusionOk="0">
                <a:moveTo>
                  <a:pt x="7869" y="15130"/>
                </a:moveTo>
                <a:lnTo>
                  <a:pt x="7631" y="15420"/>
                </a:lnTo>
                <a:lnTo>
                  <a:pt x="8483" y="15620"/>
                </a:lnTo>
                <a:lnTo>
                  <a:pt x="8610" y="15620"/>
                </a:lnTo>
                <a:lnTo>
                  <a:pt x="8924" y="15840"/>
                </a:lnTo>
                <a:lnTo>
                  <a:pt x="9118" y="15875"/>
                </a:lnTo>
                <a:lnTo>
                  <a:pt x="9880" y="15875"/>
                </a:lnTo>
                <a:lnTo>
                  <a:pt x="7869" y="15130"/>
                </a:lnTo>
                <a:close/>
              </a:path>
              <a:path w="42544" h="29845" extrusionOk="0">
                <a:moveTo>
                  <a:pt x="8610" y="15620"/>
                </a:moveTo>
                <a:lnTo>
                  <a:pt x="8810" y="15820"/>
                </a:lnTo>
                <a:lnTo>
                  <a:pt x="8610" y="15620"/>
                </a:lnTo>
                <a:close/>
              </a:path>
              <a:path w="42544" h="29845" extrusionOk="0">
                <a:moveTo>
                  <a:pt x="7571" y="15406"/>
                </a:moveTo>
                <a:lnTo>
                  <a:pt x="7979" y="15673"/>
                </a:lnTo>
                <a:lnTo>
                  <a:pt x="8810" y="15820"/>
                </a:lnTo>
                <a:lnTo>
                  <a:pt x="8610" y="15620"/>
                </a:lnTo>
                <a:lnTo>
                  <a:pt x="8483" y="15620"/>
                </a:lnTo>
                <a:lnTo>
                  <a:pt x="7571" y="15406"/>
                </a:lnTo>
                <a:close/>
              </a:path>
              <a:path w="42544" h="29845" extrusionOk="0">
                <a:moveTo>
                  <a:pt x="1696" y="13911"/>
                </a:moveTo>
                <a:lnTo>
                  <a:pt x="2133" y="14731"/>
                </a:lnTo>
                <a:lnTo>
                  <a:pt x="4419" y="15747"/>
                </a:lnTo>
                <a:lnTo>
                  <a:pt x="2641" y="14604"/>
                </a:lnTo>
                <a:lnTo>
                  <a:pt x="1696" y="13911"/>
                </a:lnTo>
                <a:close/>
              </a:path>
              <a:path w="42544" h="29845" extrusionOk="0">
                <a:moveTo>
                  <a:pt x="4308" y="4957"/>
                </a:moveTo>
                <a:lnTo>
                  <a:pt x="3530" y="5460"/>
                </a:lnTo>
                <a:lnTo>
                  <a:pt x="2768" y="6095"/>
                </a:lnTo>
                <a:lnTo>
                  <a:pt x="2006" y="6857"/>
                </a:lnTo>
                <a:lnTo>
                  <a:pt x="1272" y="7535"/>
                </a:lnTo>
                <a:lnTo>
                  <a:pt x="814" y="8508"/>
                </a:lnTo>
                <a:lnTo>
                  <a:pt x="122" y="10286"/>
                </a:lnTo>
                <a:lnTo>
                  <a:pt x="12" y="10794"/>
                </a:lnTo>
                <a:lnTo>
                  <a:pt x="127" y="11175"/>
                </a:lnTo>
                <a:lnTo>
                  <a:pt x="1117" y="12826"/>
                </a:lnTo>
                <a:lnTo>
                  <a:pt x="1659" y="13842"/>
                </a:lnTo>
                <a:lnTo>
                  <a:pt x="1775" y="13969"/>
                </a:lnTo>
                <a:lnTo>
                  <a:pt x="2641" y="14604"/>
                </a:lnTo>
                <a:lnTo>
                  <a:pt x="4456" y="15739"/>
                </a:lnTo>
                <a:lnTo>
                  <a:pt x="6149" y="15340"/>
                </a:lnTo>
                <a:lnTo>
                  <a:pt x="5181" y="15112"/>
                </a:lnTo>
                <a:lnTo>
                  <a:pt x="4419" y="14731"/>
                </a:lnTo>
                <a:lnTo>
                  <a:pt x="6578" y="14731"/>
                </a:lnTo>
                <a:lnTo>
                  <a:pt x="6451" y="14604"/>
                </a:lnTo>
                <a:lnTo>
                  <a:pt x="8434" y="14604"/>
                </a:lnTo>
                <a:lnTo>
                  <a:pt x="9118" y="13969"/>
                </a:lnTo>
                <a:lnTo>
                  <a:pt x="9118" y="13842"/>
                </a:lnTo>
                <a:lnTo>
                  <a:pt x="9753" y="13207"/>
                </a:lnTo>
                <a:lnTo>
                  <a:pt x="9965" y="13207"/>
                </a:lnTo>
                <a:lnTo>
                  <a:pt x="11150" y="12318"/>
                </a:lnTo>
                <a:lnTo>
                  <a:pt x="11277" y="12191"/>
                </a:lnTo>
                <a:lnTo>
                  <a:pt x="11446" y="12064"/>
                </a:lnTo>
                <a:lnTo>
                  <a:pt x="11277" y="12064"/>
                </a:lnTo>
                <a:lnTo>
                  <a:pt x="12293" y="11429"/>
                </a:lnTo>
                <a:lnTo>
                  <a:pt x="12750" y="11429"/>
                </a:lnTo>
                <a:lnTo>
                  <a:pt x="13436" y="11048"/>
                </a:lnTo>
                <a:lnTo>
                  <a:pt x="13944" y="10667"/>
                </a:lnTo>
                <a:lnTo>
                  <a:pt x="14120" y="10508"/>
                </a:lnTo>
                <a:lnTo>
                  <a:pt x="14262" y="10414"/>
                </a:lnTo>
                <a:lnTo>
                  <a:pt x="14071" y="10414"/>
                </a:lnTo>
                <a:lnTo>
                  <a:pt x="14706" y="10159"/>
                </a:lnTo>
                <a:lnTo>
                  <a:pt x="16103" y="9651"/>
                </a:lnTo>
                <a:lnTo>
                  <a:pt x="15835" y="9270"/>
                </a:lnTo>
                <a:lnTo>
                  <a:pt x="15341" y="8889"/>
                </a:lnTo>
                <a:lnTo>
                  <a:pt x="14361" y="8127"/>
                </a:lnTo>
                <a:lnTo>
                  <a:pt x="13563" y="8127"/>
                </a:lnTo>
                <a:lnTo>
                  <a:pt x="12716" y="7535"/>
                </a:lnTo>
                <a:lnTo>
                  <a:pt x="11023" y="7111"/>
                </a:lnTo>
                <a:lnTo>
                  <a:pt x="11750" y="7111"/>
                </a:lnTo>
                <a:lnTo>
                  <a:pt x="10922" y="6774"/>
                </a:lnTo>
                <a:lnTo>
                  <a:pt x="9658" y="6476"/>
                </a:lnTo>
                <a:lnTo>
                  <a:pt x="9499" y="6476"/>
                </a:lnTo>
                <a:lnTo>
                  <a:pt x="7340" y="5968"/>
                </a:lnTo>
                <a:lnTo>
                  <a:pt x="8229" y="5968"/>
                </a:lnTo>
                <a:lnTo>
                  <a:pt x="7086" y="5683"/>
                </a:lnTo>
                <a:lnTo>
                  <a:pt x="6324" y="5587"/>
                </a:lnTo>
                <a:lnTo>
                  <a:pt x="6578" y="5587"/>
                </a:lnTo>
                <a:lnTo>
                  <a:pt x="4308" y="4957"/>
                </a:lnTo>
                <a:close/>
              </a:path>
              <a:path w="42544" h="29845" extrusionOk="0">
                <a:moveTo>
                  <a:pt x="7556" y="15420"/>
                </a:moveTo>
                <a:lnTo>
                  <a:pt x="7394" y="15570"/>
                </a:lnTo>
                <a:lnTo>
                  <a:pt x="7979" y="15673"/>
                </a:lnTo>
                <a:lnTo>
                  <a:pt x="7556" y="15420"/>
                </a:lnTo>
                <a:close/>
              </a:path>
              <a:path w="42544" h="29845" extrusionOk="0">
                <a:moveTo>
                  <a:pt x="6548" y="15247"/>
                </a:moveTo>
                <a:lnTo>
                  <a:pt x="6149" y="15340"/>
                </a:lnTo>
                <a:lnTo>
                  <a:pt x="7340" y="15620"/>
                </a:lnTo>
                <a:lnTo>
                  <a:pt x="6959" y="15493"/>
                </a:lnTo>
                <a:lnTo>
                  <a:pt x="6548" y="15247"/>
                </a:lnTo>
                <a:close/>
              </a:path>
              <a:path w="42544" h="29845" extrusionOk="0">
                <a:moveTo>
                  <a:pt x="7394" y="15570"/>
                </a:moveTo>
                <a:lnTo>
                  <a:pt x="7679" y="15620"/>
                </a:lnTo>
                <a:lnTo>
                  <a:pt x="7394" y="15570"/>
                </a:lnTo>
                <a:close/>
              </a:path>
              <a:path w="42544" h="29845" extrusionOk="0">
                <a:moveTo>
                  <a:pt x="6745" y="15212"/>
                </a:moveTo>
                <a:lnTo>
                  <a:pt x="6548" y="15247"/>
                </a:lnTo>
                <a:lnTo>
                  <a:pt x="6959" y="15493"/>
                </a:lnTo>
                <a:lnTo>
                  <a:pt x="7394" y="15570"/>
                </a:lnTo>
                <a:lnTo>
                  <a:pt x="7508" y="15391"/>
                </a:lnTo>
                <a:lnTo>
                  <a:pt x="6745" y="15212"/>
                </a:lnTo>
                <a:close/>
              </a:path>
              <a:path w="42544" h="29845" extrusionOk="0">
                <a:moveTo>
                  <a:pt x="7823" y="15112"/>
                </a:moveTo>
                <a:lnTo>
                  <a:pt x="7340" y="15112"/>
                </a:lnTo>
                <a:lnTo>
                  <a:pt x="7156" y="15180"/>
                </a:lnTo>
                <a:lnTo>
                  <a:pt x="7508" y="15391"/>
                </a:lnTo>
                <a:lnTo>
                  <a:pt x="7763" y="15227"/>
                </a:lnTo>
                <a:close/>
              </a:path>
              <a:path w="42544" h="29845" extrusionOk="0">
                <a:moveTo>
                  <a:pt x="7108" y="15151"/>
                </a:moveTo>
                <a:lnTo>
                  <a:pt x="6771" y="15218"/>
                </a:lnTo>
                <a:lnTo>
                  <a:pt x="7508" y="15391"/>
                </a:lnTo>
                <a:lnTo>
                  <a:pt x="7108" y="15151"/>
                </a:lnTo>
                <a:close/>
              </a:path>
              <a:path w="42544" h="29845" extrusionOk="0">
                <a:moveTo>
                  <a:pt x="4419" y="14731"/>
                </a:moveTo>
                <a:lnTo>
                  <a:pt x="5181" y="15112"/>
                </a:lnTo>
                <a:lnTo>
                  <a:pt x="6149" y="15340"/>
                </a:lnTo>
                <a:lnTo>
                  <a:pt x="6548" y="15247"/>
                </a:lnTo>
                <a:lnTo>
                  <a:pt x="6324" y="15239"/>
                </a:lnTo>
                <a:lnTo>
                  <a:pt x="4419" y="14731"/>
                </a:lnTo>
                <a:close/>
              </a:path>
              <a:path w="42544" h="29845" extrusionOk="0">
                <a:moveTo>
                  <a:pt x="6499" y="15218"/>
                </a:moveTo>
                <a:lnTo>
                  <a:pt x="6324" y="15239"/>
                </a:lnTo>
                <a:lnTo>
                  <a:pt x="6536" y="15239"/>
                </a:lnTo>
                <a:close/>
              </a:path>
              <a:path w="42544" h="29845" extrusionOk="0">
                <a:moveTo>
                  <a:pt x="6651" y="15227"/>
                </a:moveTo>
                <a:close/>
              </a:path>
              <a:path w="42544" h="29845" extrusionOk="0">
                <a:moveTo>
                  <a:pt x="7095" y="15143"/>
                </a:moveTo>
                <a:lnTo>
                  <a:pt x="6802" y="15180"/>
                </a:lnTo>
                <a:lnTo>
                  <a:pt x="7108" y="15151"/>
                </a:lnTo>
                <a:close/>
              </a:path>
              <a:path w="42544" h="29845" extrusionOk="0">
                <a:moveTo>
                  <a:pt x="7044" y="15112"/>
                </a:moveTo>
                <a:lnTo>
                  <a:pt x="6324" y="15112"/>
                </a:lnTo>
                <a:lnTo>
                  <a:pt x="6677" y="15195"/>
                </a:lnTo>
                <a:lnTo>
                  <a:pt x="7031" y="15151"/>
                </a:lnTo>
                <a:close/>
              </a:path>
              <a:path w="42544" h="29845" extrusionOk="0">
                <a:moveTo>
                  <a:pt x="6578" y="14731"/>
                </a:moveTo>
                <a:lnTo>
                  <a:pt x="4419" y="14731"/>
                </a:lnTo>
                <a:lnTo>
                  <a:pt x="6436" y="15180"/>
                </a:lnTo>
                <a:lnTo>
                  <a:pt x="7044" y="15112"/>
                </a:lnTo>
                <a:lnTo>
                  <a:pt x="6832" y="14985"/>
                </a:lnTo>
                <a:lnTo>
                  <a:pt x="6578" y="14731"/>
                </a:lnTo>
                <a:close/>
              </a:path>
              <a:path w="42544" h="29845" extrusionOk="0">
                <a:moveTo>
                  <a:pt x="6451" y="14604"/>
                </a:moveTo>
                <a:lnTo>
                  <a:pt x="6832" y="14985"/>
                </a:lnTo>
                <a:lnTo>
                  <a:pt x="7095" y="15143"/>
                </a:lnTo>
                <a:lnTo>
                  <a:pt x="7340" y="15112"/>
                </a:lnTo>
                <a:lnTo>
                  <a:pt x="7823" y="15112"/>
                </a:lnTo>
                <a:lnTo>
                  <a:pt x="6451" y="14604"/>
                </a:lnTo>
                <a:close/>
              </a:path>
              <a:path w="42544" h="29845" extrusionOk="0">
                <a:moveTo>
                  <a:pt x="8434" y="14604"/>
                </a:moveTo>
                <a:lnTo>
                  <a:pt x="6451" y="14604"/>
                </a:lnTo>
                <a:lnTo>
                  <a:pt x="7869" y="15130"/>
                </a:lnTo>
                <a:lnTo>
                  <a:pt x="8434" y="14604"/>
                </a:lnTo>
                <a:close/>
              </a:path>
              <a:path w="42544" h="29845" extrusionOk="0">
                <a:moveTo>
                  <a:pt x="127" y="11175"/>
                </a:moveTo>
                <a:lnTo>
                  <a:pt x="736" y="13207"/>
                </a:lnTo>
                <a:lnTo>
                  <a:pt x="1696" y="13911"/>
                </a:lnTo>
                <a:lnTo>
                  <a:pt x="1117" y="12826"/>
                </a:lnTo>
                <a:lnTo>
                  <a:pt x="127" y="11175"/>
                </a:lnTo>
                <a:close/>
              </a:path>
              <a:path w="42544" h="29845" extrusionOk="0">
                <a:moveTo>
                  <a:pt x="9753" y="13207"/>
                </a:moveTo>
                <a:lnTo>
                  <a:pt x="9118" y="13842"/>
                </a:lnTo>
                <a:lnTo>
                  <a:pt x="9400" y="13631"/>
                </a:lnTo>
                <a:lnTo>
                  <a:pt x="9753" y="13207"/>
                </a:lnTo>
                <a:close/>
              </a:path>
              <a:path w="42544" h="29845" extrusionOk="0">
                <a:moveTo>
                  <a:pt x="9400" y="13631"/>
                </a:moveTo>
                <a:lnTo>
                  <a:pt x="9118" y="13842"/>
                </a:lnTo>
                <a:lnTo>
                  <a:pt x="9400" y="13631"/>
                </a:lnTo>
                <a:close/>
              </a:path>
              <a:path w="42544" h="29845" extrusionOk="0">
                <a:moveTo>
                  <a:pt x="9965" y="13207"/>
                </a:moveTo>
                <a:lnTo>
                  <a:pt x="9753" y="13207"/>
                </a:lnTo>
                <a:lnTo>
                  <a:pt x="9400" y="13631"/>
                </a:lnTo>
                <a:lnTo>
                  <a:pt x="9965" y="13207"/>
                </a:lnTo>
                <a:close/>
              </a:path>
              <a:path w="42544" h="29845" extrusionOk="0">
                <a:moveTo>
                  <a:pt x="12293" y="11429"/>
                </a:moveTo>
                <a:lnTo>
                  <a:pt x="11277" y="12064"/>
                </a:lnTo>
                <a:lnTo>
                  <a:pt x="11616" y="11937"/>
                </a:lnTo>
                <a:lnTo>
                  <a:pt x="12293" y="11429"/>
                </a:lnTo>
                <a:close/>
              </a:path>
              <a:path w="42544" h="29845" extrusionOk="0">
                <a:moveTo>
                  <a:pt x="11616" y="11937"/>
                </a:moveTo>
                <a:lnTo>
                  <a:pt x="11277" y="12064"/>
                </a:lnTo>
                <a:lnTo>
                  <a:pt x="11446" y="12064"/>
                </a:lnTo>
                <a:lnTo>
                  <a:pt x="11616" y="11937"/>
                </a:lnTo>
                <a:close/>
              </a:path>
              <a:path w="42544" h="29845" extrusionOk="0">
                <a:moveTo>
                  <a:pt x="12750" y="11429"/>
                </a:moveTo>
                <a:lnTo>
                  <a:pt x="12293" y="11429"/>
                </a:lnTo>
                <a:lnTo>
                  <a:pt x="11616" y="11937"/>
                </a:lnTo>
                <a:lnTo>
                  <a:pt x="12293" y="11683"/>
                </a:lnTo>
                <a:lnTo>
                  <a:pt x="12750" y="11429"/>
                </a:lnTo>
                <a:close/>
              </a:path>
              <a:path w="42544" h="29845" extrusionOk="0">
                <a:moveTo>
                  <a:pt x="0" y="10752"/>
                </a:moveTo>
                <a:lnTo>
                  <a:pt x="50" y="11048"/>
                </a:lnTo>
                <a:lnTo>
                  <a:pt x="127" y="11175"/>
                </a:lnTo>
                <a:lnTo>
                  <a:pt x="0" y="10752"/>
                </a:lnTo>
                <a:close/>
              </a:path>
              <a:path w="42544" h="29845" extrusionOk="0">
                <a:moveTo>
                  <a:pt x="41059" y="9905"/>
                </a:moveTo>
                <a:lnTo>
                  <a:pt x="36296" y="9905"/>
                </a:lnTo>
                <a:lnTo>
                  <a:pt x="39725" y="10794"/>
                </a:lnTo>
                <a:lnTo>
                  <a:pt x="41059" y="9905"/>
                </a:lnTo>
                <a:close/>
              </a:path>
              <a:path w="42544" h="29845" extrusionOk="0">
                <a:moveTo>
                  <a:pt x="14283" y="10414"/>
                </a:moveTo>
                <a:lnTo>
                  <a:pt x="14071" y="10540"/>
                </a:lnTo>
                <a:lnTo>
                  <a:pt x="14283" y="10414"/>
                </a:lnTo>
                <a:close/>
              </a:path>
              <a:path w="42544" h="29845" extrusionOk="0">
                <a:moveTo>
                  <a:pt x="1253" y="7552"/>
                </a:moveTo>
                <a:lnTo>
                  <a:pt x="355" y="8381"/>
                </a:lnTo>
                <a:lnTo>
                  <a:pt x="36" y="10508"/>
                </a:lnTo>
                <a:lnTo>
                  <a:pt x="923" y="8254"/>
                </a:lnTo>
                <a:lnTo>
                  <a:pt x="1253" y="7552"/>
                </a:lnTo>
                <a:close/>
              </a:path>
              <a:path w="42544" h="29845" extrusionOk="0">
                <a:moveTo>
                  <a:pt x="14706" y="10159"/>
                </a:moveTo>
                <a:lnTo>
                  <a:pt x="14071" y="10414"/>
                </a:lnTo>
                <a:lnTo>
                  <a:pt x="14636" y="10202"/>
                </a:lnTo>
                <a:close/>
              </a:path>
              <a:path w="42544" h="29845" extrusionOk="0">
                <a:moveTo>
                  <a:pt x="14452" y="10286"/>
                </a:moveTo>
                <a:lnTo>
                  <a:pt x="14071" y="10414"/>
                </a:lnTo>
                <a:lnTo>
                  <a:pt x="14262" y="10414"/>
                </a:lnTo>
                <a:lnTo>
                  <a:pt x="14452" y="10286"/>
                </a:lnTo>
                <a:close/>
              </a:path>
              <a:path w="42544" h="29845" extrusionOk="0">
                <a:moveTo>
                  <a:pt x="14494" y="10286"/>
                </a:moveTo>
                <a:lnTo>
                  <a:pt x="14283" y="10414"/>
                </a:lnTo>
                <a:lnTo>
                  <a:pt x="14494" y="10286"/>
                </a:lnTo>
                <a:close/>
              </a:path>
              <a:path w="42544" h="29845" extrusionOk="0">
                <a:moveTo>
                  <a:pt x="14636" y="10202"/>
                </a:moveTo>
                <a:lnTo>
                  <a:pt x="14410" y="10286"/>
                </a:lnTo>
                <a:lnTo>
                  <a:pt x="14636" y="10202"/>
                </a:lnTo>
                <a:close/>
              </a:path>
              <a:path w="42544" h="29845" extrusionOk="0">
                <a:moveTo>
                  <a:pt x="14748" y="10159"/>
                </a:moveTo>
                <a:close/>
              </a:path>
              <a:path w="42544" h="29845" extrusionOk="0">
                <a:moveTo>
                  <a:pt x="41901" y="8508"/>
                </a:moveTo>
                <a:lnTo>
                  <a:pt x="28041" y="8508"/>
                </a:lnTo>
                <a:lnTo>
                  <a:pt x="27431" y="8576"/>
                </a:lnTo>
                <a:lnTo>
                  <a:pt x="28549" y="8762"/>
                </a:lnTo>
                <a:lnTo>
                  <a:pt x="28803" y="8762"/>
                </a:lnTo>
                <a:lnTo>
                  <a:pt x="30200" y="9016"/>
                </a:lnTo>
                <a:lnTo>
                  <a:pt x="30073" y="9016"/>
                </a:lnTo>
                <a:lnTo>
                  <a:pt x="36550" y="10032"/>
                </a:lnTo>
                <a:lnTo>
                  <a:pt x="36296" y="9905"/>
                </a:lnTo>
                <a:lnTo>
                  <a:pt x="41059" y="9905"/>
                </a:lnTo>
                <a:lnTo>
                  <a:pt x="41630" y="9525"/>
                </a:lnTo>
                <a:lnTo>
                  <a:pt x="41901" y="8508"/>
                </a:lnTo>
                <a:close/>
              </a:path>
              <a:path w="42544" h="29845" extrusionOk="0">
                <a:moveTo>
                  <a:pt x="16529" y="9838"/>
                </a:moveTo>
                <a:close/>
              </a:path>
              <a:path w="42544" h="29845" extrusionOk="0">
                <a:moveTo>
                  <a:pt x="16301" y="9651"/>
                </a:moveTo>
                <a:lnTo>
                  <a:pt x="16529" y="9838"/>
                </a:lnTo>
                <a:lnTo>
                  <a:pt x="16301" y="9651"/>
                </a:lnTo>
                <a:close/>
              </a:path>
              <a:path w="42544" h="29845" extrusionOk="0">
                <a:moveTo>
                  <a:pt x="18262" y="8762"/>
                </a:moveTo>
                <a:lnTo>
                  <a:pt x="15214" y="8762"/>
                </a:lnTo>
                <a:lnTo>
                  <a:pt x="16243" y="9605"/>
                </a:lnTo>
                <a:lnTo>
                  <a:pt x="17246" y="9270"/>
                </a:lnTo>
                <a:lnTo>
                  <a:pt x="17500" y="9143"/>
                </a:lnTo>
                <a:lnTo>
                  <a:pt x="16865" y="9143"/>
                </a:lnTo>
                <a:lnTo>
                  <a:pt x="18262" y="8762"/>
                </a:lnTo>
                <a:close/>
              </a:path>
              <a:path w="42544" h="29845" extrusionOk="0">
                <a:moveTo>
                  <a:pt x="15214" y="8762"/>
                </a:moveTo>
                <a:lnTo>
                  <a:pt x="15722" y="9270"/>
                </a:lnTo>
                <a:lnTo>
                  <a:pt x="15214" y="8762"/>
                </a:lnTo>
                <a:close/>
              </a:path>
              <a:path w="42544" h="29845" extrusionOk="0">
                <a:moveTo>
                  <a:pt x="18262" y="8762"/>
                </a:moveTo>
                <a:lnTo>
                  <a:pt x="16865" y="9143"/>
                </a:lnTo>
                <a:lnTo>
                  <a:pt x="17695" y="9046"/>
                </a:lnTo>
                <a:lnTo>
                  <a:pt x="18262" y="8762"/>
                </a:lnTo>
                <a:close/>
              </a:path>
              <a:path w="42544" h="29845" extrusionOk="0">
                <a:moveTo>
                  <a:pt x="17695" y="9046"/>
                </a:moveTo>
                <a:lnTo>
                  <a:pt x="16865" y="9143"/>
                </a:lnTo>
                <a:lnTo>
                  <a:pt x="17500" y="9143"/>
                </a:lnTo>
                <a:lnTo>
                  <a:pt x="17695" y="9046"/>
                </a:lnTo>
                <a:close/>
              </a:path>
              <a:path w="42544" h="29845" extrusionOk="0">
                <a:moveTo>
                  <a:pt x="19490" y="8762"/>
                </a:moveTo>
                <a:lnTo>
                  <a:pt x="18262" y="8762"/>
                </a:lnTo>
                <a:lnTo>
                  <a:pt x="17695" y="9046"/>
                </a:lnTo>
                <a:lnTo>
                  <a:pt x="19024" y="8889"/>
                </a:lnTo>
                <a:lnTo>
                  <a:pt x="19490" y="8762"/>
                </a:lnTo>
                <a:close/>
              </a:path>
              <a:path w="42544" h="29845" extrusionOk="0">
                <a:moveTo>
                  <a:pt x="42214" y="7238"/>
                </a:moveTo>
                <a:lnTo>
                  <a:pt x="12293" y="7238"/>
                </a:lnTo>
                <a:lnTo>
                  <a:pt x="12674" y="7429"/>
                </a:lnTo>
                <a:lnTo>
                  <a:pt x="13436" y="7619"/>
                </a:lnTo>
                <a:lnTo>
                  <a:pt x="14198" y="8000"/>
                </a:lnTo>
                <a:lnTo>
                  <a:pt x="15341" y="8889"/>
                </a:lnTo>
                <a:lnTo>
                  <a:pt x="15214" y="8762"/>
                </a:lnTo>
                <a:lnTo>
                  <a:pt x="19490" y="8762"/>
                </a:lnTo>
                <a:lnTo>
                  <a:pt x="19955" y="8635"/>
                </a:lnTo>
                <a:lnTo>
                  <a:pt x="19405" y="8635"/>
                </a:lnTo>
                <a:lnTo>
                  <a:pt x="20421" y="8508"/>
                </a:lnTo>
                <a:lnTo>
                  <a:pt x="22580" y="8508"/>
                </a:lnTo>
                <a:lnTo>
                  <a:pt x="23723" y="8381"/>
                </a:lnTo>
                <a:lnTo>
                  <a:pt x="24739" y="8381"/>
                </a:lnTo>
                <a:lnTo>
                  <a:pt x="25164" y="8334"/>
                </a:lnTo>
                <a:lnTo>
                  <a:pt x="24612" y="8127"/>
                </a:lnTo>
                <a:lnTo>
                  <a:pt x="42003" y="8127"/>
                </a:lnTo>
                <a:lnTo>
                  <a:pt x="42214" y="7238"/>
                </a:lnTo>
                <a:close/>
              </a:path>
              <a:path w="42544" h="29845" extrusionOk="0">
                <a:moveTo>
                  <a:pt x="20421" y="8508"/>
                </a:moveTo>
                <a:lnTo>
                  <a:pt x="19405" y="8635"/>
                </a:lnTo>
                <a:lnTo>
                  <a:pt x="19955" y="8635"/>
                </a:lnTo>
                <a:lnTo>
                  <a:pt x="20421" y="8508"/>
                </a:lnTo>
                <a:close/>
              </a:path>
              <a:path w="42544" h="29845" extrusionOk="0">
                <a:moveTo>
                  <a:pt x="21564" y="8508"/>
                </a:moveTo>
                <a:lnTo>
                  <a:pt x="20421" y="8508"/>
                </a:lnTo>
                <a:lnTo>
                  <a:pt x="19955" y="8635"/>
                </a:lnTo>
                <a:lnTo>
                  <a:pt x="20421" y="8635"/>
                </a:lnTo>
                <a:lnTo>
                  <a:pt x="21564" y="8508"/>
                </a:lnTo>
                <a:close/>
              </a:path>
              <a:path w="42544" h="29845" extrusionOk="0">
                <a:moveTo>
                  <a:pt x="42003" y="8127"/>
                </a:moveTo>
                <a:lnTo>
                  <a:pt x="24612" y="8127"/>
                </a:lnTo>
                <a:lnTo>
                  <a:pt x="25882" y="8254"/>
                </a:lnTo>
                <a:lnTo>
                  <a:pt x="25164" y="8334"/>
                </a:lnTo>
                <a:lnTo>
                  <a:pt x="25628" y="8508"/>
                </a:lnTo>
                <a:lnTo>
                  <a:pt x="26898" y="8635"/>
                </a:lnTo>
                <a:lnTo>
                  <a:pt x="27431" y="8576"/>
                </a:lnTo>
                <a:lnTo>
                  <a:pt x="27025" y="8508"/>
                </a:lnTo>
                <a:lnTo>
                  <a:pt x="41901" y="8508"/>
                </a:lnTo>
                <a:lnTo>
                  <a:pt x="42003" y="8127"/>
                </a:lnTo>
                <a:close/>
              </a:path>
              <a:path w="42544" h="29845" extrusionOk="0">
                <a:moveTo>
                  <a:pt x="28041" y="8508"/>
                </a:moveTo>
                <a:lnTo>
                  <a:pt x="27025" y="8508"/>
                </a:lnTo>
                <a:lnTo>
                  <a:pt x="27431" y="8576"/>
                </a:lnTo>
                <a:lnTo>
                  <a:pt x="28041" y="8508"/>
                </a:lnTo>
                <a:close/>
              </a:path>
              <a:path w="42544" h="29845" extrusionOk="0">
                <a:moveTo>
                  <a:pt x="24612" y="8127"/>
                </a:moveTo>
                <a:lnTo>
                  <a:pt x="25164" y="8334"/>
                </a:lnTo>
                <a:lnTo>
                  <a:pt x="25882" y="8254"/>
                </a:lnTo>
                <a:lnTo>
                  <a:pt x="24612" y="8127"/>
                </a:lnTo>
                <a:close/>
              </a:path>
              <a:path w="42544" h="29845" extrusionOk="0">
                <a:moveTo>
                  <a:pt x="12716" y="7535"/>
                </a:moveTo>
                <a:lnTo>
                  <a:pt x="13563" y="8127"/>
                </a:lnTo>
                <a:lnTo>
                  <a:pt x="13309" y="7746"/>
                </a:lnTo>
                <a:lnTo>
                  <a:pt x="12906" y="7582"/>
                </a:lnTo>
                <a:lnTo>
                  <a:pt x="12716" y="7535"/>
                </a:lnTo>
                <a:close/>
              </a:path>
              <a:path w="42544" h="29845" extrusionOk="0">
                <a:moveTo>
                  <a:pt x="12674" y="7429"/>
                </a:moveTo>
                <a:lnTo>
                  <a:pt x="13055" y="7619"/>
                </a:lnTo>
                <a:lnTo>
                  <a:pt x="13309" y="7746"/>
                </a:lnTo>
                <a:lnTo>
                  <a:pt x="13563" y="8127"/>
                </a:lnTo>
                <a:lnTo>
                  <a:pt x="14361" y="8127"/>
                </a:lnTo>
                <a:lnTo>
                  <a:pt x="14198" y="8000"/>
                </a:lnTo>
                <a:lnTo>
                  <a:pt x="13436" y="7619"/>
                </a:lnTo>
                <a:lnTo>
                  <a:pt x="12674" y="7429"/>
                </a:lnTo>
                <a:close/>
              </a:path>
              <a:path w="42544" h="29845" extrusionOk="0">
                <a:moveTo>
                  <a:pt x="12906" y="7582"/>
                </a:moveTo>
                <a:lnTo>
                  <a:pt x="13055" y="7619"/>
                </a:lnTo>
                <a:lnTo>
                  <a:pt x="12906" y="7582"/>
                </a:lnTo>
                <a:close/>
              </a:path>
              <a:path w="42544" h="29845" extrusionOk="0">
                <a:moveTo>
                  <a:pt x="12505" y="7387"/>
                </a:moveTo>
                <a:lnTo>
                  <a:pt x="12906" y="7582"/>
                </a:lnTo>
                <a:lnTo>
                  <a:pt x="13055" y="7619"/>
                </a:lnTo>
                <a:lnTo>
                  <a:pt x="12674" y="7429"/>
                </a:lnTo>
                <a:lnTo>
                  <a:pt x="12505" y="7387"/>
                </a:lnTo>
                <a:close/>
              </a:path>
              <a:path w="42544" h="29845" extrusionOk="0">
                <a:moveTo>
                  <a:pt x="12615" y="7464"/>
                </a:moveTo>
                <a:lnTo>
                  <a:pt x="12906" y="7582"/>
                </a:lnTo>
                <a:lnTo>
                  <a:pt x="12615" y="7464"/>
                </a:lnTo>
                <a:close/>
              </a:path>
              <a:path w="42544" h="29845" extrusionOk="0">
                <a:moveTo>
                  <a:pt x="4292" y="4952"/>
                </a:moveTo>
                <a:lnTo>
                  <a:pt x="1879" y="6222"/>
                </a:lnTo>
                <a:lnTo>
                  <a:pt x="1253" y="7552"/>
                </a:lnTo>
                <a:lnTo>
                  <a:pt x="2768" y="6095"/>
                </a:lnTo>
                <a:lnTo>
                  <a:pt x="3530" y="5460"/>
                </a:lnTo>
                <a:lnTo>
                  <a:pt x="4308" y="4957"/>
                </a:lnTo>
                <a:close/>
              </a:path>
              <a:path w="42544" h="29845" extrusionOk="0">
                <a:moveTo>
                  <a:pt x="11404" y="7111"/>
                </a:moveTo>
                <a:lnTo>
                  <a:pt x="11023" y="7111"/>
                </a:lnTo>
                <a:lnTo>
                  <a:pt x="12716" y="7535"/>
                </a:lnTo>
                <a:lnTo>
                  <a:pt x="12301" y="7336"/>
                </a:lnTo>
                <a:lnTo>
                  <a:pt x="11404" y="7111"/>
                </a:lnTo>
                <a:close/>
              </a:path>
              <a:path w="42544" h="29845" extrusionOk="0">
                <a:moveTo>
                  <a:pt x="12301" y="7336"/>
                </a:moveTo>
                <a:lnTo>
                  <a:pt x="12615" y="7464"/>
                </a:lnTo>
                <a:lnTo>
                  <a:pt x="12301" y="7336"/>
                </a:lnTo>
                <a:close/>
              </a:path>
              <a:path w="42544" h="29845" extrusionOk="0">
                <a:moveTo>
                  <a:pt x="12293" y="7238"/>
                </a:moveTo>
                <a:lnTo>
                  <a:pt x="12505" y="7387"/>
                </a:lnTo>
                <a:lnTo>
                  <a:pt x="12674" y="7429"/>
                </a:lnTo>
                <a:lnTo>
                  <a:pt x="12293" y="7238"/>
                </a:lnTo>
                <a:close/>
              </a:path>
              <a:path w="42544" h="29845" extrusionOk="0">
                <a:moveTo>
                  <a:pt x="10922" y="6774"/>
                </a:moveTo>
                <a:lnTo>
                  <a:pt x="12301" y="7336"/>
                </a:lnTo>
                <a:lnTo>
                  <a:pt x="12505" y="7387"/>
                </a:lnTo>
                <a:lnTo>
                  <a:pt x="12293" y="7238"/>
                </a:lnTo>
                <a:lnTo>
                  <a:pt x="42214" y="7238"/>
                </a:lnTo>
                <a:lnTo>
                  <a:pt x="42291" y="6857"/>
                </a:lnTo>
                <a:lnTo>
                  <a:pt x="11277" y="6857"/>
                </a:lnTo>
                <a:lnTo>
                  <a:pt x="10922" y="6774"/>
                </a:lnTo>
                <a:close/>
              </a:path>
              <a:path w="42544" h="29845" extrusionOk="0">
                <a:moveTo>
                  <a:pt x="11750" y="7111"/>
                </a:moveTo>
                <a:lnTo>
                  <a:pt x="11404" y="7111"/>
                </a:lnTo>
                <a:lnTo>
                  <a:pt x="12301" y="7336"/>
                </a:lnTo>
                <a:lnTo>
                  <a:pt x="11750" y="7111"/>
                </a:lnTo>
                <a:close/>
              </a:path>
              <a:path w="42544" h="29845" extrusionOk="0">
                <a:moveTo>
                  <a:pt x="10007" y="6350"/>
                </a:moveTo>
                <a:lnTo>
                  <a:pt x="9880" y="6350"/>
                </a:lnTo>
                <a:lnTo>
                  <a:pt x="10922" y="6774"/>
                </a:lnTo>
                <a:lnTo>
                  <a:pt x="11277" y="6857"/>
                </a:lnTo>
                <a:lnTo>
                  <a:pt x="10515" y="6476"/>
                </a:lnTo>
                <a:lnTo>
                  <a:pt x="10007" y="6350"/>
                </a:lnTo>
                <a:close/>
              </a:path>
              <a:path w="42544" h="29845" extrusionOk="0">
                <a:moveTo>
                  <a:pt x="42468" y="5968"/>
                </a:moveTo>
                <a:lnTo>
                  <a:pt x="8483" y="5968"/>
                </a:lnTo>
                <a:lnTo>
                  <a:pt x="10515" y="6476"/>
                </a:lnTo>
                <a:lnTo>
                  <a:pt x="11277" y="6857"/>
                </a:lnTo>
                <a:lnTo>
                  <a:pt x="42291" y="6857"/>
                </a:lnTo>
                <a:lnTo>
                  <a:pt x="42468" y="5968"/>
                </a:lnTo>
                <a:close/>
              </a:path>
              <a:path w="42544" h="29845" extrusionOk="0">
                <a:moveTo>
                  <a:pt x="42443" y="5587"/>
                </a:moveTo>
                <a:lnTo>
                  <a:pt x="6705" y="5587"/>
                </a:lnTo>
                <a:lnTo>
                  <a:pt x="7340" y="5714"/>
                </a:lnTo>
                <a:lnTo>
                  <a:pt x="7213" y="5714"/>
                </a:lnTo>
                <a:lnTo>
                  <a:pt x="8737" y="6095"/>
                </a:lnTo>
                <a:lnTo>
                  <a:pt x="9358" y="6406"/>
                </a:lnTo>
                <a:lnTo>
                  <a:pt x="10922" y="6774"/>
                </a:lnTo>
                <a:lnTo>
                  <a:pt x="9880" y="6350"/>
                </a:lnTo>
                <a:lnTo>
                  <a:pt x="10007" y="6350"/>
                </a:lnTo>
                <a:lnTo>
                  <a:pt x="8483" y="5968"/>
                </a:lnTo>
                <a:lnTo>
                  <a:pt x="42468" y="5968"/>
                </a:lnTo>
                <a:lnTo>
                  <a:pt x="42519" y="5714"/>
                </a:lnTo>
                <a:lnTo>
                  <a:pt x="7340" y="5714"/>
                </a:lnTo>
                <a:lnTo>
                  <a:pt x="7086" y="5683"/>
                </a:lnTo>
                <a:lnTo>
                  <a:pt x="42500" y="5683"/>
                </a:lnTo>
                <a:close/>
              </a:path>
              <a:path w="42544" h="29845" extrusionOk="0">
                <a:moveTo>
                  <a:pt x="8229" y="5968"/>
                </a:moveTo>
                <a:lnTo>
                  <a:pt x="7340" y="5968"/>
                </a:lnTo>
                <a:lnTo>
                  <a:pt x="9499" y="6476"/>
                </a:lnTo>
                <a:lnTo>
                  <a:pt x="9358" y="6406"/>
                </a:lnTo>
                <a:lnTo>
                  <a:pt x="9118" y="6350"/>
                </a:lnTo>
                <a:lnTo>
                  <a:pt x="9245" y="6350"/>
                </a:lnTo>
                <a:lnTo>
                  <a:pt x="8737" y="6095"/>
                </a:lnTo>
                <a:lnTo>
                  <a:pt x="8229" y="5968"/>
                </a:lnTo>
                <a:close/>
              </a:path>
              <a:path w="42544" h="29845" extrusionOk="0">
                <a:moveTo>
                  <a:pt x="9358" y="6406"/>
                </a:moveTo>
                <a:lnTo>
                  <a:pt x="9499" y="6476"/>
                </a:lnTo>
                <a:lnTo>
                  <a:pt x="9658" y="6476"/>
                </a:lnTo>
                <a:lnTo>
                  <a:pt x="9358" y="6406"/>
                </a:lnTo>
                <a:close/>
              </a:path>
              <a:path w="42544" h="29845" extrusionOk="0">
                <a:moveTo>
                  <a:pt x="9245" y="6350"/>
                </a:moveTo>
                <a:lnTo>
                  <a:pt x="9118" y="6350"/>
                </a:lnTo>
                <a:lnTo>
                  <a:pt x="9358" y="6406"/>
                </a:lnTo>
                <a:close/>
              </a:path>
              <a:path w="42544" h="29845" extrusionOk="0">
                <a:moveTo>
                  <a:pt x="6578" y="5587"/>
                </a:moveTo>
                <a:lnTo>
                  <a:pt x="6324" y="5587"/>
                </a:lnTo>
                <a:lnTo>
                  <a:pt x="7086" y="5683"/>
                </a:lnTo>
                <a:lnTo>
                  <a:pt x="6578" y="5587"/>
                </a:lnTo>
                <a:close/>
              </a:path>
              <a:path w="42544" h="29845" extrusionOk="0">
                <a:moveTo>
                  <a:pt x="8652" y="2671"/>
                </a:moveTo>
                <a:lnTo>
                  <a:pt x="8102" y="2793"/>
                </a:lnTo>
                <a:lnTo>
                  <a:pt x="6959" y="3301"/>
                </a:lnTo>
                <a:lnTo>
                  <a:pt x="5816" y="4063"/>
                </a:lnTo>
                <a:lnTo>
                  <a:pt x="5689" y="4063"/>
                </a:lnTo>
                <a:lnTo>
                  <a:pt x="4308" y="4957"/>
                </a:lnTo>
                <a:lnTo>
                  <a:pt x="6578" y="5587"/>
                </a:lnTo>
                <a:lnTo>
                  <a:pt x="6959" y="5651"/>
                </a:lnTo>
                <a:lnTo>
                  <a:pt x="6705" y="5587"/>
                </a:lnTo>
                <a:lnTo>
                  <a:pt x="42443" y="5587"/>
                </a:lnTo>
                <a:lnTo>
                  <a:pt x="41376" y="3809"/>
                </a:lnTo>
                <a:lnTo>
                  <a:pt x="38540" y="3047"/>
                </a:lnTo>
                <a:lnTo>
                  <a:pt x="7975" y="3047"/>
                </a:lnTo>
                <a:lnTo>
                  <a:pt x="8652" y="2671"/>
                </a:lnTo>
                <a:close/>
              </a:path>
              <a:path w="42544" h="29845" extrusionOk="0">
                <a:moveTo>
                  <a:pt x="9245" y="2539"/>
                </a:moveTo>
                <a:lnTo>
                  <a:pt x="8652" y="2671"/>
                </a:lnTo>
                <a:lnTo>
                  <a:pt x="7975" y="3047"/>
                </a:lnTo>
                <a:lnTo>
                  <a:pt x="9245" y="2539"/>
                </a:lnTo>
                <a:close/>
              </a:path>
              <a:path w="42544" h="29845" extrusionOk="0">
                <a:moveTo>
                  <a:pt x="35661" y="2539"/>
                </a:moveTo>
                <a:lnTo>
                  <a:pt x="9245" y="2539"/>
                </a:lnTo>
                <a:lnTo>
                  <a:pt x="7975" y="3047"/>
                </a:lnTo>
                <a:lnTo>
                  <a:pt x="38540" y="3047"/>
                </a:lnTo>
                <a:lnTo>
                  <a:pt x="38074" y="2920"/>
                </a:lnTo>
                <a:lnTo>
                  <a:pt x="37820" y="2920"/>
                </a:lnTo>
                <a:lnTo>
                  <a:pt x="35661" y="2539"/>
                </a:lnTo>
                <a:close/>
              </a:path>
              <a:path w="42544" h="29845" extrusionOk="0">
                <a:moveTo>
                  <a:pt x="16865" y="126"/>
                </a:moveTo>
                <a:lnTo>
                  <a:pt x="15468" y="380"/>
                </a:lnTo>
                <a:lnTo>
                  <a:pt x="14325" y="634"/>
                </a:lnTo>
                <a:lnTo>
                  <a:pt x="13309" y="888"/>
                </a:lnTo>
                <a:lnTo>
                  <a:pt x="12166" y="1269"/>
                </a:lnTo>
                <a:lnTo>
                  <a:pt x="11023" y="1523"/>
                </a:lnTo>
                <a:lnTo>
                  <a:pt x="10515" y="1777"/>
                </a:lnTo>
                <a:lnTo>
                  <a:pt x="9753" y="2031"/>
                </a:lnTo>
                <a:lnTo>
                  <a:pt x="8652" y="2671"/>
                </a:lnTo>
                <a:lnTo>
                  <a:pt x="9245" y="2539"/>
                </a:lnTo>
                <a:lnTo>
                  <a:pt x="35661" y="2539"/>
                </a:lnTo>
                <a:lnTo>
                  <a:pt x="32063" y="1904"/>
                </a:lnTo>
                <a:lnTo>
                  <a:pt x="31343" y="1777"/>
                </a:lnTo>
                <a:lnTo>
                  <a:pt x="31629" y="1777"/>
                </a:lnTo>
                <a:lnTo>
                  <a:pt x="30581" y="1396"/>
                </a:lnTo>
                <a:lnTo>
                  <a:pt x="30327" y="1396"/>
                </a:lnTo>
                <a:lnTo>
                  <a:pt x="29279" y="1015"/>
                </a:lnTo>
                <a:lnTo>
                  <a:pt x="28168" y="1015"/>
                </a:lnTo>
                <a:lnTo>
                  <a:pt x="26898" y="761"/>
                </a:lnTo>
                <a:lnTo>
                  <a:pt x="27660" y="761"/>
                </a:lnTo>
                <a:lnTo>
                  <a:pt x="27152" y="507"/>
                </a:lnTo>
                <a:lnTo>
                  <a:pt x="26517" y="380"/>
                </a:lnTo>
                <a:lnTo>
                  <a:pt x="16865" y="380"/>
                </a:lnTo>
                <a:lnTo>
                  <a:pt x="17527" y="200"/>
                </a:lnTo>
                <a:lnTo>
                  <a:pt x="16865" y="126"/>
                </a:lnTo>
                <a:close/>
              </a:path>
              <a:path w="42544" h="29845" extrusionOk="0">
                <a:moveTo>
                  <a:pt x="31343" y="1777"/>
                </a:moveTo>
                <a:lnTo>
                  <a:pt x="31978" y="1904"/>
                </a:lnTo>
                <a:lnTo>
                  <a:pt x="31343" y="1777"/>
                </a:lnTo>
                <a:close/>
              </a:path>
              <a:path w="42544" h="29845" extrusionOk="0">
                <a:moveTo>
                  <a:pt x="31898" y="1875"/>
                </a:moveTo>
                <a:lnTo>
                  <a:pt x="32063" y="1904"/>
                </a:lnTo>
                <a:lnTo>
                  <a:pt x="31898" y="1875"/>
                </a:lnTo>
                <a:close/>
              </a:path>
              <a:path w="42544" h="29845" extrusionOk="0">
                <a:moveTo>
                  <a:pt x="31629" y="1777"/>
                </a:moveTo>
                <a:lnTo>
                  <a:pt x="31343" y="1777"/>
                </a:lnTo>
                <a:lnTo>
                  <a:pt x="31898" y="1875"/>
                </a:lnTo>
                <a:lnTo>
                  <a:pt x="31629" y="1777"/>
                </a:lnTo>
                <a:close/>
              </a:path>
              <a:path w="42544" h="29845" extrusionOk="0">
                <a:moveTo>
                  <a:pt x="27660" y="761"/>
                </a:moveTo>
                <a:lnTo>
                  <a:pt x="26898" y="761"/>
                </a:lnTo>
                <a:lnTo>
                  <a:pt x="28168" y="1015"/>
                </a:lnTo>
                <a:lnTo>
                  <a:pt x="27660" y="761"/>
                </a:lnTo>
                <a:close/>
              </a:path>
              <a:path w="42544" h="29845" extrusionOk="0">
                <a:moveTo>
                  <a:pt x="28041" y="761"/>
                </a:moveTo>
                <a:lnTo>
                  <a:pt x="27660" y="761"/>
                </a:lnTo>
                <a:lnTo>
                  <a:pt x="28168" y="1015"/>
                </a:lnTo>
                <a:lnTo>
                  <a:pt x="29279" y="1015"/>
                </a:lnTo>
                <a:lnTo>
                  <a:pt x="28930" y="888"/>
                </a:lnTo>
                <a:lnTo>
                  <a:pt x="28041" y="761"/>
                </a:lnTo>
                <a:close/>
              </a:path>
              <a:path w="42544" h="29845" extrusionOk="0">
                <a:moveTo>
                  <a:pt x="17527" y="200"/>
                </a:moveTo>
                <a:lnTo>
                  <a:pt x="16865" y="380"/>
                </a:lnTo>
                <a:lnTo>
                  <a:pt x="18008" y="253"/>
                </a:lnTo>
                <a:lnTo>
                  <a:pt x="17527" y="200"/>
                </a:lnTo>
                <a:close/>
              </a:path>
              <a:path w="42544" h="29845" extrusionOk="0">
                <a:moveTo>
                  <a:pt x="21564" y="0"/>
                </a:moveTo>
                <a:lnTo>
                  <a:pt x="18262" y="0"/>
                </a:lnTo>
                <a:lnTo>
                  <a:pt x="17527" y="200"/>
                </a:lnTo>
                <a:lnTo>
                  <a:pt x="18008" y="253"/>
                </a:lnTo>
                <a:lnTo>
                  <a:pt x="16865" y="380"/>
                </a:lnTo>
                <a:lnTo>
                  <a:pt x="26517" y="380"/>
                </a:lnTo>
                <a:lnTo>
                  <a:pt x="25882" y="253"/>
                </a:lnTo>
                <a:lnTo>
                  <a:pt x="24739" y="253"/>
                </a:lnTo>
                <a:lnTo>
                  <a:pt x="23723" y="126"/>
                </a:lnTo>
                <a:lnTo>
                  <a:pt x="22580" y="126"/>
                </a:lnTo>
                <a:lnTo>
                  <a:pt x="2156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0" name="Google Shape;920;p7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5683" y="2453443"/>
            <a:ext cx="5625123" cy="3473232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p75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76</a:t>
            </a:fld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76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2008226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Practice</a:t>
            </a:r>
            <a:endParaRPr dirty="0"/>
          </a:p>
        </p:txBody>
      </p:sp>
      <p:pic>
        <p:nvPicPr>
          <p:cNvPr id="927" name="Google Shape;927;p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1120" y="248899"/>
            <a:ext cx="2614851" cy="91447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28" name="Google Shape;928;p76"/>
          <p:cNvGraphicFramePr/>
          <p:nvPr/>
        </p:nvGraphicFramePr>
        <p:xfrm>
          <a:off x="3104895" y="1198752"/>
          <a:ext cx="5836950" cy="5523200"/>
        </p:xfrm>
        <a:graphic>
          <a:graphicData uri="http://schemas.openxmlformats.org/drawingml/2006/table">
            <a:tbl>
              <a:tblPr firstRow="1" bandRow="1">
                <a:noFill/>
                <a:tableStyleId>{CCB95BF2-E5D9-4F2F-9DCB-0AEB0D049F9D}</a:tableStyleId>
              </a:tblPr>
              <a:tblGrid>
                <a:gridCol w="194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5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150"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STACK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04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04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051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04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150"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04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id1+id2*id3$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04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02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29" name="Google Shape;929;p76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77</a:t>
            </a:fld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77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7979258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Actions in Shift Reduce Parser</a:t>
            </a:r>
            <a:endParaRPr dirty="0"/>
          </a:p>
        </p:txBody>
      </p:sp>
      <p:sp>
        <p:nvSpPr>
          <p:cNvPr id="935" name="Google Shape;935;p77"/>
          <p:cNvSpPr txBox="1"/>
          <p:nvPr/>
        </p:nvSpPr>
        <p:spPr>
          <a:xfrm>
            <a:off x="707542" y="2096148"/>
            <a:ext cx="11060786" cy="3492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0" anchor="t" anchorCtr="0">
            <a:spAutoFit/>
          </a:bodyPr>
          <a:lstStyle/>
          <a:p>
            <a:pPr marL="12700" marR="5080" lvl="0" indent="-177800" algn="l" rtl="0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4471C4"/>
              </a:buClr>
              <a:buSzPts val="2800"/>
              <a:buFont typeface="Calibri"/>
              <a:buAutoNum type="arabicParenBoth"/>
            </a:pPr>
            <a:r>
              <a:rPr lang="en-US" sz="2800" dirty="0">
                <a:solidFill>
                  <a:srgbClr val="4471C4"/>
                </a:solidFill>
                <a:latin typeface="Calibri"/>
                <a:ea typeface="Calibri"/>
                <a:cs typeface="Calibri"/>
                <a:sym typeface="Calibri"/>
              </a:rPr>
              <a:t>SHIFT: 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shift the next input symbol onto the top of  the stack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90219" marR="0" lvl="0" indent="-478154" algn="l" rtl="0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>
                <a:srgbClr val="4471C4"/>
              </a:buClr>
              <a:buSzPts val="2800"/>
              <a:buFont typeface="Calibri"/>
              <a:buAutoNum type="arabicParenBoth"/>
            </a:pPr>
            <a:r>
              <a:rPr lang="en-US" sz="2800" dirty="0">
                <a:solidFill>
                  <a:srgbClr val="4471C4"/>
                </a:solidFill>
                <a:latin typeface="Calibri"/>
                <a:ea typeface="Calibri"/>
                <a:cs typeface="Calibri"/>
                <a:sym typeface="Calibri"/>
              </a:rPr>
              <a:t>REDUCE: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7865" marR="55244" lvl="1" indent="-228600" algn="l" rtl="0">
              <a:lnSpc>
                <a:spcPct val="107916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right end of the string to be reduced must be at top  of the stack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7865" marR="0" lvl="1" indent="-228600" algn="l" rtl="0">
              <a:lnSpc>
                <a:spcPct val="113958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Locate the left end of the string within the stack and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7865" marR="0" lvl="0" indent="0" algn="l" rtl="0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decide with what nonterminal to replace the string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90219" marR="0" lvl="0" indent="-478154" algn="l" rtl="0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4471C4"/>
              </a:buClr>
              <a:buSzPts val="2800"/>
              <a:buFont typeface="Calibri"/>
              <a:buAutoNum type="arabicParenBoth" startAt="3"/>
            </a:pPr>
            <a:r>
              <a:rPr lang="en-US" sz="2800" dirty="0">
                <a:solidFill>
                  <a:srgbClr val="4471C4"/>
                </a:solidFill>
                <a:latin typeface="Calibri"/>
                <a:ea typeface="Calibri"/>
                <a:cs typeface="Calibri"/>
                <a:sym typeface="Calibri"/>
              </a:rPr>
              <a:t>ACCEPT: 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Successful completion of parsing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471805" lvl="0" indent="-177800" algn="l" rtl="0">
              <a:lnSpc>
                <a:spcPct val="108214"/>
              </a:lnSpc>
              <a:spcBef>
                <a:spcPts val="1050"/>
              </a:spcBef>
              <a:spcAft>
                <a:spcPts val="0"/>
              </a:spcAft>
              <a:buClr>
                <a:srgbClr val="4471C4"/>
              </a:buClr>
              <a:buSzPts val="2800"/>
              <a:buFont typeface="Calibri"/>
              <a:buAutoNum type="arabicParenBoth" startAt="3"/>
            </a:pPr>
            <a:r>
              <a:rPr lang="en-US" sz="2800" dirty="0">
                <a:solidFill>
                  <a:srgbClr val="4471C4"/>
                </a:solidFill>
                <a:latin typeface="Calibri"/>
                <a:ea typeface="Calibri"/>
                <a:cs typeface="Calibri"/>
                <a:sym typeface="Calibri"/>
              </a:rPr>
              <a:t>ERROR: 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Discover syntax error and call an error  recovery routine.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77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78</a:t>
            </a:fld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78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2339568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Handle</a:t>
            </a:r>
            <a:endParaRPr dirty="0"/>
          </a:p>
        </p:txBody>
      </p:sp>
      <p:sp>
        <p:nvSpPr>
          <p:cNvPr id="942" name="Google Shape;942;p78"/>
          <p:cNvSpPr txBox="1"/>
          <p:nvPr/>
        </p:nvSpPr>
        <p:spPr>
          <a:xfrm>
            <a:off x="707542" y="1757665"/>
            <a:ext cx="7332980" cy="2507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7625" rIns="0" bIns="0" anchor="t" anchorCtr="0">
            <a:spAutoFit/>
          </a:bodyPr>
          <a:lstStyle/>
          <a:p>
            <a:pPr marL="2413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important properties: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7865" marR="0" lvl="1" indent="-228600" algn="l" rtl="0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substring that matches the body of a production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7865" marR="5080" lvl="1" indent="-228600" algn="l" rtl="0">
              <a:lnSpc>
                <a:spcPct val="107916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Its reduction represents one step along the reverse of  rightmost derivation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FORMAL Definition: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78"/>
          <p:cNvSpPr/>
          <p:nvPr/>
        </p:nvSpPr>
        <p:spPr>
          <a:xfrm>
            <a:off x="1881251" y="4509515"/>
            <a:ext cx="402590" cy="155575"/>
          </a:xfrm>
          <a:custGeom>
            <a:avLst/>
            <a:gdLst/>
            <a:ahLst/>
            <a:cxnLst/>
            <a:rect l="l" t="t" r="r" b="b"/>
            <a:pathLst>
              <a:path w="402589" h="155575" extrusionOk="0">
                <a:moveTo>
                  <a:pt x="329692" y="0"/>
                </a:moveTo>
                <a:lnTo>
                  <a:pt x="320040" y="8254"/>
                </a:lnTo>
                <a:lnTo>
                  <a:pt x="343788" y="36575"/>
                </a:lnTo>
                <a:lnTo>
                  <a:pt x="0" y="36575"/>
                </a:lnTo>
                <a:lnTo>
                  <a:pt x="0" y="56387"/>
                </a:lnTo>
                <a:lnTo>
                  <a:pt x="359029" y="56387"/>
                </a:lnTo>
                <a:lnTo>
                  <a:pt x="376174" y="77596"/>
                </a:lnTo>
                <a:lnTo>
                  <a:pt x="359282" y="98424"/>
                </a:lnTo>
                <a:lnTo>
                  <a:pt x="0" y="98424"/>
                </a:lnTo>
                <a:lnTo>
                  <a:pt x="0" y="118236"/>
                </a:lnTo>
                <a:lnTo>
                  <a:pt x="343916" y="118236"/>
                </a:lnTo>
                <a:lnTo>
                  <a:pt x="320040" y="146938"/>
                </a:lnTo>
                <a:lnTo>
                  <a:pt x="329692" y="155066"/>
                </a:lnTo>
                <a:lnTo>
                  <a:pt x="402463" y="82295"/>
                </a:lnTo>
                <a:lnTo>
                  <a:pt x="402463" y="72770"/>
                </a:lnTo>
                <a:lnTo>
                  <a:pt x="32969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78"/>
          <p:cNvSpPr/>
          <p:nvPr/>
        </p:nvSpPr>
        <p:spPr>
          <a:xfrm>
            <a:off x="3047110" y="4509515"/>
            <a:ext cx="294640" cy="155575"/>
          </a:xfrm>
          <a:custGeom>
            <a:avLst/>
            <a:gdLst/>
            <a:ahLst/>
            <a:cxnLst/>
            <a:rect l="l" t="t" r="r" b="b"/>
            <a:pathLst>
              <a:path w="294639" h="155575" extrusionOk="0">
                <a:moveTo>
                  <a:pt x="221487" y="0"/>
                </a:moveTo>
                <a:lnTo>
                  <a:pt x="211836" y="8254"/>
                </a:lnTo>
                <a:lnTo>
                  <a:pt x="235585" y="36575"/>
                </a:lnTo>
                <a:lnTo>
                  <a:pt x="0" y="36575"/>
                </a:lnTo>
                <a:lnTo>
                  <a:pt x="0" y="56387"/>
                </a:lnTo>
                <a:lnTo>
                  <a:pt x="250825" y="56387"/>
                </a:lnTo>
                <a:lnTo>
                  <a:pt x="267969" y="77596"/>
                </a:lnTo>
                <a:lnTo>
                  <a:pt x="251078" y="98424"/>
                </a:lnTo>
                <a:lnTo>
                  <a:pt x="0" y="98424"/>
                </a:lnTo>
                <a:lnTo>
                  <a:pt x="0" y="118236"/>
                </a:lnTo>
                <a:lnTo>
                  <a:pt x="235712" y="118236"/>
                </a:lnTo>
                <a:lnTo>
                  <a:pt x="211836" y="146938"/>
                </a:lnTo>
                <a:lnTo>
                  <a:pt x="221487" y="155066"/>
                </a:lnTo>
                <a:lnTo>
                  <a:pt x="294259" y="82295"/>
                </a:lnTo>
                <a:lnTo>
                  <a:pt x="294259" y="72770"/>
                </a:lnTo>
                <a:lnTo>
                  <a:pt x="22148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78"/>
          <p:cNvSpPr txBox="1"/>
          <p:nvPr/>
        </p:nvSpPr>
        <p:spPr>
          <a:xfrm>
            <a:off x="1850898" y="4202048"/>
            <a:ext cx="1517015" cy="292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∗𝑟𝑚	𝑟𝑚</a:t>
            </a:r>
            <a:endParaRPr sz="175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946" name="Google Shape;946;p78"/>
          <p:cNvSpPr txBox="1"/>
          <p:nvPr/>
        </p:nvSpPr>
        <p:spPr>
          <a:xfrm>
            <a:off x="1164742" y="4357496"/>
            <a:ext cx="8088986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40665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lang="en-US" sz="24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S	𝛼𝐴𝑤	𝛼𝛽𝑤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then β (corresponding to the</a:t>
            </a:r>
            <a:endParaRPr dirty="0"/>
          </a:p>
        </p:txBody>
      </p:sp>
      <p:sp>
        <p:nvSpPr>
          <p:cNvPr id="947" name="Google Shape;947;p78"/>
          <p:cNvSpPr txBox="1"/>
          <p:nvPr/>
        </p:nvSpPr>
        <p:spPr>
          <a:xfrm>
            <a:off x="1393316" y="4685157"/>
            <a:ext cx="6136005" cy="72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12700" marR="508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production </a:t>
            </a:r>
            <a:r>
              <a:rPr lang="en-US" sz="24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𝐴 → 𝛽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in the position following α is a  handle of </a:t>
            </a:r>
            <a:r>
              <a:rPr lang="en-US" sz="24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𝛼𝛽𝑤</a:t>
            </a:r>
            <a:endParaRPr sz="2400" dirty="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948" name="Google Shape;948;p78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79</a:t>
            </a:fld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79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255261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Review Questions</a:t>
            </a:r>
            <a:endParaRPr dirty="0"/>
          </a:p>
        </p:txBody>
      </p:sp>
      <p:sp>
        <p:nvSpPr>
          <p:cNvPr id="954" name="Google Shape;954;p79"/>
          <p:cNvSpPr txBox="1"/>
          <p:nvPr/>
        </p:nvSpPr>
        <p:spPr>
          <a:xfrm>
            <a:off x="916939" y="1707918"/>
            <a:ext cx="10236835" cy="3477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7775" rIns="0" bIns="0" anchor="t" anchorCtr="0">
            <a:spAutoFit/>
          </a:bodyPr>
          <a:lstStyle/>
          <a:p>
            <a:pPr marL="241300" marR="0" lvl="0" indent="-22923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the grammar E → E + n | E × n | 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08214"/>
              </a:lnSpc>
              <a:spcBef>
                <a:spcPts val="104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 sentence n + n × n, the handles in the right-sentential form of the  reductions are 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91160" marR="0" lvl="0" indent="-379094" algn="l" rtl="0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n, E + n and E + n × 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marR="0" lvl="0" indent="-365760" algn="l" rtl="0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n, E + n and E + E × 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1475" marR="0" lvl="0" indent="-359410" algn="l" rtl="0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n, n + n and n + n × 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94335" marR="0" lvl="0" indent="-382269" algn="l" rtl="0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n, E + n and E × 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7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80</a:t>
            </a:fld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80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2191106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Conflicts</a:t>
            </a:r>
            <a:endParaRPr dirty="0"/>
          </a:p>
        </p:txBody>
      </p:sp>
      <p:sp>
        <p:nvSpPr>
          <p:cNvPr id="961" name="Google Shape;961;p80"/>
          <p:cNvSpPr txBox="1"/>
          <p:nvPr/>
        </p:nvSpPr>
        <p:spPr>
          <a:xfrm>
            <a:off x="707542" y="1757665"/>
            <a:ext cx="7165340" cy="211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7625" rIns="0" bIns="0" anchor="t" anchorCtr="0">
            <a:spAutoFit/>
          </a:bodyPr>
          <a:lstStyle/>
          <a:p>
            <a:pPr marL="2413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Shift/Reduce conflict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7865" marR="0" lvl="1" indent="-228600" algn="l" rtl="0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Shall I choose shift or reduce?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Reduce/reduce conflict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7865" marR="5080" lvl="1" indent="-228600" algn="l" rtl="0">
              <a:lnSpc>
                <a:spcPct val="107916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reduction production to use if more than one  possible production?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80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81</a:t>
            </a:fld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81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5876138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Shift Reduce Conflict</a:t>
            </a:r>
            <a:endParaRPr dirty="0"/>
          </a:p>
        </p:txBody>
      </p:sp>
      <p:grpSp>
        <p:nvGrpSpPr>
          <p:cNvPr id="968" name="Google Shape;968;p81"/>
          <p:cNvGrpSpPr/>
          <p:nvPr/>
        </p:nvGrpSpPr>
        <p:grpSpPr>
          <a:xfrm>
            <a:off x="70103" y="2852807"/>
            <a:ext cx="9004300" cy="2476748"/>
            <a:chOff x="70103" y="2852807"/>
            <a:chExt cx="9004300" cy="2476748"/>
          </a:xfrm>
        </p:grpSpPr>
        <p:pic>
          <p:nvPicPr>
            <p:cNvPr id="969" name="Google Shape;969;p8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20980" y="2852807"/>
              <a:ext cx="8715781" cy="24481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0" name="Google Shape;970;p81"/>
            <p:cNvSpPr/>
            <p:nvPr/>
          </p:nvSpPr>
          <p:spPr>
            <a:xfrm>
              <a:off x="70103" y="3429000"/>
              <a:ext cx="9004300" cy="1900555"/>
            </a:xfrm>
            <a:custGeom>
              <a:avLst/>
              <a:gdLst/>
              <a:ahLst/>
              <a:cxnLst/>
              <a:rect l="l" t="t" r="r" b="b"/>
              <a:pathLst>
                <a:path w="9004300" h="1900554" extrusionOk="0">
                  <a:moveTo>
                    <a:pt x="0" y="1900427"/>
                  </a:moveTo>
                  <a:lnTo>
                    <a:pt x="4024884" y="1900427"/>
                  </a:lnTo>
                  <a:lnTo>
                    <a:pt x="4024884" y="0"/>
                  </a:lnTo>
                  <a:lnTo>
                    <a:pt x="0" y="0"/>
                  </a:lnTo>
                  <a:lnTo>
                    <a:pt x="0" y="1900427"/>
                  </a:lnTo>
                  <a:close/>
                </a:path>
                <a:path w="9004300" h="1900554" extrusionOk="0">
                  <a:moveTo>
                    <a:pt x="4978908" y="1900427"/>
                  </a:moveTo>
                  <a:lnTo>
                    <a:pt x="9003792" y="1900427"/>
                  </a:lnTo>
                  <a:lnTo>
                    <a:pt x="9003792" y="0"/>
                  </a:lnTo>
                  <a:lnTo>
                    <a:pt x="4978908" y="0"/>
                  </a:lnTo>
                  <a:lnTo>
                    <a:pt x="4978908" y="1900427"/>
                  </a:lnTo>
                  <a:close/>
                </a:path>
              </a:pathLst>
            </a:custGeom>
            <a:noFill/>
            <a:ln w="12700" cap="flat" cmpd="sng">
              <a:solidFill>
                <a:srgbClr val="2E52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71" name="Google Shape;971;p8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82</a:t>
            </a:fld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82"/>
          <p:cNvSpPr txBox="1">
            <a:spLocks noGrp="1"/>
          </p:cNvSpPr>
          <p:nvPr>
            <p:ph type="title"/>
          </p:nvPr>
        </p:nvSpPr>
        <p:spPr>
          <a:xfrm>
            <a:off x="707542" y="609676"/>
            <a:ext cx="518287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Reduce-reduce conflict</a:t>
            </a:r>
            <a:endParaRPr/>
          </a:p>
        </p:txBody>
      </p:sp>
      <p:grpSp>
        <p:nvGrpSpPr>
          <p:cNvPr id="977" name="Google Shape;977;p82"/>
          <p:cNvGrpSpPr/>
          <p:nvPr/>
        </p:nvGrpSpPr>
        <p:grpSpPr>
          <a:xfrm>
            <a:off x="70103" y="2125703"/>
            <a:ext cx="8716010" cy="3888382"/>
            <a:chOff x="70103" y="2125703"/>
            <a:chExt cx="8716010" cy="3888382"/>
          </a:xfrm>
        </p:grpSpPr>
        <p:pic>
          <p:nvPicPr>
            <p:cNvPr id="978" name="Google Shape;978;p8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55696" y="2125703"/>
              <a:ext cx="8428285" cy="36866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9" name="Google Shape;979;p82"/>
            <p:cNvSpPr/>
            <p:nvPr/>
          </p:nvSpPr>
          <p:spPr>
            <a:xfrm>
              <a:off x="70103" y="3429000"/>
              <a:ext cx="8716010" cy="2585085"/>
            </a:xfrm>
            <a:custGeom>
              <a:avLst/>
              <a:gdLst/>
              <a:ahLst/>
              <a:cxnLst/>
              <a:rect l="l" t="t" r="r" b="b"/>
              <a:pathLst>
                <a:path w="8716010" h="2585085" extrusionOk="0">
                  <a:moveTo>
                    <a:pt x="0" y="2584704"/>
                  </a:moveTo>
                  <a:lnTo>
                    <a:pt x="4024884" y="2584704"/>
                  </a:lnTo>
                  <a:lnTo>
                    <a:pt x="4024884" y="0"/>
                  </a:lnTo>
                  <a:lnTo>
                    <a:pt x="0" y="0"/>
                  </a:lnTo>
                  <a:lnTo>
                    <a:pt x="0" y="2584704"/>
                  </a:lnTo>
                  <a:close/>
                </a:path>
                <a:path w="8716010" h="2585085" extrusionOk="0">
                  <a:moveTo>
                    <a:pt x="4690872" y="2584704"/>
                  </a:moveTo>
                  <a:lnTo>
                    <a:pt x="8715756" y="2584704"/>
                  </a:lnTo>
                  <a:lnTo>
                    <a:pt x="8715756" y="0"/>
                  </a:lnTo>
                  <a:lnTo>
                    <a:pt x="4690872" y="0"/>
                  </a:lnTo>
                  <a:lnTo>
                    <a:pt x="4690872" y="2584704"/>
                  </a:lnTo>
                  <a:close/>
                </a:path>
              </a:pathLst>
            </a:custGeom>
            <a:noFill/>
            <a:ln w="12700" cap="flat" cmpd="sng">
              <a:solidFill>
                <a:srgbClr val="2E52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0" name="Google Shape;980;p8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83</a:t>
            </a:fld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83"/>
          <p:cNvSpPr txBox="1">
            <a:spLocks noGrp="1"/>
          </p:cNvSpPr>
          <p:nvPr>
            <p:ph type="title"/>
          </p:nvPr>
        </p:nvSpPr>
        <p:spPr>
          <a:xfrm>
            <a:off x="916938" y="609676"/>
            <a:ext cx="5575301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Review Question</a:t>
            </a:r>
            <a:endParaRPr dirty="0"/>
          </a:p>
        </p:txBody>
      </p:sp>
      <p:sp>
        <p:nvSpPr>
          <p:cNvPr id="986" name="Google Shape;986;p83"/>
          <p:cNvSpPr txBox="1"/>
          <p:nvPr/>
        </p:nvSpPr>
        <p:spPr>
          <a:xfrm>
            <a:off x="916939" y="1793493"/>
            <a:ext cx="9577070" cy="2881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0" anchor="t" anchorCtr="0">
            <a:spAutoFit/>
          </a:bodyPr>
          <a:lstStyle/>
          <a:p>
            <a:pPr marL="241300" marR="5080" lvl="0" indent="-229234" algn="l" rtl="0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 state does not know whether it will make a shift operation or  reduction for a terminal is called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91160" marR="0" lvl="0" indent="-379094" algn="l" rtl="0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Shift/reduce conflict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825" marR="0" lvl="0" indent="-365760" algn="l" rtl="0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 /shift conflict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1475" marR="0" lvl="0" indent="-359410" algn="l" rtl="0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Shift conflict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94335" marR="0" lvl="0" indent="-382269" algn="l" rtl="0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U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 conflict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83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84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4243</Words>
  <Application>Microsoft Office PowerPoint</Application>
  <PresentationFormat>Widescreen</PresentationFormat>
  <Paragraphs>722</Paragraphs>
  <Slides>84</Slides>
  <Notes>83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92" baseType="lpstr">
      <vt:lpstr>Arial</vt:lpstr>
      <vt:lpstr>Times New Roman</vt:lpstr>
      <vt:lpstr>Consolas</vt:lpstr>
      <vt:lpstr>Trebuchet MS</vt:lpstr>
      <vt:lpstr>Calibri</vt:lpstr>
      <vt:lpstr>Cambria Math</vt:lpstr>
      <vt:lpstr>Nunito</vt:lpstr>
      <vt:lpstr>Office Theme</vt:lpstr>
      <vt:lpstr>Module 2: Syntax Analysis (Part 1)</vt:lpstr>
      <vt:lpstr>Need for Syntax Analysis</vt:lpstr>
      <vt:lpstr>Formal Languages</vt:lpstr>
      <vt:lpstr>Review Question</vt:lpstr>
      <vt:lpstr>Role of the Parser</vt:lpstr>
      <vt:lpstr>What syntax analysis cannot do!</vt:lpstr>
      <vt:lpstr>Why Not Regular Expressions for  Syntax Analysis</vt:lpstr>
      <vt:lpstr>Context-Free Grammars</vt:lpstr>
      <vt:lpstr>Context-Free Grammars</vt:lpstr>
      <vt:lpstr>Context-Free Grammars</vt:lpstr>
      <vt:lpstr>Arithmetic expressions as CFG</vt:lpstr>
      <vt:lpstr>Balanced Parenthesis as CFG</vt:lpstr>
      <vt:lpstr>non-terminals:  terminals:  rules:</vt:lpstr>
      <vt:lpstr>non-terminals:  terminals:  rules:</vt:lpstr>
      <vt:lpstr>non-terminals:  terminals:  rules:</vt:lpstr>
      <vt:lpstr>non-terminals:  terminals:  rules:</vt:lpstr>
      <vt:lpstr>non-terminals:  terminals:  rules:</vt:lpstr>
      <vt:lpstr>non-terminals:  terminals:  rules:</vt:lpstr>
      <vt:lpstr>non-terminals:  terminals:  rules:</vt:lpstr>
      <vt:lpstr>non-terminals:  terminals:  rules:</vt:lpstr>
      <vt:lpstr>Review Questions</vt:lpstr>
      <vt:lpstr>Derivation</vt:lpstr>
      <vt:lpstr>non-terminals:  terminals:  rules:</vt:lpstr>
      <vt:lpstr>Parse Trees</vt:lpstr>
      <vt:lpstr>Parse Trees</vt:lpstr>
      <vt:lpstr>Derivation</vt:lpstr>
      <vt:lpstr>Review Question</vt:lpstr>
      <vt:lpstr>Ambiguity</vt:lpstr>
      <vt:lpstr>Two parse trees for id + id * id</vt:lpstr>
      <vt:lpstr>Ambiguous Grammars</vt:lpstr>
      <vt:lpstr>More on Ambiguity</vt:lpstr>
      <vt:lpstr>PowerPoint Presentation</vt:lpstr>
      <vt:lpstr>Removing Ambiguity</vt:lpstr>
      <vt:lpstr>Associativity</vt:lpstr>
      <vt:lpstr>Precedence</vt:lpstr>
      <vt:lpstr>Unambiguous Grammar</vt:lpstr>
      <vt:lpstr>General types of parsers for  grammars</vt:lpstr>
      <vt:lpstr>Classification of Parsers</vt:lpstr>
      <vt:lpstr>Parsing</vt:lpstr>
      <vt:lpstr>Review Question</vt:lpstr>
      <vt:lpstr>Top-down Parsing</vt:lpstr>
      <vt:lpstr>Left Recursion</vt:lpstr>
      <vt:lpstr>EXAMPLE: Eliminating Left  Recursion</vt:lpstr>
      <vt:lpstr>Two parse trees for id + id * id</vt:lpstr>
      <vt:lpstr>Top-down Parse of id + id * id</vt:lpstr>
      <vt:lpstr>Left factoring</vt:lpstr>
      <vt:lpstr>EXAMPLE: Left Factoring</vt:lpstr>
      <vt:lpstr>EXAMPLE: Left Factoring</vt:lpstr>
      <vt:lpstr>Recursive Descent Parsing</vt:lpstr>
      <vt:lpstr>A typical procedure for a Non-Terminal</vt:lpstr>
      <vt:lpstr>Recursive Descent Parsing</vt:lpstr>
      <vt:lpstr>PowerPoint Presentation</vt:lpstr>
      <vt:lpstr>Recursive v/s Non Recursive Predictive Parsing</vt:lpstr>
      <vt:lpstr>Brute Force Parsing</vt:lpstr>
      <vt:lpstr>FIRST and FOLLOW</vt:lpstr>
      <vt:lpstr>Rules to find FIRST set</vt:lpstr>
      <vt:lpstr>FOLLOW</vt:lpstr>
      <vt:lpstr>Rules to Find Follow set</vt:lpstr>
      <vt:lpstr>Finding FIRST and FOLLOW</vt:lpstr>
      <vt:lpstr>Requirement of FIRST and  FOLLOW</vt:lpstr>
      <vt:lpstr>LL(1) Grammars</vt:lpstr>
      <vt:lpstr>LL(1) Grammars</vt:lpstr>
      <vt:lpstr>Construction of Predictive Parsing  Table</vt:lpstr>
      <vt:lpstr>EXAMPLE 1: Construction of  predictive parsing table</vt:lpstr>
      <vt:lpstr>EXAMPLE 2: Construction of  predictive parsing table</vt:lpstr>
      <vt:lpstr>(Non-recursive) Predictive  Parsing</vt:lpstr>
      <vt:lpstr>Table-driven Predictive Parser</vt:lpstr>
      <vt:lpstr>Left Most Derivation</vt:lpstr>
      <vt:lpstr>Top-down Parse of id + id * id</vt:lpstr>
      <vt:lpstr>EXAMPLE 1: Construction of  predictive parsing table</vt:lpstr>
      <vt:lpstr>PowerPoint Presentation</vt:lpstr>
      <vt:lpstr>PowerPoint Presentation</vt:lpstr>
      <vt:lpstr>Bottom-Up parsing</vt:lpstr>
      <vt:lpstr>Bottom-up parse for id * id</vt:lpstr>
      <vt:lpstr>(1) Shift Reduce Parsing</vt:lpstr>
      <vt:lpstr>(1) Shift Reduce Parsing</vt:lpstr>
      <vt:lpstr>Practice</vt:lpstr>
      <vt:lpstr>Actions in Shift Reduce Parser</vt:lpstr>
      <vt:lpstr>Handle</vt:lpstr>
      <vt:lpstr>Review Questions</vt:lpstr>
      <vt:lpstr>Conflicts</vt:lpstr>
      <vt:lpstr>Shift Reduce Conflict</vt:lpstr>
      <vt:lpstr>Reduce-reduce conflict</vt:lpstr>
      <vt:lpstr>Review Question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naina narang</cp:lastModifiedBy>
  <cp:revision>13</cp:revision>
  <dcterms:created xsi:type="dcterms:W3CDTF">2023-09-13T05:15:38Z</dcterms:created>
  <dcterms:modified xsi:type="dcterms:W3CDTF">2026-01-06T08:44:13Z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2023-09-13T00:00:00Z</vt:filetime>
  </property>
</Properties>
</file>